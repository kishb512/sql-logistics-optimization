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64" r:id="rId2"/>
    <p:sldId id="287" r:id="rId3"/>
    <p:sldId id="256" r:id="rId4"/>
    <p:sldId id="259" r:id="rId5"/>
    <p:sldId id="260" r:id="rId6"/>
    <p:sldId id="261" r:id="rId7"/>
    <p:sldId id="263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86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CB80DC0-AB31-E5D1-FBD6-8BB1479ED553}" name="Kishan Bhalani" initials="KB" userId="S::kishanbhalani@kishan335.onmicrosoft.com::d6d295b2-1d11-4f4f-bc91-b89baed5103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176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8/10/relationships/authors" Target="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cap="all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dirty="0">
                <a:solidFill>
                  <a:srgbClr val="FFFF00"/>
                </a:solidFill>
              </a:rPr>
              <a:t>On-Time vs. Delayed orders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cap="all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5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4">
                  <a:tint val="77000"/>
                  <a:alpha val="90000"/>
                </a:schemeClr>
              </a:solidFill>
              <a:ln w="19050">
                <a:solidFill>
                  <a:schemeClr val="accent4">
                    <a:tint val="77000"/>
                    <a:lumMod val="75000"/>
                  </a:schemeClr>
                </a:solidFill>
              </a:ln>
              <a:effectLst>
                <a:innerShdw blurRad="114300">
                  <a:schemeClr val="accent4">
                    <a:tint val="77000"/>
                    <a:lumMod val="75000"/>
                  </a:schemeClr>
                </a:innerShdw>
              </a:effectLst>
              <a:scene3d>
                <a:camera prst="orthographicFront"/>
                <a:lightRig rig="threePt" dir="t"/>
              </a:scene3d>
              <a:sp3d contourW="19050" prstMaterial="flat">
                <a:contourClr>
                  <a:schemeClr val="accent4">
                    <a:tint val="77000"/>
                    <a:lumMod val="75000"/>
                  </a:schemeClr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7366-40A1-A3D8-5706BD66208A}"/>
              </c:ext>
            </c:extLst>
          </c:dPt>
          <c:dPt>
            <c:idx val="1"/>
            <c:bubble3D val="0"/>
            <c:spPr>
              <a:solidFill>
                <a:schemeClr val="accent4">
                  <a:shade val="76000"/>
                  <a:alpha val="90000"/>
                </a:schemeClr>
              </a:solidFill>
              <a:ln w="19050">
                <a:solidFill>
                  <a:schemeClr val="accent4">
                    <a:shade val="76000"/>
                    <a:lumMod val="75000"/>
                  </a:schemeClr>
                </a:solidFill>
              </a:ln>
              <a:effectLst>
                <a:innerShdw blurRad="114300">
                  <a:schemeClr val="accent4">
                    <a:shade val="76000"/>
                    <a:lumMod val="75000"/>
                  </a:schemeClr>
                </a:innerShdw>
              </a:effectLst>
              <a:scene3d>
                <a:camera prst="orthographicFront"/>
                <a:lightRig rig="threePt" dir="t"/>
              </a:scene3d>
              <a:sp3d contourW="19050" prstMaterial="flat">
                <a:contourClr>
                  <a:schemeClr val="accent4">
                    <a:shade val="76000"/>
                    <a:lumMod val="75000"/>
                  </a:schemeClr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7366-40A1-A3D8-5706BD66208A}"/>
              </c:ext>
            </c:extLst>
          </c:dPt>
          <c:dLbls>
            <c:dLbl>
              <c:idx val="0"/>
              <c:spPr>
                <a:solidFill>
                  <a:schemeClr val="lt1">
                    <a:alpha val="90000"/>
                  </a:schemeClr>
                </a:solidFill>
                <a:ln w="12700" cap="flat" cmpd="sng" algn="ctr">
                  <a:solidFill>
                    <a:schemeClr val="accent4">
                      <a:tint val="77000"/>
                    </a:schemeClr>
                  </a:solidFill>
                  <a:round/>
                </a:ln>
                <a:effectLst>
                  <a:outerShdw blurRad="50800" dist="38100" dir="2700000" algn="tl" rotWithShape="0">
                    <a:schemeClr val="accent4">
                      <a:tint val="77000"/>
                      <a:lumMod val="75000"/>
                      <a:alpha val="40000"/>
                    </a:schemeClr>
                  </a:outerShdw>
                </a:effectLst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chemeClr val="accent4">
                          <a:tint val="77000"/>
                        </a:schemeClr>
                      </a:solidFill>
                      <a:effectLst/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7366-40A1-A3D8-5706BD66208A}"/>
                </c:ext>
              </c:extLst>
            </c:dLbl>
            <c:dLbl>
              <c:idx val="1"/>
              <c:spPr>
                <a:solidFill>
                  <a:schemeClr val="lt1">
                    <a:alpha val="90000"/>
                  </a:schemeClr>
                </a:solidFill>
                <a:ln w="12700" cap="flat" cmpd="sng" algn="ctr">
                  <a:solidFill>
                    <a:schemeClr val="accent4">
                      <a:shade val="76000"/>
                    </a:schemeClr>
                  </a:solidFill>
                  <a:round/>
                </a:ln>
                <a:effectLst>
                  <a:outerShdw blurRad="50800" dist="38100" dir="2700000" algn="tl" rotWithShape="0">
                    <a:schemeClr val="accent4">
                      <a:shade val="76000"/>
                      <a:lumMod val="75000"/>
                      <a:alpha val="40000"/>
                    </a:schemeClr>
                  </a:outerShdw>
                </a:effectLst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chemeClr val="accent4">
                          <a:shade val="76000"/>
                        </a:schemeClr>
                      </a:solidFill>
                      <a:effectLst/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7366-40A1-A3D8-5706BD66208A}"/>
                </c:ext>
              </c:extLst>
            </c:dLbl>
            <c:spPr>
              <a:solidFill>
                <a:sysClr val="window" lastClr="FFFFFF">
                  <a:alpha val="90000"/>
                </a:sysClr>
              </a:solidFill>
              <a:ln w="12700" cap="flat" cmpd="sng" algn="ctr">
                <a:solidFill>
                  <a:srgbClr val="FFC000"/>
                </a:solidFill>
                <a:round/>
              </a:ln>
              <a:effectLst>
                <a:outerShdw blurRad="50800" dist="38100" dir="2700000" algn="tl" rotWithShape="0">
                  <a:srgbClr val="FFC000">
                    <a:lumMod val="75000"/>
                    <a:alpha val="40000"/>
                  </a:srgbClr>
                </a:outerShdw>
              </a:effectLst>
            </c:spPr>
            <c:dLblPos val="inEnd"/>
            <c:showLegendKey val="0"/>
            <c:showVal val="0"/>
            <c:showCatName val="1"/>
            <c:showSerName val="0"/>
            <c:showPercent val="0"/>
            <c:showBubbleSize val="0"/>
            <c:showLeaderLines val="1"/>
            <c:leaderLines>
              <c:spPr>
                <a:ln w="9525">
                  <a:solidFill>
                    <a:schemeClr val="tx1">
                      <a:lumMod val="35000"/>
                      <a:lumOff val="65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'7.extra graph'!$A$1:$B$1</c:f>
              <c:strCache>
                <c:ptCount val="2"/>
                <c:pt idx="0">
                  <c:v>on_time_percentage</c:v>
                </c:pt>
                <c:pt idx="1">
                  <c:v>delayed_percentage</c:v>
                </c:pt>
              </c:strCache>
            </c:strRef>
          </c:cat>
          <c:val>
            <c:numRef>
              <c:f>'7.extra graph'!$A$2:$B$2</c:f>
              <c:numCache>
                <c:formatCode>General</c:formatCode>
                <c:ptCount val="2"/>
                <c:pt idx="0">
                  <c:v>72.67</c:v>
                </c:pt>
                <c:pt idx="1">
                  <c:v>27.33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366-40A1-A3D8-5706BD66208A}"/>
            </c:ext>
          </c:extLst>
        </c:ser>
        <c:dLbls>
          <c:dLblPos val="inEnd"/>
          <c:showLegendKey val="0"/>
          <c:showVal val="0"/>
          <c:showCatName val="1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Reversed" id="24">
  <a:schemeClr val="accent4"/>
</cs:colorStyle>
</file>

<file path=ppt/charts/style1.xml><?xml version="1.0" encoding="utf-8"?>
<cs:chartStyle xmlns:cs="http://schemas.microsoft.com/office/drawing/2012/chartStyle" xmlns:a="http://schemas.openxmlformats.org/drawingml/2006/main" id="263">
  <cs:axisTitle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587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>
      <cs:styleClr val="auto"/>
    </cs:lnRef>
    <cs:fillRef idx="0"/>
    <cs:effectRef idx="0">
      <cs:styleClr val="auto"/>
    </cs:effectRef>
    <cs:fontRef idx="minor">
      <cs:styleClr val="auto"/>
    </cs:fontRef>
    <cs:spPr>
      <a:solidFill>
        <a:schemeClr val="lt1">
          <a:alpha val="90000"/>
        </a:schemeClr>
      </a:solidFill>
      <a:ln w="12700" cap="flat" cmpd="sng" algn="ctr">
        <a:solidFill>
          <a:schemeClr val="phClr"/>
        </a:solidFill>
        <a:round/>
      </a:ln>
      <a:effectLst>
        <a:outerShdw blurRad="50800" dist="38100" dir="2700000" algn="tl" rotWithShape="0">
          <a:schemeClr val="phClr">
            <a:lumMod val="75000"/>
            <a:alpha val="40000"/>
          </a:schemeClr>
        </a:outerShdw>
      </a:effectLst>
    </cs:spPr>
    <cs:defRPr sz="1000" b="0" i="0" u="none" strike="noStrike" kern="1200" baseline="0">
      <a:effectLst/>
    </cs:defRPr>
    <cs:bodyPr rot="0" spcFirstLastPara="1" vertOverflow="clip" horzOverflow="clip" vert="horz" wrap="square" lIns="38100" tIns="19050" rIns="38100" bIns="19050" anchor="ctr" anchorCtr="1">
      <a:spAutoFit/>
    </cs:bodyPr>
  </cs:dataLabel>
  <cs:dataLabelCallout>
    <cs:lnRef idx="0">
      <cs:styleClr val="auto"/>
    </cs:lnRef>
    <cs:fillRef idx="0"/>
    <cs:effectRef idx="0">
      <cs:styleClr val="auto"/>
    </cs:effectRef>
    <cs:fontRef idx="minor">
      <cs:styleClr val="auto"/>
    </cs:fontRef>
    <cs:spPr>
      <a:solidFill>
        <a:schemeClr val="lt1">
          <a:alpha val="90000"/>
        </a:schemeClr>
      </a:solidFill>
      <a:ln w="12700" cap="flat" cmpd="sng" algn="ctr">
        <a:solidFill>
          <a:schemeClr val="phClr"/>
        </a:solidFill>
        <a:round/>
      </a:ln>
      <a:effectLst>
        <a:outerShdw blurRad="50800" dist="38100" dir="2700000" algn="tl" rotWithShape="0">
          <a:schemeClr val="phClr">
            <a:lumMod val="75000"/>
            <a:alpha val="40000"/>
          </a:schemeClr>
        </a:outerShdw>
      </a:effectLst>
    </cs:spPr>
    <cs:defRPr sz="1000" b="0" i="0" u="none" strike="noStrike" kern="1200" baseline="0">
      <a:effectLst/>
    </cs:defRPr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>
          <a:alpha val="70000"/>
        </a:schemeClr>
      </a:solidFill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tx1"/>
    </cs:fontRef>
    <cs:spPr>
      <a:solidFill>
        <a:schemeClr val="phClr">
          <a:alpha val="90000"/>
        </a:schemeClr>
      </a:solidFill>
      <a:ln w="19050">
        <a:solidFill>
          <a:schemeClr val="phClr">
            <a:lumMod val="75000"/>
          </a:schemeClr>
        </a:solidFill>
      </a:ln>
      <a:effectLst>
        <a:innerShdw blurRad="114300">
          <a:schemeClr val="phClr">
            <a:lumMod val="75000"/>
          </a:schemeClr>
        </a:innerShdw>
      </a:effectLst>
      <a:scene3d>
        <a:camera prst="orthographicFront"/>
        <a:lightRig rig="threePt" dir="t"/>
      </a:scene3d>
      <a:sp3d contourW="19050" prstMaterial="flat">
        <a:contourClr>
          <a:schemeClr val="accent4">
            <a:lumMod val="75000"/>
          </a:schemeClr>
        </a:contourClr>
      </a:sp3d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00" b="1" kern="1200" cap="all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587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 spc="20" baseline="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4329BB-07E3-4455-A13A-FB733302D4E2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D07A12-E498-4646-ACAD-5BA90024AA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64684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8641a476e9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53" name="Google Shape;53;g8641a476e9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4AA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toxifier.blogspot.com/2012/04/online-shopping-websites-comparison.html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drive.google.com/file/d/1rpwMTEzEIvIAiDuWpiWb6zKhrgCmQPzh/view?usp=sharing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docs.google.com/spreadsheets/d/1zmLFkqHY_uY9HtENyPtqyds_tXQeWe3Jb79BbylunpQ/edit?usp=sharing" TargetMode="Externa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oogle.com/spreadsheets/d/1rmEoo5vDH9ssmKdumNpMIVETWVdXt26box1k2Oa9r_U/edit?usp=sharing" TargetMode="Externa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package" Target="../embeddings/Microsoft_Excel_Worksheet1.xlsx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oogle.com/spreadsheets/d/1FeBEExxPD6kHZp7XR0B8T90rj-3y1Nc-sYoClTELEhE/edit?usp=sharing" TargetMode="Externa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package" Target="../embeddings/Microsoft_Excel_Worksheet2.xlsx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package" Target="../embeddings/Microsoft_Excel_Worksheet3.xlsx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oogle.com/spreadsheets/d/1EzYeb_r9oKjbFeVB8XhjPz81e3Av-eiKXDm-cXdIuRc/edit?usp=sharing" TargetMode="Externa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package" Target="../embeddings/Microsoft_Excel_Worksheet4.xlsx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oogle.com/spreadsheets/d/1F2r8mSmzl-ecR_qrsImLfUTDVoX8hx8YsluYXpssZCQ/edit?usp=sharing" TargetMode="Externa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oogle.com/spreadsheets/d/1flzGPKQcuIHco8R-eYNJH74B7RsbZGneyN9meaAj1t0/edit?usp=sharing" TargetMode="Externa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package" Target="../embeddings/Microsoft_Excel_Worksheet5.xlsx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oogle.com/spreadsheets/d/1tw6t5abTSsvmPa94AUYhFdyEbc4aoJwRxp9Vj6Am6yQ/edit?usp=sharing" TargetMode="Externa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package" Target="../embeddings/Microsoft_Excel_Worksheet6.xlsx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oogle.com/spreadsheets/d/14bR3VOKhSwco7zW5skyCuVwjFbWuQD93jx65feJ6CBs/edit?usp=sharing" TargetMode="Externa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package" Target="../embeddings/Microsoft_Excel_Worksheet7.xlsx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package" Target="../embeddings/Microsoft_Excel_Worksheet9.xlsx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>
            <a:spLocks noGrp="1"/>
          </p:cNvSpPr>
          <p:nvPr>
            <p:ph type="ctrTitle"/>
          </p:nvPr>
        </p:nvSpPr>
        <p:spPr>
          <a:xfrm>
            <a:off x="457175" y="2304828"/>
            <a:ext cx="3461400" cy="1511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/>
          <a:p>
            <a:pPr algn="l">
              <a:spcBef>
                <a:spcPts val="0"/>
              </a:spcBef>
            </a:pPr>
            <a:r>
              <a:rPr lang="en" dirty="0">
                <a:solidFill>
                  <a:srgbClr val="FFFF00"/>
                </a:solidFill>
              </a:rPr>
              <a:t>Flipkart</a:t>
            </a:r>
            <a:r>
              <a:rPr lang="en" dirty="0"/>
              <a:t>       </a:t>
            </a:r>
            <a:r>
              <a:rPr lang="en" sz="2000" dirty="0"/>
              <a:t>Logistic Optimisation Analysis</a:t>
            </a:r>
            <a:endParaRPr sz="2000" dirty="0"/>
          </a:p>
        </p:txBody>
      </p:sp>
      <p:sp>
        <p:nvSpPr>
          <p:cNvPr id="56" name="Google Shape;56;p15"/>
          <p:cNvSpPr txBox="1">
            <a:spLocks noGrp="1"/>
          </p:cNvSpPr>
          <p:nvPr>
            <p:ph type="subTitle" idx="1"/>
          </p:nvPr>
        </p:nvSpPr>
        <p:spPr>
          <a:xfrm>
            <a:off x="3100350" y="5868186"/>
            <a:ext cx="2943300" cy="6015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/>
          <a:p>
            <a:pPr algn="l">
              <a:spcBef>
                <a:spcPts val="0"/>
              </a:spcBef>
            </a:pPr>
            <a:r>
              <a:rPr lang="en" sz="1800" dirty="0">
                <a:solidFill>
                  <a:schemeClr val="dk1"/>
                </a:solidFill>
              </a:rPr>
              <a:t>Prepared By : Bhalani Kishan</a:t>
            </a: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57" name="Google Shape;57;p15"/>
          <p:cNvSpPr/>
          <p:nvPr/>
        </p:nvSpPr>
        <p:spPr>
          <a:xfrm>
            <a:off x="5429233" y="3691159"/>
            <a:ext cx="2402283" cy="251053"/>
          </a:xfrm>
          <a:custGeom>
            <a:avLst/>
            <a:gdLst/>
            <a:ahLst/>
            <a:cxnLst/>
            <a:rect l="l" t="t" r="r" b="b"/>
            <a:pathLst>
              <a:path w="43098" h="4504" extrusionOk="0">
                <a:moveTo>
                  <a:pt x="21549" y="0"/>
                </a:moveTo>
                <a:cubicBezTo>
                  <a:pt x="9640" y="0"/>
                  <a:pt x="0" y="1001"/>
                  <a:pt x="0" y="2235"/>
                </a:cubicBezTo>
                <a:cubicBezTo>
                  <a:pt x="0" y="3470"/>
                  <a:pt x="9640" y="4504"/>
                  <a:pt x="21549" y="4504"/>
                </a:cubicBezTo>
                <a:cubicBezTo>
                  <a:pt x="33457" y="4504"/>
                  <a:pt x="43097" y="3470"/>
                  <a:pt x="43097" y="2235"/>
                </a:cubicBezTo>
                <a:cubicBezTo>
                  <a:pt x="43097" y="1001"/>
                  <a:pt x="33457" y="0"/>
                  <a:pt x="21549" y="0"/>
                </a:cubicBezTo>
                <a:close/>
              </a:path>
            </a:pathLst>
          </a:custGeom>
          <a:solidFill>
            <a:srgbClr val="14274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58" name="Google Shape;58;p15"/>
          <p:cNvSpPr/>
          <p:nvPr/>
        </p:nvSpPr>
        <p:spPr>
          <a:xfrm rot="10800000" flipH="1">
            <a:off x="5990726" y="4434933"/>
            <a:ext cx="1277449" cy="667643"/>
          </a:xfrm>
          <a:custGeom>
            <a:avLst/>
            <a:gdLst/>
            <a:ahLst/>
            <a:cxnLst/>
            <a:rect l="l" t="t" r="r" b="b"/>
            <a:pathLst>
              <a:path w="22918" h="9574" extrusionOk="0">
                <a:moveTo>
                  <a:pt x="1" y="0"/>
                </a:moveTo>
                <a:lnTo>
                  <a:pt x="1" y="9574"/>
                </a:lnTo>
                <a:lnTo>
                  <a:pt x="22917" y="9574"/>
                </a:lnTo>
                <a:lnTo>
                  <a:pt x="22917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rgbClr val="91919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59" name="Google Shape;59;p15"/>
          <p:cNvSpPr/>
          <p:nvPr/>
        </p:nvSpPr>
        <p:spPr>
          <a:xfrm>
            <a:off x="5499859" y="4968546"/>
            <a:ext cx="2251729" cy="148826"/>
          </a:xfrm>
          <a:custGeom>
            <a:avLst/>
            <a:gdLst/>
            <a:ahLst/>
            <a:cxnLst/>
            <a:rect l="l" t="t" r="r" b="b"/>
            <a:pathLst>
              <a:path w="40397" h="2670" extrusionOk="0">
                <a:moveTo>
                  <a:pt x="1" y="1"/>
                </a:moveTo>
                <a:lnTo>
                  <a:pt x="1" y="2669"/>
                </a:lnTo>
                <a:lnTo>
                  <a:pt x="40396" y="2669"/>
                </a:lnTo>
                <a:lnTo>
                  <a:pt x="40396" y="1"/>
                </a:lnTo>
                <a:close/>
              </a:path>
            </a:pathLst>
          </a:custGeom>
          <a:solidFill>
            <a:schemeClr val="lt2"/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0" name="Google Shape;60;p15"/>
          <p:cNvSpPr/>
          <p:nvPr/>
        </p:nvSpPr>
        <p:spPr>
          <a:xfrm>
            <a:off x="4572026" y="1740628"/>
            <a:ext cx="4114727" cy="2880142"/>
          </a:xfrm>
          <a:custGeom>
            <a:avLst/>
            <a:gdLst/>
            <a:ahLst/>
            <a:cxnLst/>
            <a:rect l="l" t="t" r="r" b="b"/>
            <a:pathLst>
              <a:path w="73820" h="51671" extrusionOk="0">
                <a:moveTo>
                  <a:pt x="7206" y="1"/>
                </a:moveTo>
                <a:cubicBezTo>
                  <a:pt x="3236" y="1"/>
                  <a:pt x="0" y="3203"/>
                  <a:pt x="0" y="7172"/>
                </a:cubicBezTo>
                <a:lnTo>
                  <a:pt x="0" y="44499"/>
                </a:lnTo>
                <a:cubicBezTo>
                  <a:pt x="0" y="48469"/>
                  <a:pt x="3236" y="51671"/>
                  <a:pt x="7206" y="51671"/>
                </a:cubicBezTo>
                <a:lnTo>
                  <a:pt x="66648" y="51671"/>
                </a:lnTo>
                <a:cubicBezTo>
                  <a:pt x="70617" y="51671"/>
                  <a:pt x="73820" y="48469"/>
                  <a:pt x="73820" y="44499"/>
                </a:cubicBezTo>
                <a:lnTo>
                  <a:pt x="73820" y="7172"/>
                </a:lnTo>
                <a:cubicBezTo>
                  <a:pt x="73820" y="3203"/>
                  <a:pt x="70617" y="1"/>
                  <a:pt x="66648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1" name="Google Shape;61;p15"/>
          <p:cNvSpPr/>
          <p:nvPr/>
        </p:nvSpPr>
        <p:spPr>
          <a:xfrm>
            <a:off x="4572026" y="1740628"/>
            <a:ext cx="4114727" cy="2480430"/>
          </a:xfrm>
          <a:custGeom>
            <a:avLst/>
            <a:gdLst/>
            <a:ahLst/>
            <a:cxnLst/>
            <a:rect l="l" t="t" r="r" b="b"/>
            <a:pathLst>
              <a:path w="73820" h="44500" extrusionOk="0">
                <a:moveTo>
                  <a:pt x="7206" y="1"/>
                </a:moveTo>
                <a:cubicBezTo>
                  <a:pt x="3236" y="1"/>
                  <a:pt x="0" y="3203"/>
                  <a:pt x="0" y="7172"/>
                </a:cubicBezTo>
                <a:lnTo>
                  <a:pt x="0" y="44499"/>
                </a:lnTo>
                <a:lnTo>
                  <a:pt x="73820" y="44499"/>
                </a:lnTo>
                <a:lnTo>
                  <a:pt x="73820" y="7172"/>
                </a:lnTo>
                <a:cubicBezTo>
                  <a:pt x="73820" y="3203"/>
                  <a:pt x="70617" y="1"/>
                  <a:pt x="66648" y="1"/>
                </a:cubicBezTo>
                <a:close/>
              </a:path>
            </a:pathLst>
          </a:custGeom>
          <a:solidFill>
            <a:srgbClr val="FF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62" name="Google Shape;62;p15"/>
          <p:cNvSpPr/>
          <p:nvPr/>
        </p:nvSpPr>
        <p:spPr>
          <a:xfrm>
            <a:off x="6552275" y="4288047"/>
            <a:ext cx="150665" cy="150609"/>
          </a:xfrm>
          <a:custGeom>
            <a:avLst/>
            <a:gdLst/>
            <a:ahLst/>
            <a:cxnLst/>
            <a:rect l="l" t="t" r="r" b="b"/>
            <a:pathLst>
              <a:path w="2703" h="2702" extrusionOk="0">
                <a:moveTo>
                  <a:pt x="1335" y="0"/>
                </a:moveTo>
                <a:cubicBezTo>
                  <a:pt x="601" y="0"/>
                  <a:pt x="1" y="634"/>
                  <a:pt x="1" y="1368"/>
                </a:cubicBezTo>
                <a:cubicBezTo>
                  <a:pt x="1" y="2102"/>
                  <a:pt x="601" y="2702"/>
                  <a:pt x="1335" y="2702"/>
                </a:cubicBezTo>
                <a:cubicBezTo>
                  <a:pt x="2069" y="2702"/>
                  <a:pt x="2703" y="2102"/>
                  <a:pt x="2703" y="1368"/>
                </a:cubicBezTo>
                <a:cubicBezTo>
                  <a:pt x="2703" y="634"/>
                  <a:pt x="2069" y="33"/>
                  <a:pt x="1335" y="0"/>
                </a:cubicBezTo>
                <a:close/>
              </a:path>
            </a:pathLst>
          </a:custGeom>
          <a:solidFill>
            <a:srgbClr val="B7B7B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3" name="Google Shape;63;p15"/>
          <p:cNvSpPr/>
          <p:nvPr/>
        </p:nvSpPr>
        <p:spPr>
          <a:xfrm>
            <a:off x="4572026" y="1740628"/>
            <a:ext cx="4114727" cy="2480430"/>
          </a:xfrm>
          <a:custGeom>
            <a:avLst/>
            <a:gdLst/>
            <a:ahLst/>
            <a:cxnLst/>
            <a:rect l="l" t="t" r="r" b="b"/>
            <a:pathLst>
              <a:path w="73820" h="44500" extrusionOk="0">
                <a:moveTo>
                  <a:pt x="66648" y="2136"/>
                </a:moveTo>
                <a:cubicBezTo>
                  <a:pt x="69417" y="2136"/>
                  <a:pt x="71685" y="4404"/>
                  <a:pt x="71685" y="7172"/>
                </a:cubicBezTo>
                <a:lnTo>
                  <a:pt x="71685" y="42331"/>
                </a:lnTo>
                <a:lnTo>
                  <a:pt x="2169" y="42331"/>
                </a:lnTo>
                <a:lnTo>
                  <a:pt x="2169" y="7172"/>
                </a:lnTo>
                <a:cubicBezTo>
                  <a:pt x="2169" y="4404"/>
                  <a:pt x="4437" y="2136"/>
                  <a:pt x="7206" y="2136"/>
                </a:cubicBezTo>
                <a:close/>
                <a:moveTo>
                  <a:pt x="7206" y="1"/>
                </a:moveTo>
                <a:cubicBezTo>
                  <a:pt x="3236" y="1"/>
                  <a:pt x="0" y="3203"/>
                  <a:pt x="0" y="7172"/>
                </a:cubicBezTo>
                <a:lnTo>
                  <a:pt x="0" y="44499"/>
                </a:lnTo>
                <a:lnTo>
                  <a:pt x="73820" y="44499"/>
                </a:lnTo>
                <a:lnTo>
                  <a:pt x="73820" y="7172"/>
                </a:lnTo>
                <a:cubicBezTo>
                  <a:pt x="73820" y="3203"/>
                  <a:pt x="70617" y="1"/>
                  <a:pt x="66648" y="1"/>
                </a:cubicBezTo>
                <a:close/>
              </a:path>
            </a:pathLst>
          </a:custGeom>
          <a:solidFill>
            <a:schemeClr val="dk2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4" name="Google Shape;64;p15"/>
          <p:cNvSpPr/>
          <p:nvPr/>
        </p:nvSpPr>
        <p:spPr>
          <a:xfrm>
            <a:off x="5617028" y="2361652"/>
            <a:ext cx="2022972" cy="1340658"/>
          </a:xfrm>
          <a:custGeom>
            <a:avLst/>
            <a:gdLst/>
            <a:ahLst/>
            <a:cxnLst/>
            <a:rect l="l" t="t" r="r" b="b"/>
            <a:pathLst>
              <a:path w="36293" h="24052" extrusionOk="0">
                <a:moveTo>
                  <a:pt x="0" y="1"/>
                </a:moveTo>
                <a:lnTo>
                  <a:pt x="0" y="24052"/>
                </a:lnTo>
                <a:lnTo>
                  <a:pt x="36293" y="24052"/>
                </a:lnTo>
                <a:lnTo>
                  <a:pt x="3629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5" name="Google Shape;65;p15"/>
          <p:cNvSpPr/>
          <p:nvPr/>
        </p:nvSpPr>
        <p:spPr>
          <a:xfrm>
            <a:off x="5782472" y="2739139"/>
            <a:ext cx="1054322" cy="814417"/>
          </a:xfrm>
          <a:custGeom>
            <a:avLst/>
            <a:gdLst/>
            <a:ahLst/>
            <a:cxnLst/>
            <a:rect l="l" t="t" r="r" b="b"/>
            <a:pathLst>
              <a:path w="18915" h="14611" extrusionOk="0">
                <a:moveTo>
                  <a:pt x="1" y="0"/>
                </a:moveTo>
                <a:lnTo>
                  <a:pt x="1" y="14611"/>
                </a:lnTo>
                <a:lnTo>
                  <a:pt x="18914" y="14611"/>
                </a:lnTo>
                <a:lnTo>
                  <a:pt x="1891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6" name="Google Shape;66;p15"/>
          <p:cNvSpPr/>
          <p:nvPr/>
        </p:nvSpPr>
        <p:spPr>
          <a:xfrm>
            <a:off x="5828961" y="2785628"/>
            <a:ext cx="961348" cy="721443"/>
          </a:xfrm>
          <a:custGeom>
            <a:avLst/>
            <a:gdLst/>
            <a:ahLst/>
            <a:cxnLst/>
            <a:rect l="l" t="t" r="r" b="b"/>
            <a:pathLst>
              <a:path w="17247" h="12943" extrusionOk="0">
                <a:moveTo>
                  <a:pt x="1" y="0"/>
                </a:moveTo>
                <a:lnTo>
                  <a:pt x="1" y="12943"/>
                </a:lnTo>
                <a:lnTo>
                  <a:pt x="17246" y="12943"/>
                </a:lnTo>
                <a:lnTo>
                  <a:pt x="1724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7" name="Google Shape;67;p15"/>
          <p:cNvSpPr/>
          <p:nvPr/>
        </p:nvSpPr>
        <p:spPr>
          <a:xfrm>
            <a:off x="5875451" y="2833956"/>
            <a:ext cx="868373" cy="626685"/>
          </a:xfrm>
          <a:custGeom>
            <a:avLst/>
            <a:gdLst/>
            <a:ahLst/>
            <a:cxnLst/>
            <a:rect l="l" t="t" r="r" b="b"/>
            <a:pathLst>
              <a:path w="15579" h="11243" extrusionOk="0">
                <a:moveTo>
                  <a:pt x="1" y="1"/>
                </a:moveTo>
                <a:lnTo>
                  <a:pt x="1" y="11242"/>
                </a:lnTo>
                <a:lnTo>
                  <a:pt x="15579" y="11242"/>
                </a:lnTo>
                <a:lnTo>
                  <a:pt x="1557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8" name="Google Shape;68;p15"/>
          <p:cNvSpPr/>
          <p:nvPr/>
        </p:nvSpPr>
        <p:spPr>
          <a:xfrm>
            <a:off x="5847580" y="3146334"/>
            <a:ext cx="924113" cy="56"/>
          </a:xfrm>
          <a:custGeom>
            <a:avLst/>
            <a:gdLst/>
            <a:ahLst/>
            <a:cxnLst/>
            <a:rect l="l" t="t" r="r" b="b"/>
            <a:pathLst>
              <a:path w="16579" h="1" fill="none" extrusionOk="0">
                <a:moveTo>
                  <a:pt x="16579" y="1"/>
                </a:moveTo>
                <a:lnTo>
                  <a:pt x="0" y="1"/>
                </a:lnTo>
              </a:path>
            </a:pathLst>
          </a:custGeom>
          <a:noFill/>
          <a:ln w="10850" cap="flat" cmpd="sng">
            <a:solidFill>
              <a:srgbClr val="FFFFFF"/>
            </a:solidFill>
            <a:prstDash val="solid"/>
            <a:miter lim="3335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9" name="Google Shape;69;p15"/>
          <p:cNvSpPr/>
          <p:nvPr/>
        </p:nvSpPr>
        <p:spPr>
          <a:xfrm>
            <a:off x="6068820" y="2757757"/>
            <a:ext cx="56" cy="736325"/>
          </a:xfrm>
          <a:custGeom>
            <a:avLst/>
            <a:gdLst/>
            <a:ahLst/>
            <a:cxnLst/>
            <a:rect l="l" t="t" r="r" b="b"/>
            <a:pathLst>
              <a:path w="1" h="13210" fill="none" extrusionOk="0">
                <a:moveTo>
                  <a:pt x="1" y="13210"/>
                </a:moveTo>
                <a:lnTo>
                  <a:pt x="1" y="0"/>
                </a:lnTo>
              </a:path>
            </a:pathLst>
          </a:custGeom>
          <a:noFill/>
          <a:ln w="10850" cap="flat" cmpd="sng">
            <a:solidFill>
              <a:srgbClr val="FFFFFF"/>
            </a:solidFill>
            <a:prstDash val="solid"/>
            <a:miter lim="3335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0" name="Google Shape;70;p15"/>
          <p:cNvSpPr/>
          <p:nvPr/>
        </p:nvSpPr>
        <p:spPr>
          <a:xfrm>
            <a:off x="6550435" y="2757757"/>
            <a:ext cx="56" cy="736325"/>
          </a:xfrm>
          <a:custGeom>
            <a:avLst/>
            <a:gdLst/>
            <a:ahLst/>
            <a:cxnLst/>
            <a:rect l="l" t="t" r="r" b="b"/>
            <a:pathLst>
              <a:path w="1" h="13210" fill="none" extrusionOk="0">
                <a:moveTo>
                  <a:pt x="0" y="13210"/>
                </a:moveTo>
                <a:lnTo>
                  <a:pt x="0" y="0"/>
                </a:lnTo>
              </a:path>
            </a:pathLst>
          </a:custGeom>
          <a:noFill/>
          <a:ln w="10850" cap="flat" cmpd="sng">
            <a:solidFill>
              <a:srgbClr val="FFFFFF"/>
            </a:solidFill>
            <a:prstDash val="solid"/>
            <a:miter lim="3335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1" name="Google Shape;71;p15"/>
          <p:cNvSpPr/>
          <p:nvPr/>
        </p:nvSpPr>
        <p:spPr>
          <a:xfrm>
            <a:off x="6308680" y="2757757"/>
            <a:ext cx="56" cy="736325"/>
          </a:xfrm>
          <a:custGeom>
            <a:avLst/>
            <a:gdLst/>
            <a:ahLst/>
            <a:cxnLst/>
            <a:rect l="l" t="t" r="r" b="b"/>
            <a:pathLst>
              <a:path w="1" h="13210" fill="none" extrusionOk="0">
                <a:moveTo>
                  <a:pt x="1" y="13210"/>
                </a:moveTo>
                <a:lnTo>
                  <a:pt x="1" y="0"/>
                </a:lnTo>
              </a:path>
            </a:pathLst>
          </a:custGeom>
          <a:noFill/>
          <a:ln w="10850" cap="flat" cmpd="sng">
            <a:solidFill>
              <a:srgbClr val="FFFFFF"/>
            </a:solidFill>
            <a:prstDash val="solid"/>
            <a:miter lim="3335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2" name="Google Shape;72;p15"/>
          <p:cNvSpPr/>
          <p:nvPr/>
        </p:nvSpPr>
        <p:spPr>
          <a:xfrm>
            <a:off x="5617028" y="3507099"/>
            <a:ext cx="2022972" cy="195257"/>
          </a:xfrm>
          <a:custGeom>
            <a:avLst/>
            <a:gdLst/>
            <a:ahLst/>
            <a:cxnLst/>
            <a:rect l="l" t="t" r="r" b="b"/>
            <a:pathLst>
              <a:path w="36293" h="3503" extrusionOk="0">
                <a:moveTo>
                  <a:pt x="0" y="0"/>
                </a:moveTo>
                <a:lnTo>
                  <a:pt x="0" y="3503"/>
                </a:lnTo>
                <a:lnTo>
                  <a:pt x="36293" y="3503"/>
                </a:lnTo>
                <a:lnTo>
                  <a:pt x="36293" y="0"/>
                </a:lnTo>
                <a:close/>
              </a:path>
            </a:pathLst>
          </a:custGeom>
          <a:solidFill>
            <a:schemeClr val="accent3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3" name="Google Shape;73;p15"/>
          <p:cNvSpPr/>
          <p:nvPr/>
        </p:nvSpPr>
        <p:spPr>
          <a:xfrm>
            <a:off x="6899996" y="2646160"/>
            <a:ext cx="548537" cy="1056162"/>
          </a:xfrm>
          <a:custGeom>
            <a:avLst/>
            <a:gdLst/>
            <a:ahLst/>
            <a:cxnLst/>
            <a:rect l="l" t="t" r="r" b="b"/>
            <a:pathLst>
              <a:path w="9841" h="18948" extrusionOk="0">
                <a:moveTo>
                  <a:pt x="1" y="1"/>
                </a:moveTo>
                <a:lnTo>
                  <a:pt x="1" y="18948"/>
                </a:lnTo>
                <a:lnTo>
                  <a:pt x="9841" y="18948"/>
                </a:lnTo>
                <a:lnTo>
                  <a:pt x="9841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4" name="Google Shape;74;p15"/>
          <p:cNvSpPr/>
          <p:nvPr/>
        </p:nvSpPr>
        <p:spPr>
          <a:xfrm>
            <a:off x="6950219" y="2627598"/>
            <a:ext cx="448150" cy="1076562"/>
          </a:xfrm>
          <a:custGeom>
            <a:avLst/>
            <a:gdLst/>
            <a:ahLst/>
            <a:cxnLst/>
            <a:rect l="l" t="t" r="r" b="b"/>
            <a:pathLst>
              <a:path w="8040" h="19314" extrusionOk="0">
                <a:moveTo>
                  <a:pt x="0" y="0"/>
                </a:moveTo>
                <a:lnTo>
                  <a:pt x="0" y="19314"/>
                </a:lnTo>
                <a:lnTo>
                  <a:pt x="8039" y="19314"/>
                </a:lnTo>
                <a:lnTo>
                  <a:pt x="803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5" name="Google Shape;75;p15"/>
          <p:cNvSpPr/>
          <p:nvPr/>
        </p:nvSpPr>
        <p:spPr>
          <a:xfrm>
            <a:off x="6996709" y="2674031"/>
            <a:ext cx="355175" cy="981804"/>
          </a:xfrm>
          <a:custGeom>
            <a:avLst/>
            <a:gdLst/>
            <a:ahLst/>
            <a:cxnLst/>
            <a:rect l="l" t="t" r="r" b="b"/>
            <a:pathLst>
              <a:path w="6372" h="17614" extrusionOk="0">
                <a:moveTo>
                  <a:pt x="0" y="1"/>
                </a:moveTo>
                <a:lnTo>
                  <a:pt x="0" y="17614"/>
                </a:lnTo>
                <a:lnTo>
                  <a:pt x="6371" y="17614"/>
                </a:lnTo>
                <a:lnTo>
                  <a:pt x="6371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6" name="Google Shape;76;p15"/>
          <p:cNvSpPr/>
          <p:nvPr/>
        </p:nvSpPr>
        <p:spPr>
          <a:xfrm>
            <a:off x="5617028" y="2960378"/>
            <a:ext cx="2026706" cy="148826"/>
          </a:xfrm>
          <a:custGeom>
            <a:avLst/>
            <a:gdLst/>
            <a:ahLst/>
            <a:cxnLst/>
            <a:rect l="l" t="t" r="r" b="b"/>
            <a:pathLst>
              <a:path w="36360" h="2670" extrusionOk="0">
                <a:moveTo>
                  <a:pt x="0" y="1"/>
                </a:moveTo>
                <a:lnTo>
                  <a:pt x="0" y="2303"/>
                </a:lnTo>
                <a:cubicBezTo>
                  <a:pt x="267" y="2536"/>
                  <a:pt x="567" y="2670"/>
                  <a:pt x="934" y="2670"/>
                </a:cubicBezTo>
                <a:cubicBezTo>
                  <a:pt x="1735" y="2670"/>
                  <a:pt x="2368" y="2036"/>
                  <a:pt x="2368" y="1235"/>
                </a:cubicBezTo>
                <a:cubicBezTo>
                  <a:pt x="2368" y="2036"/>
                  <a:pt x="3036" y="2670"/>
                  <a:pt x="3803" y="2670"/>
                </a:cubicBezTo>
                <a:cubicBezTo>
                  <a:pt x="4603" y="2670"/>
                  <a:pt x="5271" y="2036"/>
                  <a:pt x="5271" y="1235"/>
                </a:cubicBezTo>
                <a:cubicBezTo>
                  <a:pt x="5271" y="2036"/>
                  <a:pt x="5904" y="2670"/>
                  <a:pt x="6705" y="2670"/>
                </a:cubicBezTo>
                <a:cubicBezTo>
                  <a:pt x="7472" y="2670"/>
                  <a:pt x="8139" y="2036"/>
                  <a:pt x="8139" y="1235"/>
                </a:cubicBezTo>
                <a:cubicBezTo>
                  <a:pt x="8139" y="2036"/>
                  <a:pt x="8773" y="2670"/>
                  <a:pt x="9574" y="2670"/>
                </a:cubicBezTo>
                <a:cubicBezTo>
                  <a:pt x="10374" y="2670"/>
                  <a:pt x="11008" y="2036"/>
                  <a:pt x="11008" y="1235"/>
                </a:cubicBezTo>
                <a:cubicBezTo>
                  <a:pt x="11008" y="2036"/>
                  <a:pt x="11642" y="2670"/>
                  <a:pt x="12442" y="2670"/>
                </a:cubicBezTo>
                <a:cubicBezTo>
                  <a:pt x="13243" y="2670"/>
                  <a:pt x="13877" y="2036"/>
                  <a:pt x="13877" y="1235"/>
                </a:cubicBezTo>
                <a:cubicBezTo>
                  <a:pt x="13877" y="2036"/>
                  <a:pt x="14544" y="2670"/>
                  <a:pt x="15311" y="2670"/>
                </a:cubicBezTo>
                <a:cubicBezTo>
                  <a:pt x="16112" y="2670"/>
                  <a:pt x="16779" y="2036"/>
                  <a:pt x="16779" y="1235"/>
                </a:cubicBezTo>
                <a:cubicBezTo>
                  <a:pt x="16779" y="2036"/>
                  <a:pt x="17413" y="2670"/>
                  <a:pt x="18213" y="2670"/>
                </a:cubicBezTo>
                <a:cubicBezTo>
                  <a:pt x="18980" y="2670"/>
                  <a:pt x="19647" y="2036"/>
                  <a:pt x="19647" y="1235"/>
                </a:cubicBezTo>
                <a:cubicBezTo>
                  <a:pt x="19647" y="2036"/>
                  <a:pt x="20281" y="2670"/>
                  <a:pt x="21082" y="2670"/>
                </a:cubicBezTo>
                <a:cubicBezTo>
                  <a:pt x="21882" y="2670"/>
                  <a:pt x="22516" y="2036"/>
                  <a:pt x="22516" y="1235"/>
                </a:cubicBezTo>
                <a:cubicBezTo>
                  <a:pt x="22516" y="2036"/>
                  <a:pt x="23150" y="2670"/>
                  <a:pt x="23951" y="2670"/>
                </a:cubicBezTo>
                <a:cubicBezTo>
                  <a:pt x="24751" y="2670"/>
                  <a:pt x="25385" y="2036"/>
                  <a:pt x="25385" y="1235"/>
                </a:cubicBezTo>
                <a:cubicBezTo>
                  <a:pt x="25385" y="2036"/>
                  <a:pt x="26052" y="2670"/>
                  <a:pt x="26819" y="2670"/>
                </a:cubicBezTo>
                <a:cubicBezTo>
                  <a:pt x="27620" y="2670"/>
                  <a:pt x="28254" y="2036"/>
                  <a:pt x="28254" y="1235"/>
                </a:cubicBezTo>
                <a:cubicBezTo>
                  <a:pt x="28254" y="2036"/>
                  <a:pt x="28921" y="2670"/>
                  <a:pt x="29721" y="2670"/>
                </a:cubicBezTo>
                <a:cubicBezTo>
                  <a:pt x="30489" y="2670"/>
                  <a:pt x="31156" y="2036"/>
                  <a:pt x="31156" y="1235"/>
                </a:cubicBezTo>
                <a:cubicBezTo>
                  <a:pt x="31156" y="2036"/>
                  <a:pt x="31789" y="2670"/>
                  <a:pt x="32590" y="2670"/>
                </a:cubicBezTo>
                <a:cubicBezTo>
                  <a:pt x="33391" y="2670"/>
                  <a:pt x="34024" y="2036"/>
                  <a:pt x="34024" y="1235"/>
                </a:cubicBezTo>
                <a:cubicBezTo>
                  <a:pt x="34024" y="2036"/>
                  <a:pt x="34658" y="2670"/>
                  <a:pt x="35459" y="2670"/>
                </a:cubicBezTo>
                <a:cubicBezTo>
                  <a:pt x="35792" y="2670"/>
                  <a:pt x="36093" y="2536"/>
                  <a:pt x="36359" y="2369"/>
                </a:cubicBezTo>
                <a:lnTo>
                  <a:pt x="36359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7" name="Google Shape;77;p15"/>
          <p:cNvSpPr/>
          <p:nvPr/>
        </p:nvSpPr>
        <p:spPr>
          <a:xfrm>
            <a:off x="6950219" y="3200293"/>
            <a:ext cx="448150" cy="92974"/>
          </a:xfrm>
          <a:custGeom>
            <a:avLst/>
            <a:gdLst/>
            <a:ahLst/>
            <a:cxnLst/>
            <a:rect l="l" t="t" r="r" b="b"/>
            <a:pathLst>
              <a:path w="8040" h="1668" extrusionOk="0">
                <a:moveTo>
                  <a:pt x="0" y="0"/>
                </a:moveTo>
                <a:lnTo>
                  <a:pt x="0" y="1668"/>
                </a:lnTo>
                <a:lnTo>
                  <a:pt x="8039" y="1668"/>
                </a:lnTo>
                <a:lnTo>
                  <a:pt x="803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8" name="Google Shape;78;p15"/>
          <p:cNvSpPr/>
          <p:nvPr/>
        </p:nvSpPr>
        <p:spPr>
          <a:xfrm>
            <a:off x="6978090" y="3233738"/>
            <a:ext cx="115326" cy="20512"/>
          </a:xfrm>
          <a:custGeom>
            <a:avLst/>
            <a:gdLst/>
            <a:ahLst/>
            <a:cxnLst/>
            <a:rect l="l" t="t" r="r" b="b"/>
            <a:pathLst>
              <a:path w="2069" h="368" extrusionOk="0">
                <a:moveTo>
                  <a:pt x="201" y="0"/>
                </a:moveTo>
                <a:cubicBezTo>
                  <a:pt x="101" y="0"/>
                  <a:pt x="1" y="67"/>
                  <a:pt x="1" y="201"/>
                </a:cubicBezTo>
                <a:cubicBezTo>
                  <a:pt x="1" y="301"/>
                  <a:pt x="101" y="367"/>
                  <a:pt x="201" y="367"/>
                </a:cubicBezTo>
                <a:lnTo>
                  <a:pt x="1869" y="367"/>
                </a:lnTo>
                <a:cubicBezTo>
                  <a:pt x="1969" y="367"/>
                  <a:pt x="2069" y="301"/>
                  <a:pt x="2069" y="201"/>
                </a:cubicBezTo>
                <a:cubicBezTo>
                  <a:pt x="2069" y="67"/>
                  <a:pt x="1969" y="0"/>
                  <a:pt x="186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9" name="Google Shape;79;p15"/>
          <p:cNvSpPr/>
          <p:nvPr/>
        </p:nvSpPr>
        <p:spPr>
          <a:xfrm>
            <a:off x="5617028" y="2432334"/>
            <a:ext cx="2022972" cy="167387"/>
          </a:xfrm>
          <a:custGeom>
            <a:avLst/>
            <a:gdLst/>
            <a:ahLst/>
            <a:cxnLst/>
            <a:rect l="l" t="t" r="r" b="b"/>
            <a:pathLst>
              <a:path w="36293" h="3003" extrusionOk="0">
                <a:moveTo>
                  <a:pt x="0" y="1"/>
                </a:moveTo>
                <a:lnTo>
                  <a:pt x="0" y="3003"/>
                </a:lnTo>
                <a:lnTo>
                  <a:pt x="36293" y="3003"/>
                </a:lnTo>
                <a:lnTo>
                  <a:pt x="3629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0" name="Google Shape;80;p15"/>
          <p:cNvSpPr/>
          <p:nvPr/>
        </p:nvSpPr>
        <p:spPr>
          <a:xfrm>
            <a:off x="5561231" y="2361652"/>
            <a:ext cx="2134563" cy="197152"/>
          </a:xfrm>
          <a:custGeom>
            <a:avLst/>
            <a:gdLst/>
            <a:ahLst/>
            <a:cxnLst/>
            <a:rect l="l" t="t" r="r" b="b"/>
            <a:pathLst>
              <a:path w="38295" h="3537" extrusionOk="0">
                <a:moveTo>
                  <a:pt x="0" y="1"/>
                </a:moveTo>
                <a:lnTo>
                  <a:pt x="0" y="3537"/>
                </a:lnTo>
                <a:lnTo>
                  <a:pt x="38294" y="3537"/>
                </a:lnTo>
                <a:lnTo>
                  <a:pt x="3829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1" name="Google Shape;81;p15"/>
          <p:cNvSpPr/>
          <p:nvPr/>
        </p:nvSpPr>
        <p:spPr>
          <a:xfrm>
            <a:off x="6052099" y="2099497"/>
            <a:ext cx="1156549" cy="360749"/>
          </a:xfrm>
          <a:custGeom>
            <a:avLst/>
            <a:gdLst/>
            <a:ahLst/>
            <a:cxnLst/>
            <a:rect l="l" t="t" r="r" b="b"/>
            <a:pathLst>
              <a:path w="20749" h="6472" extrusionOk="0">
                <a:moveTo>
                  <a:pt x="1" y="1"/>
                </a:moveTo>
                <a:lnTo>
                  <a:pt x="1" y="6472"/>
                </a:lnTo>
                <a:lnTo>
                  <a:pt x="20749" y="6472"/>
                </a:lnTo>
                <a:lnTo>
                  <a:pt x="2074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2" name="Google Shape;82;p15"/>
          <p:cNvSpPr/>
          <p:nvPr/>
        </p:nvSpPr>
        <p:spPr>
          <a:xfrm>
            <a:off x="6037222" y="2088349"/>
            <a:ext cx="1180685" cy="383101"/>
          </a:xfrm>
          <a:custGeom>
            <a:avLst/>
            <a:gdLst/>
            <a:ahLst/>
            <a:cxnLst/>
            <a:rect l="l" t="t" r="r" b="b"/>
            <a:pathLst>
              <a:path w="21182" h="6873" extrusionOk="0">
                <a:moveTo>
                  <a:pt x="20782" y="401"/>
                </a:moveTo>
                <a:lnTo>
                  <a:pt x="20782" y="6472"/>
                </a:lnTo>
                <a:lnTo>
                  <a:pt x="434" y="6472"/>
                </a:lnTo>
                <a:lnTo>
                  <a:pt x="434" y="401"/>
                </a:lnTo>
                <a:close/>
                <a:moveTo>
                  <a:pt x="0" y="0"/>
                </a:moveTo>
                <a:lnTo>
                  <a:pt x="0" y="6872"/>
                </a:lnTo>
                <a:lnTo>
                  <a:pt x="21182" y="6872"/>
                </a:lnTo>
                <a:lnTo>
                  <a:pt x="2118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3" name="Google Shape;83;p15"/>
          <p:cNvSpPr/>
          <p:nvPr/>
        </p:nvSpPr>
        <p:spPr>
          <a:xfrm>
            <a:off x="5429232" y="2627598"/>
            <a:ext cx="2398548" cy="260362"/>
          </a:xfrm>
          <a:custGeom>
            <a:avLst/>
            <a:gdLst/>
            <a:ahLst/>
            <a:cxnLst/>
            <a:rect l="l" t="t" r="r" b="b"/>
            <a:pathLst>
              <a:path w="43031" h="4671" extrusionOk="0">
                <a:moveTo>
                  <a:pt x="6104" y="0"/>
                </a:moveTo>
                <a:lnTo>
                  <a:pt x="0" y="4670"/>
                </a:lnTo>
                <a:lnTo>
                  <a:pt x="43031" y="4670"/>
                </a:lnTo>
                <a:lnTo>
                  <a:pt x="3692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4" name="Google Shape;84;p15"/>
          <p:cNvSpPr/>
          <p:nvPr/>
        </p:nvSpPr>
        <p:spPr>
          <a:xfrm>
            <a:off x="7372302" y="2627598"/>
            <a:ext cx="455563" cy="260362"/>
          </a:xfrm>
          <a:custGeom>
            <a:avLst/>
            <a:gdLst/>
            <a:ahLst/>
            <a:cxnLst/>
            <a:rect l="l" t="t" r="r" b="b"/>
            <a:pathLst>
              <a:path w="8173" h="4671" extrusionOk="0">
                <a:moveTo>
                  <a:pt x="0" y="0"/>
                </a:moveTo>
                <a:lnTo>
                  <a:pt x="5304" y="4670"/>
                </a:lnTo>
                <a:lnTo>
                  <a:pt x="8173" y="4670"/>
                </a:lnTo>
                <a:lnTo>
                  <a:pt x="206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5" name="Google Shape;85;p15"/>
          <p:cNvSpPr/>
          <p:nvPr/>
        </p:nvSpPr>
        <p:spPr>
          <a:xfrm>
            <a:off x="7143590" y="2627598"/>
            <a:ext cx="364484" cy="260362"/>
          </a:xfrm>
          <a:custGeom>
            <a:avLst/>
            <a:gdLst/>
            <a:ahLst/>
            <a:cxnLst/>
            <a:rect l="l" t="t" r="r" b="b"/>
            <a:pathLst>
              <a:path w="6539" h="4671" extrusionOk="0">
                <a:moveTo>
                  <a:pt x="0" y="0"/>
                </a:moveTo>
                <a:lnTo>
                  <a:pt x="3670" y="4670"/>
                </a:lnTo>
                <a:lnTo>
                  <a:pt x="6538" y="4670"/>
                </a:lnTo>
                <a:lnTo>
                  <a:pt x="2035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6" name="Google Shape;86;p15"/>
          <p:cNvSpPr/>
          <p:nvPr/>
        </p:nvSpPr>
        <p:spPr>
          <a:xfrm>
            <a:off x="6914880" y="2627598"/>
            <a:ext cx="273349" cy="260362"/>
          </a:xfrm>
          <a:custGeom>
            <a:avLst/>
            <a:gdLst/>
            <a:ahLst/>
            <a:cxnLst/>
            <a:rect l="l" t="t" r="r" b="b"/>
            <a:pathLst>
              <a:path w="4904" h="4671" extrusionOk="0">
                <a:moveTo>
                  <a:pt x="0" y="0"/>
                </a:moveTo>
                <a:lnTo>
                  <a:pt x="2035" y="4670"/>
                </a:lnTo>
                <a:lnTo>
                  <a:pt x="4904" y="4670"/>
                </a:lnTo>
                <a:lnTo>
                  <a:pt x="2035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7" name="Google Shape;87;p15"/>
          <p:cNvSpPr/>
          <p:nvPr/>
        </p:nvSpPr>
        <p:spPr>
          <a:xfrm>
            <a:off x="6686168" y="2627598"/>
            <a:ext cx="182270" cy="260362"/>
          </a:xfrm>
          <a:custGeom>
            <a:avLst/>
            <a:gdLst/>
            <a:ahLst/>
            <a:cxnLst/>
            <a:rect l="l" t="t" r="r" b="b"/>
            <a:pathLst>
              <a:path w="3270" h="4671" extrusionOk="0">
                <a:moveTo>
                  <a:pt x="0" y="0"/>
                </a:moveTo>
                <a:lnTo>
                  <a:pt x="401" y="4670"/>
                </a:lnTo>
                <a:lnTo>
                  <a:pt x="3269" y="4670"/>
                </a:lnTo>
                <a:lnTo>
                  <a:pt x="2035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8" name="Google Shape;88;p15"/>
          <p:cNvSpPr/>
          <p:nvPr/>
        </p:nvSpPr>
        <p:spPr>
          <a:xfrm>
            <a:off x="6388670" y="2627598"/>
            <a:ext cx="182270" cy="260362"/>
          </a:xfrm>
          <a:custGeom>
            <a:avLst/>
            <a:gdLst/>
            <a:ahLst/>
            <a:cxnLst/>
            <a:rect l="l" t="t" r="r" b="b"/>
            <a:pathLst>
              <a:path w="3270" h="4671" extrusionOk="0">
                <a:moveTo>
                  <a:pt x="1235" y="0"/>
                </a:moveTo>
                <a:lnTo>
                  <a:pt x="0" y="4670"/>
                </a:lnTo>
                <a:lnTo>
                  <a:pt x="2869" y="4670"/>
                </a:lnTo>
                <a:lnTo>
                  <a:pt x="3269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9" name="Google Shape;89;p15"/>
          <p:cNvSpPr/>
          <p:nvPr/>
        </p:nvSpPr>
        <p:spPr>
          <a:xfrm>
            <a:off x="6068821" y="2627598"/>
            <a:ext cx="273405" cy="260362"/>
          </a:xfrm>
          <a:custGeom>
            <a:avLst/>
            <a:gdLst/>
            <a:ahLst/>
            <a:cxnLst/>
            <a:rect l="l" t="t" r="r" b="b"/>
            <a:pathLst>
              <a:path w="4905" h="4671" extrusionOk="0">
                <a:moveTo>
                  <a:pt x="2870" y="0"/>
                </a:moveTo>
                <a:lnTo>
                  <a:pt x="1" y="4670"/>
                </a:lnTo>
                <a:lnTo>
                  <a:pt x="2870" y="4670"/>
                </a:lnTo>
                <a:lnTo>
                  <a:pt x="4904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90" name="Google Shape;90;p15"/>
          <p:cNvSpPr/>
          <p:nvPr/>
        </p:nvSpPr>
        <p:spPr>
          <a:xfrm>
            <a:off x="5749026" y="2627598"/>
            <a:ext cx="364484" cy="260362"/>
          </a:xfrm>
          <a:custGeom>
            <a:avLst/>
            <a:gdLst/>
            <a:ahLst/>
            <a:cxnLst/>
            <a:rect l="l" t="t" r="r" b="b"/>
            <a:pathLst>
              <a:path w="6539" h="4671" extrusionOk="0">
                <a:moveTo>
                  <a:pt x="4470" y="0"/>
                </a:moveTo>
                <a:lnTo>
                  <a:pt x="0" y="4670"/>
                </a:lnTo>
                <a:lnTo>
                  <a:pt x="2869" y="4670"/>
                </a:lnTo>
                <a:lnTo>
                  <a:pt x="653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91" name="Google Shape;91;p15"/>
          <p:cNvSpPr/>
          <p:nvPr/>
        </p:nvSpPr>
        <p:spPr>
          <a:xfrm>
            <a:off x="5429233" y="2627598"/>
            <a:ext cx="455563" cy="260362"/>
          </a:xfrm>
          <a:custGeom>
            <a:avLst/>
            <a:gdLst/>
            <a:ahLst/>
            <a:cxnLst/>
            <a:rect l="l" t="t" r="r" b="b"/>
            <a:pathLst>
              <a:path w="8173" h="4671" extrusionOk="0">
                <a:moveTo>
                  <a:pt x="6104" y="0"/>
                </a:moveTo>
                <a:lnTo>
                  <a:pt x="0" y="4670"/>
                </a:lnTo>
                <a:lnTo>
                  <a:pt x="2869" y="4670"/>
                </a:lnTo>
                <a:lnTo>
                  <a:pt x="817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92" name="Google Shape;92;p15"/>
          <p:cNvSpPr/>
          <p:nvPr/>
        </p:nvSpPr>
        <p:spPr>
          <a:xfrm>
            <a:off x="5427338" y="2887915"/>
            <a:ext cx="161813" cy="146931"/>
          </a:xfrm>
          <a:custGeom>
            <a:avLst/>
            <a:gdLst/>
            <a:ahLst/>
            <a:cxnLst/>
            <a:rect l="l" t="t" r="r" b="b"/>
            <a:pathLst>
              <a:path w="2903" h="2636" extrusionOk="0">
                <a:moveTo>
                  <a:pt x="1" y="0"/>
                </a:moveTo>
                <a:lnTo>
                  <a:pt x="1" y="1201"/>
                </a:lnTo>
                <a:cubicBezTo>
                  <a:pt x="1" y="2001"/>
                  <a:pt x="668" y="2635"/>
                  <a:pt x="1468" y="2635"/>
                </a:cubicBezTo>
                <a:cubicBezTo>
                  <a:pt x="2236" y="2635"/>
                  <a:pt x="2903" y="2001"/>
                  <a:pt x="2903" y="1201"/>
                </a:cubicBezTo>
                <a:lnTo>
                  <a:pt x="2903" y="0"/>
                </a:lnTo>
                <a:close/>
              </a:path>
            </a:pathLst>
          </a:custGeom>
          <a:solidFill>
            <a:srgbClr val="A562B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93" name="Google Shape;93;p15"/>
          <p:cNvSpPr/>
          <p:nvPr/>
        </p:nvSpPr>
        <p:spPr>
          <a:xfrm>
            <a:off x="5589101" y="2887915"/>
            <a:ext cx="159974" cy="146931"/>
          </a:xfrm>
          <a:custGeom>
            <a:avLst/>
            <a:gdLst/>
            <a:ahLst/>
            <a:cxnLst/>
            <a:rect l="l" t="t" r="r" b="b"/>
            <a:pathLst>
              <a:path w="2870" h="2636" extrusionOk="0">
                <a:moveTo>
                  <a:pt x="1" y="0"/>
                </a:moveTo>
                <a:lnTo>
                  <a:pt x="1" y="1201"/>
                </a:lnTo>
                <a:cubicBezTo>
                  <a:pt x="1" y="2001"/>
                  <a:pt x="635" y="2635"/>
                  <a:pt x="1435" y="2635"/>
                </a:cubicBezTo>
                <a:cubicBezTo>
                  <a:pt x="2236" y="2635"/>
                  <a:pt x="2869" y="2001"/>
                  <a:pt x="2869" y="1201"/>
                </a:cubicBezTo>
                <a:lnTo>
                  <a:pt x="286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94" name="Google Shape;94;p15"/>
          <p:cNvSpPr/>
          <p:nvPr/>
        </p:nvSpPr>
        <p:spPr>
          <a:xfrm>
            <a:off x="5749026" y="2887915"/>
            <a:ext cx="159974" cy="146931"/>
          </a:xfrm>
          <a:custGeom>
            <a:avLst/>
            <a:gdLst/>
            <a:ahLst/>
            <a:cxnLst/>
            <a:rect l="l" t="t" r="r" b="b"/>
            <a:pathLst>
              <a:path w="2870" h="2636" extrusionOk="0">
                <a:moveTo>
                  <a:pt x="0" y="0"/>
                </a:moveTo>
                <a:lnTo>
                  <a:pt x="0" y="1201"/>
                </a:lnTo>
                <a:cubicBezTo>
                  <a:pt x="0" y="2001"/>
                  <a:pt x="634" y="2635"/>
                  <a:pt x="1435" y="2635"/>
                </a:cubicBezTo>
                <a:cubicBezTo>
                  <a:pt x="2235" y="2635"/>
                  <a:pt x="2869" y="2001"/>
                  <a:pt x="2869" y="1201"/>
                </a:cubicBezTo>
                <a:lnTo>
                  <a:pt x="2869" y="0"/>
                </a:lnTo>
                <a:close/>
              </a:path>
            </a:pathLst>
          </a:custGeom>
          <a:solidFill>
            <a:srgbClr val="A562B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95" name="Google Shape;95;p15"/>
          <p:cNvSpPr/>
          <p:nvPr/>
        </p:nvSpPr>
        <p:spPr>
          <a:xfrm>
            <a:off x="5908951" y="2887915"/>
            <a:ext cx="159918" cy="146931"/>
          </a:xfrm>
          <a:custGeom>
            <a:avLst/>
            <a:gdLst/>
            <a:ahLst/>
            <a:cxnLst/>
            <a:rect l="l" t="t" r="r" b="b"/>
            <a:pathLst>
              <a:path w="2869" h="2636" extrusionOk="0">
                <a:moveTo>
                  <a:pt x="0" y="0"/>
                </a:moveTo>
                <a:lnTo>
                  <a:pt x="0" y="1201"/>
                </a:lnTo>
                <a:cubicBezTo>
                  <a:pt x="0" y="2001"/>
                  <a:pt x="634" y="2635"/>
                  <a:pt x="1435" y="2635"/>
                </a:cubicBezTo>
                <a:cubicBezTo>
                  <a:pt x="2235" y="2635"/>
                  <a:pt x="2869" y="2001"/>
                  <a:pt x="2869" y="1201"/>
                </a:cubicBezTo>
                <a:lnTo>
                  <a:pt x="286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96" name="Google Shape;96;p15"/>
          <p:cNvSpPr/>
          <p:nvPr/>
        </p:nvSpPr>
        <p:spPr>
          <a:xfrm>
            <a:off x="6068820" y="2887915"/>
            <a:ext cx="159974" cy="146931"/>
          </a:xfrm>
          <a:custGeom>
            <a:avLst/>
            <a:gdLst/>
            <a:ahLst/>
            <a:cxnLst/>
            <a:rect l="l" t="t" r="r" b="b"/>
            <a:pathLst>
              <a:path w="2870" h="2636" extrusionOk="0">
                <a:moveTo>
                  <a:pt x="1" y="0"/>
                </a:moveTo>
                <a:lnTo>
                  <a:pt x="1" y="1201"/>
                </a:lnTo>
                <a:cubicBezTo>
                  <a:pt x="1" y="2001"/>
                  <a:pt x="668" y="2635"/>
                  <a:pt x="1435" y="2635"/>
                </a:cubicBezTo>
                <a:cubicBezTo>
                  <a:pt x="2236" y="2635"/>
                  <a:pt x="2870" y="2001"/>
                  <a:pt x="2870" y="1201"/>
                </a:cubicBezTo>
                <a:lnTo>
                  <a:pt x="2870" y="0"/>
                </a:lnTo>
                <a:close/>
              </a:path>
            </a:pathLst>
          </a:custGeom>
          <a:solidFill>
            <a:srgbClr val="A562B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97" name="Google Shape;97;p15"/>
          <p:cNvSpPr/>
          <p:nvPr/>
        </p:nvSpPr>
        <p:spPr>
          <a:xfrm>
            <a:off x="6228746" y="2887915"/>
            <a:ext cx="161813" cy="146931"/>
          </a:xfrm>
          <a:custGeom>
            <a:avLst/>
            <a:gdLst/>
            <a:ahLst/>
            <a:cxnLst/>
            <a:rect l="l" t="t" r="r" b="b"/>
            <a:pathLst>
              <a:path w="2903" h="2636" extrusionOk="0">
                <a:moveTo>
                  <a:pt x="1" y="0"/>
                </a:moveTo>
                <a:lnTo>
                  <a:pt x="1" y="1201"/>
                </a:lnTo>
                <a:cubicBezTo>
                  <a:pt x="1" y="2001"/>
                  <a:pt x="668" y="2635"/>
                  <a:pt x="1435" y="2635"/>
                </a:cubicBezTo>
                <a:cubicBezTo>
                  <a:pt x="2236" y="2635"/>
                  <a:pt x="2903" y="2001"/>
                  <a:pt x="2903" y="1201"/>
                </a:cubicBezTo>
                <a:lnTo>
                  <a:pt x="2869" y="1201"/>
                </a:lnTo>
                <a:lnTo>
                  <a:pt x="286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98" name="Google Shape;98;p15"/>
          <p:cNvSpPr/>
          <p:nvPr/>
        </p:nvSpPr>
        <p:spPr>
          <a:xfrm>
            <a:off x="6388671" y="2887915"/>
            <a:ext cx="161813" cy="146931"/>
          </a:xfrm>
          <a:custGeom>
            <a:avLst/>
            <a:gdLst/>
            <a:ahLst/>
            <a:cxnLst/>
            <a:rect l="l" t="t" r="r" b="b"/>
            <a:pathLst>
              <a:path w="2903" h="2636" extrusionOk="0">
                <a:moveTo>
                  <a:pt x="0" y="0"/>
                </a:moveTo>
                <a:lnTo>
                  <a:pt x="0" y="1201"/>
                </a:lnTo>
                <a:cubicBezTo>
                  <a:pt x="0" y="2001"/>
                  <a:pt x="667" y="2635"/>
                  <a:pt x="1468" y="2635"/>
                </a:cubicBezTo>
                <a:cubicBezTo>
                  <a:pt x="2235" y="2635"/>
                  <a:pt x="2902" y="2001"/>
                  <a:pt x="2902" y="1201"/>
                </a:cubicBezTo>
                <a:lnTo>
                  <a:pt x="2902" y="0"/>
                </a:lnTo>
                <a:close/>
              </a:path>
            </a:pathLst>
          </a:custGeom>
          <a:solidFill>
            <a:srgbClr val="A562B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99" name="Google Shape;99;p15"/>
          <p:cNvSpPr/>
          <p:nvPr/>
        </p:nvSpPr>
        <p:spPr>
          <a:xfrm>
            <a:off x="6550435" y="2887915"/>
            <a:ext cx="159974" cy="146931"/>
          </a:xfrm>
          <a:custGeom>
            <a:avLst/>
            <a:gdLst/>
            <a:ahLst/>
            <a:cxnLst/>
            <a:rect l="l" t="t" r="r" b="b"/>
            <a:pathLst>
              <a:path w="2870" h="2636" extrusionOk="0">
                <a:moveTo>
                  <a:pt x="0" y="0"/>
                </a:moveTo>
                <a:lnTo>
                  <a:pt x="0" y="1201"/>
                </a:lnTo>
                <a:cubicBezTo>
                  <a:pt x="0" y="2001"/>
                  <a:pt x="634" y="2635"/>
                  <a:pt x="1435" y="2635"/>
                </a:cubicBezTo>
                <a:cubicBezTo>
                  <a:pt x="2235" y="2635"/>
                  <a:pt x="2869" y="2001"/>
                  <a:pt x="2869" y="1201"/>
                </a:cubicBezTo>
                <a:lnTo>
                  <a:pt x="286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00" name="Google Shape;100;p15"/>
          <p:cNvSpPr/>
          <p:nvPr/>
        </p:nvSpPr>
        <p:spPr>
          <a:xfrm>
            <a:off x="6710360" y="2887915"/>
            <a:ext cx="159918" cy="146931"/>
          </a:xfrm>
          <a:custGeom>
            <a:avLst/>
            <a:gdLst/>
            <a:ahLst/>
            <a:cxnLst/>
            <a:rect l="l" t="t" r="r" b="b"/>
            <a:pathLst>
              <a:path w="2869" h="2636" extrusionOk="0">
                <a:moveTo>
                  <a:pt x="0" y="0"/>
                </a:moveTo>
                <a:lnTo>
                  <a:pt x="0" y="1201"/>
                </a:lnTo>
                <a:cubicBezTo>
                  <a:pt x="0" y="2001"/>
                  <a:pt x="634" y="2635"/>
                  <a:pt x="1434" y="2635"/>
                </a:cubicBezTo>
                <a:cubicBezTo>
                  <a:pt x="2235" y="2635"/>
                  <a:pt x="2869" y="2001"/>
                  <a:pt x="2869" y="1201"/>
                </a:cubicBezTo>
                <a:lnTo>
                  <a:pt x="2869" y="0"/>
                </a:lnTo>
                <a:close/>
              </a:path>
            </a:pathLst>
          </a:custGeom>
          <a:solidFill>
            <a:srgbClr val="A562B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01" name="Google Shape;101;p15"/>
          <p:cNvSpPr/>
          <p:nvPr/>
        </p:nvSpPr>
        <p:spPr>
          <a:xfrm>
            <a:off x="6870229" y="2887915"/>
            <a:ext cx="159974" cy="146931"/>
          </a:xfrm>
          <a:custGeom>
            <a:avLst/>
            <a:gdLst/>
            <a:ahLst/>
            <a:cxnLst/>
            <a:rect l="l" t="t" r="r" b="b"/>
            <a:pathLst>
              <a:path w="2870" h="2636" extrusionOk="0">
                <a:moveTo>
                  <a:pt x="1" y="0"/>
                </a:moveTo>
                <a:lnTo>
                  <a:pt x="1" y="1201"/>
                </a:lnTo>
                <a:cubicBezTo>
                  <a:pt x="1" y="2001"/>
                  <a:pt x="635" y="2635"/>
                  <a:pt x="1435" y="2635"/>
                </a:cubicBezTo>
                <a:cubicBezTo>
                  <a:pt x="2236" y="2635"/>
                  <a:pt x="2870" y="2001"/>
                  <a:pt x="2870" y="1201"/>
                </a:cubicBezTo>
                <a:lnTo>
                  <a:pt x="287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02" name="Google Shape;102;p15"/>
          <p:cNvSpPr/>
          <p:nvPr/>
        </p:nvSpPr>
        <p:spPr>
          <a:xfrm>
            <a:off x="7030154" y="2887915"/>
            <a:ext cx="159974" cy="146931"/>
          </a:xfrm>
          <a:custGeom>
            <a:avLst/>
            <a:gdLst/>
            <a:ahLst/>
            <a:cxnLst/>
            <a:rect l="l" t="t" r="r" b="b"/>
            <a:pathLst>
              <a:path w="2870" h="2636" extrusionOk="0">
                <a:moveTo>
                  <a:pt x="1" y="0"/>
                </a:moveTo>
                <a:lnTo>
                  <a:pt x="1" y="1201"/>
                </a:lnTo>
                <a:cubicBezTo>
                  <a:pt x="1" y="2001"/>
                  <a:pt x="634" y="2635"/>
                  <a:pt x="1435" y="2635"/>
                </a:cubicBezTo>
                <a:cubicBezTo>
                  <a:pt x="2235" y="2635"/>
                  <a:pt x="2869" y="2001"/>
                  <a:pt x="2869" y="1201"/>
                </a:cubicBezTo>
                <a:lnTo>
                  <a:pt x="2869" y="0"/>
                </a:lnTo>
                <a:close/>
              </a:path>
            </a:pathLst>
          </a:custGeom>
          <a:solidFill>
            <a:srgbClr val="A562B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03" name="Google Shape;103;p15"/>
          <p:cNvSpPr/>
          <p:nvPr/>
        </p:nvSpPr>
        <p:spPr>
          <a:xfrm>
            <a:off x="7190080" y="2887915"/>
            <a:ext cx="161813" cy="146931"/>
          </a:xfrm>
          <a:custGeom>
            <a:avLst/>
            <a:gdLst/>
            <a:ahLst/>
            <a:cxnLst/>
            <a:rect l="l" t="t" r="r" b="b"/>
            <a:pathLst>
              <a:path w="2903" h="2636" extrusionOk="0">
                <a:moveTo>
                  <a:pt x="0" y="0"/>
                </a:moveTo>
                <a:lnTo>
                  <a:pt x="0" y="1201"/>
                </a:lnTo>
                <a:cubicBezTo>
                  <a:pt x="0" y="2001"/>
                  <a:pt x="667" y="2635"/>
                  <a:pt x="1435" y="2635"/>
                </a:cubicBezTo>
                <a:cubicBezTo>
                  <a:pt x="2235" y="2635"/>
                  <a:pt x="2902" y="2001"/>
                  <a:pt x="2902" y="1201"/>
                </a:cubicBezTo>
                <a:lnTo>
                  <a:pt x="2869" y="1201"/>
                </a:lnTo>
                <a:lnTo>
                  <a:pt x="286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04" name="Google Shape;104;p15"/>
          <p:cNvSpPr/>
          <p:nvPr/>
        </p:nvSpPr>
        <p:spPr>
          <a:xfrm>
            <a:off x="7349949" y="2887915"/>
            <a:ext cx="161869" cy="146931"/>
          </a:xfrm>
          <a:custGeom>
            <a:avLst/>
            <a:gdLst/>
            <a:ahLst/>
            <a:cxnLst/>
            <a:rect l="l" t="t" r="r" b="b"/>
            <a:pathLst>
              <a:path w="2904" h="2636" extrusionOk="0">
                <a:moveTo>
                  <a:pt x="1" y="0"/>
                </a:moveTo>
                <a:lnTo>
                  <a:pt x="1" y="1201"/>
                </a:lnTo>
                <a:cubicBezTo>
                  <a:pt x="1" y="2001"/>
                  <a:pt x="668" y="2635"/>
                  <a:pt x="1469" y="2635"/>
                </a:cubicBezTo>
                <a:cubicBezTo>
                  <a:pt x="2236" y="2635"/>
                  <a:pt x="2903" y="2001"/>
                  <a:pt x="2903" y="1201"/>
                </a:cubicBezTo>
                <a:lnTo>
                  <a:pt x="2903" y="0"/>
                </a:lnTo>
                <a:close/>
              </a:path>
            </a:pathLst>
          </a:custGeom>
          <a:solidFill>
            <a:srgbClr val="A562B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05" name="Google Shape;105;p15"/>
          <p:cNvSpPr/>
          <p:nvPr/>
        </p:nvSpPr>
        <p:spPr>
          <a:xfrm>
            <a:off x="7511768" y="2887915"/>
            <a:ext cx="159918" cy="146931"/>
          </a:xfrm>
          <a:custGeom>
            <a:avLst/>
            <a:gdLst/>
            <a:ahLst/>
            <a:cxnLst/>
            <a:rect l="l" t="t" r="r" b="b"/>
            <a:pathLst>
              <a:path w="2869" h="2636" extrusionOk="0">
                <a:moveTo>
                  <a:pt x="0" y="0"/>
                </a:moveTo>
                <a:lnTo>
                  <a:pt x="0" y="1201"/>
                </a:lnTo>
                <a:cubicBezTo>
                  <a:pt x="0" y="2001"/>
                  <a:pt x="634" y="2635"/>
                  <a:pt x="1434" y="2635"/>
                </a:cubicBezTo>
                <a:cubicBezTo>
                  <a:pt x="2202" y="2635"/>
                  <a:pt x="2869" y="2001"/>
                  <a:pt x="2869" y="1201"/>
                </a:cubicBezTo>
                <a:lnTo>
                  <a:pt x="286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06" name="Google Shape;106;p15"/>
          <p:cNvSpPr/>
          <p:nvPr/>
        </p:nvSpPr>
        <p:spPr>
          <a:xfrm>
            <a:off x="7671638" y="2887915"/>
            <a:ext cx="159974" cy="146931"/>
          </a:xfrm>
          <a:custGeom>
            <a:avLst/>
            <a:gdLst/>
            <a:ahLst/>
            <a:cxnLst/>
            <a:rect l="l" t="t" r="r" b="b"/>
            <a:pathLst>
              <a:path w="2870" h="2636" extrusionOk="0">
                <a:moveTo>
                  <a:pt x="1" y="0"/>
                </a:moveTo>
                <a:lnTo>
                  <a:pt x="1" y="1201"/>
                </a:lnTo>
                <a:cubicBezTo>
                  <a:pt x="1" y="2001"/>
                  <a:pt x="635" y="2635"/>
                  <a:pt x="1435" y="2635"/>
                </a:cubicBezTo>
                <a:cubicBezTo>
                  <a:pt x="2236" y="2635"/>
                  <a:pt x="2869" y="2001"/>
                  <a:pt x="2869" y="1201"/>
                </a:cubicBezTo>
                <a:lnTo>
                  <a:pt x="2869" y="0"/>
                </a:lnTo>
                <a:close/>
              </a:path>
            </a:pathLst>
          </a:custGeom>
          <a:solidFill>
            <a:srgbClr val="A562B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07" name="Google Shape;107;p15"/>
          <p:cNvSpPr/>
          <p:nvPr/>
        </p:nvSpPr>
        <p:spPr>
          <a:xfrm>
            <a:off x="7943104" y="3605595"/>
            <a:ext cx="245535" cy="245535"/>
          </a:xfrm>
          <a:custGeom>
            <a:avLst/>
            <a:gdLst/>
            <a:ahLst/>
            <a:cxnLst/>
            <a:rect l="l" t="t" r="r" b="b"/>
            <a:pathLst>
              <a:path w="4405" h="4405" extrusionOk="0">
                <a:moveTo>
                  <a:pt x="1" y="1"/>
                </a:moveTo>
                <a:lnTo>
                  <a:pt x="1902" y="4237"/>
                </a:lnTo>
                <a:lnTo>
                  <a:pt x="2770" y="3370"/>
                </a:lnTo>
                <a:lnTo>
                  <a:pt x="3770" y="4404"/>
                </a:lnTo>
                <a:lnTo>
                  <a:pt x="4404" y="3804"/>
                </a:lnTo>
                <a:lnTo>
                  <a:pt x="3370" y="2770"/>
                </a:lnTo>
                <a:lnTo>
                  <a:pt x="4237" y="1902"/>
                </a:lnTo>
                <a:lnTo>
                  <a:pt x="1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08" name="Google Shape;108;p15"/>
          <p:cNvSpPr txBox="1">
            <a:spLocks noGrp="1"/>
          </p:cNvSpPr>
          <p:nvPr>
            <p:ph type="ctrTitle"/>
          </p:nvPr>
        </p:nvSpPr>
        <p:spPr>
          <a:xfrm>
            <a:off x="6037164" y="2099559"/>
            <a:ext cx="1180800" cy="360600"/>
          </a:xfrm>
          <a:prstGeom prst="rect">
            <a:avLst/>
          </a:prstGeom>
          <a:blipFill dpi="0" rotWithShape="1">
            <a:blip r:embed="rId3">
              <a:alphaModFix amt="87000"/>
              <a:extLs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rcRect/>
            <a:stretch>
              <a:fillRect/>
            </a:stretch>
          </a:blipFill>
        </p:spPr>
        <p:txBody>
          <a:bodyPr spcFirstLastPara="1" vert="horz" wrap="square" lIns="91425" tIns="91425" rIns="91425" bIns="91425" rtlCol="0" anchor="ctr" anchorCtr="0">
            <a:noAutofit/>
          </a:bodyPr>
          <a:lstStyle/>
          <a:p>
            <a:pPr>
              <a:spcBef>
                <a:spcPts val="0"/>
              </a:spcBef>
            </a:pPr>
            <a:endParaRPr sz="2500" dirty="0">
              <a:noFill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F4610-C530-916F-A113-056A621FE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91502"/>
            <a:ext cx="8229600" cy="1143000"/>
          </a:xfrm>
        </p:spPr>
        <p:txBody>
          <a:bodyPr/>
          <a:lstStyle/>
          <a:p>
            <a:r>
              <a:rPr lang="en-IN" dirty="0">
                <a:solidFill>
                  <a:srgbClr val="FFFF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Click here : Video Link</a:t>
            </a:r>
            <a:endParaRPr lang="en-IN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37078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Task 1 – Data Cleaning &amp; 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05840"/>
            <a:ext cx="41148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</a:defRPr>
            </a:pPr>
            <a:r>
              <a:rPr dirty="0"/>
              <a:t>Identify and delete duplicate Order_ID records.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480560" y="1175742"/>
            <a:ext cx="4572000" cy="1097280"/>
          </a:xfrm>
          <a:prstGeom prst="rect">
            <a:avLst/>
          </a:prstGeom>
          <a:solidFill>
            <a:srgbClr val="183680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2000" b="1">
                <a:solidFill>
                  <a:srgbClr val="FFCC00"/>
                </a:solidFill>
              </a:defRPr>
            </a:pPr>
            <a:r>
              <a:rPr dirty="0"/>
              <a:t>SQL Snippet:</a:t>
            </a:r>
            <a:endParaRPr lang="en-IN" dirty="0"/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200" dirty="0">
                <a:solidFill>
                  <a:srgbClr val="FFFFFF"/>
                </a:solidFill>
              </a:rPr>
              <a:t>SELECT order_id, COUNT(*) AS cnt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200" dirty="0">
                <a:solidFill>
                  <a:srgbClr val="FFFFFF"/>
                </a:solidFill>
              </a:rPr>
              <a:t>FROM orders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200" dirty="0">
                <a:solidFill>
                  <a:srgbClr val="FFFFFF"/>
                </a:solidFill>
              </a:rPr>
              <a:t>GROUP BY order_id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200" dirty="0">
                <a:solidFill>
                  <a:srgbClr val="FFFFFF"/>
                </a:solidFill>
              </a:rPr>
              <a:t>HAVING cnt &gt; 1;</a:t>
            </a:r>
            <a:endParaRPr sz="1200" dirty="0">
              <a:solidFill>
                <a:srgbClr val="FFFFFF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7B00C7-3D37-9068-356D-E8366F2054C3}"/>
              </a:ext>
            </a:extLst>
          </p:cNvPr>
          <p:cNvSpPr txBox="1"/>
          <p:nvPr/>
        </p:nvSpPr>
        <p:spPr>
          <a:xfrm>
            <a:off x="274320" y="2987159"/>
            <a:ext cx="500385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</a:defRPr>
            </a:pPr>
            <a:r>
              <a:rPr lang="en-IN" sz="2200" dirty="0">
                <a:solidFill>
                  <a:srgbClr val="FFFFFF"/>
                </a:solidFill>
              </a:rPr>
              <a:t>Check </a:t>
            </a:r>
            <a:r>
              <a:rPr lang="en-IN" sz="2200">
                <a:solidFill>
                  <a:srgbClr val="FFFFFF"/>
                </a:solidFill>
              </a:rPr>
              <a:t>NULLs in </a:t>
            </a:r>
            <a:r>
              <a:rPr lang="en-IN" sz="2200" dirty="0">
                <a:solidFill>
                  <a:srgbClr val="FFFFFF"/>
                </a:solidFill>
              </a:rPr>
              <a:t>orders columns.</a:t>
            </a:r>
            <a:endParaRPr sz="2200" dirty="0">
              <a:solidFill>
                <a:srgbClr val="FFFFFF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4EA247-31D1-D5D7-7CA0-009BAD565F39}"/>
              </a:ext>
            </a:extLst>
          </p:cNvPr>
          <p:cNvSpPr txBox="1"/>
          <p:nvPr/>
        </p:nvSpPr>
        <p:spPr>
          <a:xfrm>
            <a:off x="573011" y="6421783"/>
            <a:ext cx="2012089" cy="307777"/>
          </a:xfrm>
          <a:prstGeom prst="rect">
            <a:avLst/>
          </a:prstGeom>
          <a:effectLst>
            <a:outerShdw blurRad="40000" dist="20000" dir="5400000" rotWithShape="0">
              <a:srgbClr val="000000">
                <a:alpha val="38000"/>
              </a:srgbClr>
            </a:outerShdw>
            <a:softEdge rad="31750"/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>
            <a:defPPr>
              <a:defRPr lang="en-US"/>
            </a:defPPr>
            <a:lvl1pPr marL="285750" indent="-285750">
              <a:buFont typeface="Arial" panose="020B0604020202020204" pitchFamily="34" charset="0"/>
              <a:buChar char="•"/>
              <a:defRPr sz="1400"/>
            </a:lvl1pPr>
          </a:lstStyle>
          <a:p>
            <a:r>
              <a:rPr lang="en-IN" dirty="0"/>
              <a:t>No null values found.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9E5A5F3-1E40-80D8-3075-24B26AEB702C}"/>
              </a:ext>
            </a:extLst>
          </p:cNvPr>
          <p:cNvSpPr/>
          <p:nvPr/>
        </p:nvSpPr>
        <p:spPr>
          <a:xfrm>
            <a:off x="274320" y="3385637"/>
            <a:ext cx="8599887" cy="2412205"/>
          </a:xfrm>
          <a:prstGeom prst="rect">
            <a:avLst/>
          </a:prstGeom>
          <a:solidFill>
            <a:srgbClr val="183680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2000" b="1">
                <a:solidFill>
                  <a:srgbClr val="FFCC00"/>
                </a:solidFill>
              </a:defRPr>
            </a:pPr>
            <a:r>
              <a:rPr dirty="0"/>
              <a:t>SQL Snippet:</a:t>
            </a:r>
            <a:endParaRPr lang="en-IN" dirty="0"/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200" dirty="0">
                <a:solidFill>
                  <a:srgbClr val="FFFFFF"/>
                </a:solidFill>
              </a:rPr>
              <a:t>SELECT   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200" dirty="0">
                <a:solidFill>
                  <a:srgbClr val="FFFFFF"/>
                </a:solidFill>
              </a:rPr>
              <a:t>	SUM(Order_ID IS NULL) AS order_id_nulls,  	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200" dirty="0">
                <a:solidFill>
                  <a:srgbClr val="FFFFFF"/>
                </a:solidFill>
              </a:rPr>
              <a:t>	SUM(Warehouse_ID IS NULL) AS warehouse_nulls,  	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200" dirty="0">
                <a:solidFill>
                  <a:srgbClr val="FFFFFF"/>
                </a:solidFill>
              </a:rPr>
              <a:t>	SUM(Route_ID IS NULL) AS route_nulls,  	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200" dirty="0">
                <a:solidFill>
                  <a:srgbClr val="FFFFFF"/>
                </a:solidFill>
              </a:rPr>
              <a:t>	SUM(Agent_ID IS NULL) AS agent_nulls,  	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200" dirty="0">
                <a:solidFill>
                  <a:srgbClr val="FFFFFF"/>
                </a:solidFill>
              </a:rPr>
              <a:t>	SUM(Order_Date IS NULL) AS order_date_nulls,  	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200" dirty="0">
                <a:solidFill>
                  <a:srgbClr val="FFFFFF"/>
                </a:solidFill>
              </a:rPr>
              <a:t>	SUM(Expected_Delivery_Date IS NULL) AS expected_date_nulls,  				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200" dirty="0">
                <a:solidFill>
                  <a:srgbClr val="FFFFFF"/>
                </a:solidFill>
              </a:rPr>
              <a:t>	SUM(Actual_Delivery_Date IS NULL) AS actual_date_nulls,  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200" dirty="0">
                <a:solidFill>
                  <a:srgbClr val="FFFFFF"/>
                </a:solidFill>
              </a:rPr>
              <a:t>	SUM(Order_Value IS NULL) AS order_value_nulls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200" dirty="0">
                <a:solidFill>
                  <a:srgbClr val="FFFFFF"/>
                </a:solidFill>
              </a:rPr>
              <a:t>FROM orders;</a:t>
            </a:r>
            <a:endParaRPr sz="1200" dirty="0">
              <a:solidFill>
                <a:srgbClr val="FFFFFF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68EC847-70BB-34A2-E5EC-D8B2FFF90D1D}"/>
              </a:ext>
            </a:extLst>
          </p:cNvPr>
          <p:cNvSpPr txBox="1"/>
          <p:nvPr/>
        </p:nvSpPr>
        <p:spPr>
          <a:xfrm>
            <a:off x="1253813" y="2521940"/>
            <a:ext cx="2579489" cy="307777"/>
          </a:xfrm>
          <a:prstGeom prst="rect">
            <a:avLst/>
          </a:prstGeom>
          <a:effectLst>
            <a:outerShdw blurRad="40000" dist="20000" dir="5400000" rotWithShape="0">
              <a:srgbClr val="000000">
                <a:alpha val="38000"/>
              </a:srgbClr>
            </a:outerShdw>
            <a:softEdge rad="31750"/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>
            <a:defPPr>
              <a:defRPr lang="en-US"/>
            </a:defPPr>
            <a:lvl1pPr marL="285750" indent="-285750">
              <a:buFont typeface="Arial" panose="020B0604020202020204" pitchFamily="34" charset="0"/>
              <a:buChar char="•"/>
              <a:defRPr sz="1400"/>
            </a:lvl1pPr>
          </a:lstStyle>
          <a:p>
            <a:r>
              <a:rPr lang="en-IN" dirty="0"/>
              <a:t>No duplicate order_id found.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B0C1542-FDCF-F19A-C692-06E2487686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4305634"/>
              </p:ext>
            </p:extLst>
          </p:nvPr>
        </p:nvGraphicFramePr>
        <p:xfrm>
          <a:off x="1835800" y="1941429"/>
          <a:ext cx="1498600" cy="419100"/>
        </p:xfrm>
        <a:graphic>
          <a:graphicData uri="http://schemas.openxmlformats.org/drawingml/2006/table">
            <a:tbl>
              <a:tblPr/>
              <a:tblGrid>
                <a:gridCol w="749300">
                  <a:extLst>
                    <a:ext uri="{9D8B030D-6E8A-4147-A177-3AD203B41FA5}">
                      <a16:colId xmlns:a16="http://schemas.microsoft.com/office/drawing/2014/main" val="786408738"/>
                    </a:ext>
                  </a:extLst>
                </a:gridCol>
                <a:gridCol w="749300">
                  <a:extLst>
                    <a:ext uri="{9D8B030D-6E8A-4147-A177-3AD203B41FA5}">
                      <a16:colId xmlns:a16="http://schemas.microsoft.com/office/drawing/2014/main" val="2908821903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order_id</a:t>
                      </a:r>
                      <a:endParaRPr lang="en-IN" sz="11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cnt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6527979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9651733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F3AD85F-C692-9470-AE06-B1C5835343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2399647"/>
              </p:ext>
            </p:extLst>
          </p:nvPr>
        </p:nvGraphicFramePr>
        <p:xfrm>
          <a:off x="573011" y="5900262"/>
          <a:ext cx="8216901" cy="419100"/>
        </p:xfrm>
        <a:graphic>
          <a:graphicData uri="http://schemas.openxmlformats.org/drawingml/2006/table">
            <a:tbl>
              <a:tblPr/>
              <a:tblGrid>
                <a:gridCol w="939074">
                  <a:extLst>
                    <a:ext uri="{9D8B030D-6E8A-4147-A177-3AD203B41FA5}">
                      <a16:colId xmlns:a16="http://schemas.microsoft.com/office/drawing/2014/main" val="3278341957"/>
                    </a:ext>
                  </a:extLst>
                </a:gridCol>
                <a:gridCol w="1091357">
                  <a:extLst>
                    <a:ext uri="{9D8B030D-6E8A-4147-A177-3AD203B41FA5}">
                      <a16:colId xmlns:a16="http://schemas.microsoft.com/office/drawing/2014/main" val="391129320"/>
                    </a:ext>
                  </a:extLst>
                </a:gridCol>
                <a:gridCol w="748721">
                  <a:extLst>
                    <a:ext uri="{9D8B030D-6E8A-4147-A177-3AD203B41FA5}">
                      <a16:colId xmlns:a16="http://schemas.microsoft.com/office/drawing/2014/main" val="2101484042"/>
                    </a:ext>
                  </a:extLst>
                </a:gridCol>
                <a:gridCol w="751894">
                  <a:extLst>
                    <a:ext uri="{9D8B030D-6E8A-4147-A177-3AD203B41FA5}">
                      <a16:colId xmlns:a16="http://schemas.microsoft.com/office/drawing/2014/main" val="1032718676"/>
                    </a:ext>
                  </a:extLst>
                </a:gridCol>
                <a:gridCol w="1091357">
                  <a:extLst>
                    <a:ext uri="{9D8B030D-6E8A-4147-A177-3AD203B41FA5}">
                      <a16:colId xmlns:a16="http://schemas.microsoft.com/office/drawing/2014/main" val="2319183959"/>
                    </a:ext>
                  </a:extLst>
                </a:gridCol>
                <a:gridCol w="1322953">
                  <a:extLst>
                    <a:ext uri="{9D8B030D-6E8A-4147-A177-3AD203B41FA5}">
                      <a16:colId xmlns:a16="http://schemas.microsoft.com/office/drawing/2014/main" val="2370009875"/>
                    </a:ext>
                  </a:extLst>
                </a:gridCol>
                <a:gridCol w="1116737">
                  <a:extLst>
                    <a:ext uri="{9D8B030D-6E8A-4147-A177-3AD203B41FA5}">
                      <a16:colId xmlns:a16="http://schemas.microsoft.com/office/drawing/2014/main" val="2120836184"/>
                    </a:ext>
                  </a:extLst>
                </a:gridCol>
                <a:gridCol w="1154808">
                  <a:extLst>
                    <a:ext uri="{9D8B030D-6E8A-4147-A177-3AD203B41FA5}">
                      <a16:colId xmlns:a16="http://schemas.microsoft.com/office/drawing/2014/main" val="1942521872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order_id_nulls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warehouse_nulls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route_nulls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agent_nulls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order_date_nulls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expected_date_nulls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actual_date_nulls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order_value_nulls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340869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20696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578DA-ED2B-61A9-25B1-0C4CB0012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3B9E8B3-13A1-9D37-53FC-421E794EFEFC}"/>
              </a:ext>
            </a:extLst>
          </p:cNvPr>
          <p:cNvSpPr txBox="1"/>
          <p:nvPr/>
        </p:nvSpPr>
        <p:spPr>
          <a:xfrm>
            <a:off x="27432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Task 1 – Data Cleaning &amp; Preparation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1C5095-FBCF-19FD-3FE2-67AB0013B366}"/>
              </a:ext>
            </a:extLst>
          </p:cNvPr>
          <p:cNvSpPr txBox="1"/>
          <p:nvPr/>
        </p:nvSpPr>
        <p:spPr>
          <a:xfrm>
            <a:off x="274318" y="914400"/>
            <a:ext cx="877824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</a:defRPr>
            </a:pPr>
            <a:r>
              <a:rPr lang="en-IN" sz="2200" dirty="0"/>
              <a:t>Convert all date columns into YYYY-MM-DD format using SQL functions. </a:t>
            </a:r>
            <a:endParaRPr sz="2200" dirty="0">
              <a:solidFill>
                <a:srgbClr val="FFFFFF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C8C807F-CFD3-0F24-34EE-80BF1A7B0907}"/>
              </a:ext>
            </a:extLst>
          </p:cNvPr>
          <p:cNvSpPr txBox="1"/>
          <p:nvPr/>
        </p:nvSpPr>
        <p:spPr>
          <a:xfrm>
            <a:off x="274319" y="3149360"/>
            <a:ext cx="8599887" cy="307777"/>
          </a:xfrm>
          <a:prstGeom prst="rect">
            <a:avLst/>
          </a:prstGeom>
          <a:effectLst>
            <a:outerShdw blurRad="40000" dist="20000" dir="5400000" rotWithShape="0">
              <a:srgbClr val="000000">
                <a:alpha val="38000"/>
              </a:srgbClr>
            </a:outerShdw>
            <a:softEdge rad="31750"/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>
            <a:defPPr>
              <a:defRPr lang="en-US"/>
            </a:defPPr>
            <a:lvl1pPr marL="285750" indent="-285750">
              <a:buFont typeface="Arial" panose="020B0604020202020204" pitchFamily="34" charset="0"/>
              <a:buChar char="•"/>
              <a:defRPr sz="1400"/>
            </a:lvl1pPr>
          </a:lstStyle>
          <a:p>
            <a:r>
              <a:rPr lang="en-IN" dirty="0"/>
              <a:t>All the date columns are standardised to the format of YYYY—MM—DD for consistency 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425911-2DFE-E7FA-4091-17B089242165}"/>
              </a:ext>
            </a:extLst>
          </p:cNvPr>
          <p:cNvSpPr/>
          <p:nvPr/>
        </p:nvSpPr>
        <p:spPr>
          <a:xfrm>
            <a:off x="274319" y="1367196"/>
            <a:ext cx="8599887" cy="1602825"/>
          </a:xfrm>
          <a:prstGeom prst="rect">
            <a:avLst/>
          </a:prstGeom>
          <a:solidFill>
            <a:srgbClr val="183680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2000" b="1">
                <a:solidFill>
                  <a:srgbClr val="FFCC00"/>
                </a:solidFill>
              </a:defRPr>
            </a:pPr>
            <a:r>
              <a:rPr dirty="0"/>
              <a:t>SQL Snippet:</a:t>
            </a:r>
            <a:endParaRPr lang="en-IN" dirty="0"/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200" dirty="0">
                <a:solidFill>
                  <a:srgbClr val="FFFFFF"/>
                </a:solidFill>
              </a:rPr>
              <a:t>UPDATE orders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200" dirty="0">
                <a:solidFill>
                  <a:srgbClr val="FFFFFF"/>
                </a:solidFill>
              </a:rPr>
              <a:t>SET     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200" dirty="0">
                <a:solidFill>
                  <a:srgbClr val="FFFFFF"/>
                </a:solidFill>
              </a:rPr>
              <a:t>Order_Date = STR_TO_DATE(Order_Date, '%Y-%m-%d'),    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200" dirty="0">
                <a:solidFill>
                  <a:srgbClr val="FFFFFF"/>
                </a:solidFill>
              </a:rPr>
              <a:t>Expected_Delivery_Date = STR_TO_DATE(Expected_Delivery_Date, '%Y-%m-%d'),    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200" dirty="0">
                <a:solidFill>
                  <a:srgbClr val="FFFFFF"/>
                </a:solidFill>
              </a:rPr>
              <a:t>Actual_Delivery_Date = STR_TO_DATE(Actual_Delivery_Date, '%Y-%m-%d');</a:t>
            </a:r>
            <a:endParaRPr sz="1200" dirty="0">
              <a:solidFill>
                <a:srgbClr val="FFFFFF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879BAF-3C19-A80A-D060-FED1988E80B0}"/>
              </a:ext>
            </a:extLst>
          </p:cNvPr>
          <p:cNvSpPr txBox="1"/>
          <p:nvPr/>
        </p:nvSpPr>
        <p:spPr>
          <a:xfrm>
            <a:off x="274319" y="3565557"/>
            <a:ext cx="877824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</a:defRPr>
            </a:pPr>
            <a:r>
              <a:rPr lang="en-IN" sz="2200" dirty="0"/>
              <a:t>Ensure no Actual_Delivery_Date is earlier than Order_Date. </a:t>
            </a:r>
            <a:endParaRPr sz="2200" dirty="0">
              <a:solidFill>
                <a:srgbClr val="FFFFFF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6C2A79-2575-00E9-1635-432CB4CC5B08}"/>
              </a:ext>
            </a:extLst>
          </p:cNvPr>
          <p:cNvSpPr txBox="1"/>
          <p:nvPr/>
        </p:nvSpPr>
        <p:spPr>
          <a:xfrm>
            <a:off x="272056" y="6062825"/>
            <a:ext cx="8599887" cy="307777"/>
          </a:xfrm>
          <a:prstGeom prst="rect">
            <a:avLst/>
          </a:prstGeom>
          <a:effectLst>
            <a:outerShdw blurRad="40000" dist="20000" dir="5400000" rotWithShape="0">
              <a:srgbClr val="000000">
                <a:alpha val="38000"/>
              </a:srgbClr>
            </a:outerShdw>
            <a:softEdge rad="31750"/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>
            <a:defPPr>
              <a:defRPr lang="en-US"/>
            </a:defPPr>
            <a:lvl1pPr marL="285750" indent="-285750">
              <a:buFont typeface="Arial" panose="020B0604020202020204" pitchFamily="34" charset="0"/>
              <a:buChar char="•"/>
              <a:defRPr sz="1400"/>
            </a:lvl1pPr>
          </a:lstStyle>
          <a:p>
            <a:r>
              <a:rPr lang="en-IN" dirty="0"/>
              <a:t>No Actual delivery date is found to be earlier than order date . So no need of any modification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6B36C91-6705-A577-1CC5-BB22F8DEA953}"/>
              </a:ext>
            </a:extLst>
          </p:cNvPr>
          <p:cNvSpPr/>
          <p:nvPr/>
        </p:nvSpPr>
        <p:spPr>
          <a:xfrm>
            <a:off x="274320" y="4018354"/>
            <a:ext cx="8599887" cy="1171938"/>
          </a:xfrm>
          <a:prstGeom prst="rect">
            <a:avLst/>
          </a:prstGeom>
          <a:solidFill>
            <a:srgbClr val="183680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2000" b="1">
                <a:solidFill>
                  <a:srgbClr val="FFCC00"/>
                </a:solidFill>
              </a:defRPr>
            </a:pPr>
            <a:r>
              <a:rPr dirty="0"/>
              <a:t>SQL Snippet:</a:t>
            </a:r>
            <a:endParaRPr lang="en-IN" dirty="0"/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200" dirty="0">
                <a:solidFill>
                  <a:srgbClr val="FFFFFF"/>
                </a:solidFill>
              </a:rPr>
              <a:t> SELECT </a:t>
            </a:r>
            <a:r>
              <a:rPr lang="en-IN" sz="1200" dirty="0" err="1">
                <a:solidFill>
                  <a:srgbClr val="FFFFFF"/>
                </a:solidFill>
              </a:rPr>
              <a:t>Order_ID,Order_Date</a:t>
            </a:r>
            <a:r>
              <a:rPr lang="en-IN" sz="1200" dirty="0">
                <a:solidFill>
                  <a:srgbClr val="FFFFFF"/>
                </a:solidFill>
              </a:rPr>
              <a:t>, Actual_Delivery_Date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200" dirty="0">
                <a:solidFill>
                  <a:srgbClr val="FFFFFF"/>
                </a:solidFill>
              </a:rPr>
              <a:t>FROM orders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200" dirty="0">
                <a:solidFill>
                  <a:srgbClr val="FFFFFF"/>
                </a:solidFill>
              </a:rPr>
              <a:t>WHERE Actual_Delivery_Date &lt; Order_Date;</a:t>
            </a:r>
            <a:endParaRPr sz="1200" dirty="0">
              <a:solidFill>
                <a:srgbClr val="FFFFFF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6663F5B-699B-98D5-94FF-17D0BE39B8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8465410"/>
              </p:ext>
            </p:extLst>
          </p:nvPr>
        </p:nvGraphicFramePr>
        <p:xfrm>
          <a:off x="3036570" y="5417008"/>
          <a:ext cx="2705100" cy="419100"/>
        </p:xfrm>
        <a:graphic>
          <a:graphicData uri="http://schemas.openxmlformats.org/drawingml/2006/table">
            <a:tbl>
              <a:tblPr/>
              <a:tblGrid>
                <a:gridCol w="597969">
                  <a:extLst>
                    <a:ext uri="{9D8B030D-6E8A-4147-A177-3AD203B41FA5}">
                      <a16:colId xmlns:a16="http://schemas.microsoft.com/office/drawing/2014/main" val="2687650275"/>
                    </a:ext>
                  </a:extLst>
                </a:gridCol>
                <a:gridCol w="749835">
                  <a:extLst>
                    <a:ext uri="{9D8B030D-6E8A-4147-A177-3AD203B41FA5}">
                      <a16:colId xmlns:a16="http://schemas.microsoft.com/office/drawing/2014/main" val="861167986"/>
                    </a:ext>
                  </a:extLst>
                </a:gridCol>
                <a:gridCol w="1357296">
                  <a:extLst>
                    <a:ext uri="{9D8B030D-6E8A-4147-A177-3AD203B41FA5}">
                      <a16:colId xmlns:a16="http://schemas.microsoft.com/office/drawing/2014/main" val="3954239097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Order_ID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Order_Date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Actual_Delivery_Date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5469429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81379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4054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5BDB2-CC95-6788-051B-972B7F5E5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A939A5-2EAD-A20A-D84E-1090D1B88B49}"/>
              </a:ext>
            </a:extLst>
          </p:cNvPr>
          <p:cNvSpPr txBox="1"/>
          <p:nvPr/>
        </p:nvSpPr>
        <p:spPr>
          <a:xfrm>
            <a:off x="274320" y="182880"/>
            <a:ext cx="6559937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rPr dirty="0"/>
              <a:t>Task </a:t>
            </a:r>
            <a:r>
              <a:rPr lang="en-IN" dirty="0"/>
              <a:t>2 – Delivery Delay Analysis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20DD41-6675-1315-B43B-B5A9F48091D6}"/>
              </a:ext>
            </a:extLst>
          </p:cNvPr>
          <p:cNvSpPr txBox="1"/>
          <p:nvPr/>
        </p:nvSpPr>
        <p:spPr>
          <a:xfrm>
            <a:off x="274319" y="1005840"/>
            <a:ext cx="808202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</a:defRPr>
            </a:pPr>
            <a:r>
              <a:rPr lang="en-IN" sz="2200" dirty="0"/>
              <a:t>Calculated delivery delay (in days) for each order.</a:t>
            </a:r>
            <a:endParaRPr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19420A-96FB-80F7-DDBF-74C942F182D8}"/>
              </a:ext>
            </a:extLst>
          </p:cNvPr>
          <p:cNvSpPr/>
          <p:nvPr/>
        </p:nvSpPr>
        <p:spPr>
          <a:xfrm>
            <a:off x="4389120" y="1552701"/>
            <a:ext cx="4572000" cy="1344790"/>
          </a:xfrm>
          <a:prstGeom prst="rect">
            <a:avLst/>
          </a:prstGeom>
          <a:solidFill>
            <a:srgbClr val="183680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2000" b="1">
                <a:solidFill>
                  <a:srgbClr val="FFCC00"/>
                </a:solidFill>
              </a:defRPr>
            </a:pPr>
            <a:r>
              <a:rPr dirty="0"/>
              <a:t>SQL Snippet:</a:t>
            </a:r>
            <a:endParaRPr lang="en-IN" dirty="0"/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200" dirty="0">
                <a:solidFill>
                  <a:srgbClr val="FFFFFF"/>
                </a:solidFill>
              </a:rPr>
              <a:t>SELECT Order_ID, Order_Date, Expected_Delivery_Date, Actual_Delivery_Date, </a:t>
            </a:r>
            <a:r>
              <a:rPr lang="en-IN" sz="1200" dirty="0" err="1">
                <a:solidFill>
                  <a:srgbClr val="FFFFFF"/>
                </a:solidFill>
              </a:rPr>
              <a:t>delivery_delay_days</a:t>
            </a:r>
            <a:endParaRPr lang="en-IN" sz="1200" dirty="0">
              <a:solidFill>
                <a:srgbClr val="FFFFFF"/>
              </a:solidFill>
            </a:endParaRP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200" dirty="0">
                <a:solidFill>
                  <a:srgbClr val="FFFFFF"/>
                </a:solidFill>
              </a:rPr>
              <a:t>FROM </a:t>
            </a:r>
            <a:r>
              <a:rPr lang="en-IN" sz="1200" dirty="0" err="1">
                <a:solidFill>
                  <a:srgbClr val="FFFFFF"/>
                </a:solidFill>
              </a:rPr>
              <a:t>ordersWHERE</a:t>
            </a:r>
            <a:r>
              <a:rPr lang="en-IN" sz="1200" dirty="0">
                <a:solidFill>
                  <a:srgbClr val="FFFFFF"/>
                </a:solidFill>
              </a:rPr>
              <a:t> </a:t>
            </a:r>
            <a:r>
              <a:rPr lang="en-IN" sz="1200" dirty="0" err="1">
                <a:solidFill>
                  <a:srgbClr val="FFFFFF"/>
                </a:solidFill>
              </a:rPr>
              <a:t>delivery_delay_days</a:t>
            </a:r>
            <a:r>
              <a:rPr lang="en-IN" sz="1200" dirty="0">
                <a:solidFill>
                  <a:srgbClr val="FFFFFF"/>
                </a:solidFill>
              </a:rPr>
              <a:t> &gt; 0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200" dirty="0">
                <a:solidFill>
                  <a:srgbClr val="FFFFFF"/>
                </a:solidFill>
              </a:rPr>
              <a:t>ORDER BY </a:t>
            </a:r>
            <a:r>
              <a:rPr lang="en-IN" sz="1200" dirty="0" err="1">
                <a:solidFill>
                  <a:srgbClr val="FFFFFF"/>
                </a:solidFill>
              </a:rPr>
              <a:t>delivery_delay_days</a:t>
            </a:r>
            <a:r>
              <a:rPr lang="en-IN" sz="1200" dirty="0">
                <a:solidFill>
                  <a:srgbClr val="FFFFFF"/>
                </a:solidFill>
              </a:rPr>
              <a:t> DESC;</a:t>
            </a:r>
            <a:endParaRPr sz="1200" dirty="0">
              <a:solidFill>
                <a:srgbClr val="FFFFFF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4E870ED-B996-37B4-2FE2-BF42037CCEA4}"/>
              </a:ext>
            </a:extLst>
          </p:cNvPr>
          <p:cNvSpPr txBox="1"/>
          <p:nvPr/>
        </p:nvSpPr>
        <p:spPr>
          <a:xfrm>
            <a:off x="1253483" y="6140427"/>
            <a:ext cx="6637035" cy="307777"/>
          </a:xfrm>
          <a:prstGeom prst="rect">
            <a:avLst/>
          </a:prstGeom>
          <a:effectLst>
            <a:outerShdw blurRad="40000" dist="20000" dir="5400000" rotWithShape="0">
              <a:srgbClr val="000000">
                <a:alpha val="38000"/>
              </a:srgbClr>
            </a:outerShdw>
            <a:softEdge rad="31750"/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So from the above result table we can identify which order has delayed the most.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84625F-8045-2958-23E8-94EE778B36C6}"/>
              </a:ext>
            </a:extLst>
          </p:cNvPr>
          <p:cNvSpPr txBox="1"/>
          <p:nvPr/>
        </p:nvSpPr>
        <p:spPr>
          <a:xfrm>
            <a:off x="604464" y="1535925"/>
            <a:ext cx="35892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FFFF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Delivery delay table for each order : </a:t>
            </a:r>
          </a:p>
          <a:p>
            <a:r>
              <a:rPr lang="en-IN" dirty="0">
                <a:solidFill>
                  <a:srgbClr val="FFFF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CLICK HERE</a:t>
            </a:r>
            <a:endParaRPr lang="en-IN" dirty="0">
              <a:solidFill>
                <a:srgbClr val="FFFF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8649C3E-0564-9EC6-063B-E7DE55A443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683" y="3013465"/>
            <a:ext cx="7492633" cy="2719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9302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F8660-0281-12E5-4DB1-287CBF5E0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2B1CD0C-35F9-98C4-030C-949F6A42411C}"/>
              </a:ext>
            </a:extLst>
          </p:cNvPr>
          <p:cNvSpPr txBox="1"/>
          <p:nvPr/>
        </p:nvSpPr>
        <p:spPr>
          <a:xfrm>
            <a:off x="274320" y="182880"/>
            <a:ext cx="6559937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rPr dirty="0"/>
              <a:t>Task </a:t>
            </a:r>
            <a:r>
              <a:rPr lang="en-IN" dirty="0"/>
              <a:t>2 – Delivery Delay Analysis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025213-9C58-4FFA-BCC5-1ED90C178B1E}"/>
              </a:ext>
            </a:extLst>
          </p:cNvPr>
          <p:cNvSpPr txBox="1"/>
          <p:nvPr/>
        </p:nvSpPr>
        <p:spPr>
          <a:xfrm>
            <a:off x="274320" y="841397"/>
            <a:ext cx="824499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</a:defRPr>
            </a:pPr>
            <a:r>
              <a:rPr lang="en-IN" sz="2200" dirty="0"/>
              <a:t>Identify Top 10 Delayed Routes (Based on Average Delay Days).</a:t>
            </a:r>
            <a:endParaRPr sz="2200" dirty="0">
              <a:solidFill>
                <a:srgbClr val="FFFFFF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633DE9D-DF7A-0485-D088-060EB118ACDD}"/>
              </a:ext>
            </a:extLst>
          </p:cNvPr>
          <p:cNvSpPr/>
          <p:nvPr/>
        </p:nvSpPr>
        <p:spPr>
          <a:xfrm>
            <a:off x="274321" y="1294194"/>
            <a:ext cx="8599887" cy="1344790"/>
          </a:xfrm>
          <a:prstGeom prst="rect">
            <a:avLst/>
          </a:prstGeom>
          <a:solidFill>
            <a:srgbClr val="183680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2000" b="1">
                <a:solidFill>
                  <a:srgbClr val="FFCC00"/>
                </a:solidFill>
              </a:defRPr>
            </a:pPr>
            <a:r>
              <a:rPr dirty="0"/>
              <a:t>SQL Snippet:</a:t>
            </a:r>
            <a:endParaRPr lang="en-IN" dirty="0"/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200" dirty="0">
                <a:solidFill>
                  <a:srgbClr val="FFFFFF"/>
                </a:solidFill>
              </a:rPr>
              <a:t>SELECT Order_ID, Route_ID, Warehouse_ID, Agent_ID, </a:t>
            </a:r>
            <a:r>
              <a:rPr lang="en-IN" sz="1200" dirty="0" err="1">
                <a:solidFill>
                  <a:srgbClr val="FFFFFF"/>
                </a:solidFill>
              </a:rPr>
              <a:t>delivery_delay_days</a:t>
            </a:r>
            <a:endParaRPr lang="en-IN" sz="1200" dirty="0">
              <a:solidFill>
                <a:srgbClr val="FFFFFF"/>
              </a:solidFill>
            </a:endParaRP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200" dirty="0">
                <a:solidFill>
                  <a:srgbClr val="FFFFFF"/>
                </a:solidFill>
              </a:rPr>
              <a:t>FROM orders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200" dirty="0">
                <a:solidFill>
                  <a:srgbClr val="FFFFFF"/>
                </a:solidFill>
              </a:rPr>
              <a:t>ORDER BY </a:t>
            </a:r>
            <a:r>
              <a:rPr lang="en-IN" sz="1200" dirty="0" err="1">
                <a:solidFill>
                  <a:srgbClr val="FFFFFF"/>
                </a:solidFill>
              </a:rPr>
              <a:t>delivery_delay_days</a:t>
            </a:r>
            <a:r>
              <a:rPr lang="en-IN" sz="1200" dirty="0">
                <a:solidFill>
                  <a:srgbClr val="FFFFFF"/>
                </a:solidFill>
              </a:rPr>
              <a:t> DESC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200" dirty="0">
                <a:solidFill>
                  <a:srgbClr val="FFFFFF"/>
                </a:solidFill>
              </a:rPr>
              <a:t>LIMIT 10;</a:t>
            </a:r>
            <a:endParaRPr sz="1200" dirty="0">
              <a:solidFill>
                <a:srgbClr val="FFFFFF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25F9CE-6A52-C4D8-90D2-1789AB2E2C28}"/>
              </a:ext>
            </a:extLst>
          </p:cNvPr>
          <p:cNvSpPr txBox="1"/>
          <p:nvPr/>
        </p:nvSpPr>
        <p:spPr>
          <a:xfrm>
            <a:off x="1234552" y="5955350"/>
            <a:ext cx="6674897" cy="307777"/>
          </a:xfrm>
          <a:prstGeom prst="rect">
            <a:avLst/>
          </a:prstGeom>
          <a:effectLst>
            <a:outerShdw blurRad="40000" dist="20000" dir="5400000" rotWithShape="0">
              <a:srgbClr val="000000">
                <a:alpha val="38000"/>
              </a:srgbClr>
            </a:outerShdw>
            <a:softEdge rad="31750"/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This table shows the routes which has resulted in most delay in delivery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663334C-4345-CACB-6596-82B64D7D44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6885857"/>
              </p:ext>
            </p:extLst>
          </p:nvPr>
        </p:nvGraphicFramePr>
        <p:xfrm>
          <a:off x="2393950" y="3023829"/>
          <a:ext cx="4356100" cy="2305050"/>
        </p:xfrm>
        <a:graphic>
          <a:graphicData uri="http://schemas.openxmlformats.org/drawingml/2006/table">
            <a:tbl>
              <a:tblPr/>
              <a:tblGrid>
                <a:gridCol w="901043">
                  <a:extLst>
                    <a:ext uri="{9D8B030D-6E8A-4147-A177-3AD203B41FA5}">
                      <a16:colId xmlns:a16="http://schemas.microsoft.com/office/drawing/2014/main" val="3125142935"/>
                    </a:ext>
                  </a:extLst>
                </a:gridCol>
                <a:gridCol w="609156">
                  <a:extLst>
                    <a:ext uri="{9D8B030D-6E8A-4147-A177-3AD203B41FA5}">
                      <a16:colId xmlns:a16="http://schemas.microsoft.com/office/drawing/2014/main" val="3230337194"/>
                    </a:ext>
                  </a:extLst>
                </a:gridCol>
                <a:gridCol w="942288">
                  <a:extLst>
                    <a:ext uri="{9D8B030D-6E8A-4147-A177-3AD203B41FA5}">
                      <a16:colId xmlns:a16="http://schemas.microsoft.com/office/drawing/2014/main" val="2685922128"/>
                    </a:ext>
                  </a:extLst>
                </a:gridCol>
                <a:gridCol w="609156">
                  <a:extLst>
                    <a:ext uri="{9D8B030D-6E8A-4147-A177-3AD203B41FA5}">
                      <a16:colId xmlns:a16="http://schemas.microsoft.com/office/drawing/2014/main" val="3890974652"/>
                    </a:ext>
                  </a:extLst>
                </a:gridCol>
                <a:gridCol w="1294457">
                  <a:extLst>
                    <a:ext uri="{9D8B030D-6E8A-4147-A177-3AD203B41FA5}">
                      <a16:colId xmlns:a16="http://schemas.microsoft.com/office/drawing/2014/main" val="611777689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Order_ID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Route_ID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Warehouse_ID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Agent_ID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delivery_delay_days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8278238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FLP-ORD-0166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RT_02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WH_03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AG_016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8050081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FLP-ORD-0118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RT_03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WH_08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AG_043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723736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FLP-ORD-0025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RT_06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WH_07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AG_030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176157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FLP-ORD-0079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RT_09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WH_09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AG_027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49751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FLP-ORD-0092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RT_08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WH_05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AG_048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781921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FLP-ORD-0077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RT_18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WH_01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AG_027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07614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FLP-ORD-0129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RT_18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WH_10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AG_046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0578268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FLP-ORD-0165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RT_02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WH_03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AG_029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3182528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FLP-ORD-0010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RT_05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WH_04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AG_002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0583367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FLP-ORD-0121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RT_01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WH_10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AG_018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60246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97562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A2ACF-9F76-B83E-2A46-0021161F8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9A23CC-8D0C-7D9A-2C73-7278743E0A91}"/>
              </a:ext>
            </a:extLst>
          </p:cNvPr>
          <p:cNvSpPr txBox="1"/>
          <p:nvPr/>
        </p:nvSpPr>
        <p:spPr>
          <a:xfrm>
            <a:off x="274320" y="182880"/>
            <a:ext cx="6559937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rPr dirty="0"/>
              <a:t>Task </a:t>
            </a:r>
            <a:r>
              <a:rPr lang="en-IN" dirty="0"/>
              <a:t>2 – Delivery Delay Analysis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54DC5B-3E60-18D9-6285-D7740F7A1D6E}"/>
              </a:ext>
            </a:extLst>
          </p:cNvPr>
          <p:cNvSpPr txBox="1"/>
          <p:nvPr/>
        </p:nvSpPr>
        <p:spPr>
          <a:xfrm>
            <a:off x="274319" y="1005840"/>
            <a:ext cx="917749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</a:defRPr>
            </a:pPr>
            <a:r>
              <a:rPr lang="en-IN" sz="2200" dirty="0"/>
              <a:t>Calculated order delay for each (in days) in warehouse (Using window function).</a:t>
            </a:r>
            <a:endParaRPr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292B2E3-C5C8-02F1-D8F8-3F99830F03FC}"/>
              </a:ext>
            </a:extLst>
          </p:cNvPr>
          <p:cNvSpPr/>
          <p:nvPr/>
        </p:nvSpPr>
        <p:spPr>
          <a:xfrm>
            <a:off x="2285999" y="1775281"/>
            <a:ext cx="4572000" cy="1344790"/>
          </a:xfrm>
          <a:prstGeom prst="rect">
            <a:avLst/>
          </a:prstGeom>
          <a:solidFill>
            <a:srgbClr val="183680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2000" b="1">
                <a:solidFill>
                  <a:srgbClr val="FFCC00"/>
                </a:solidFill>
              </a:defRPr>
            </a:pPr>
            <a:r>
              <a:rPr dirty="0"/>
              <a:t>SQL Snippet:</a:t>
            </a:r>
            <a:endParaRPr lang="en-IN" dirty="0"/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200" dirty="0">
                <a:solidFill>
                  <a:srgbClr val="FFFFFF"/>
                </a:solidFill>
              </a:rPr>
              <a:t>SELECT Order_ID, Order_Date, Expected_Delivery_Date, Actual_Delivery_Date, </a:t>
            </a:r>
            <a:r>
              <a:rPr lang="en-IN" sz="1200" dirty="0" err="1">
                <a:solidFill>
                  <a:srgbClr val="FFFFFF"/>
                </a:solidFill>
              </a:rPr>
              <a:t>delivery_delay_days</a:t>
            </a:r>
            <a:endParaRPr lang="en-IN" sz="1200" dirty="0">
              <a:solidFill>
                <a:srgbClr val="FFFFFF"/>
              </a:solidFill>
            </a:endParaRP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200" dirty="0">
                <a:solidFill>
                  <a:srgbClr val="FFFFFF"/>
                </a:solidFill>
              </a:rPr>
              <a:t>FROM </a:t>
            </a:r>
            <a:r>
              <a:rPr lang="en-IN" sz="1200" dirty="0" err="1">
                <a:solidFill>
                  <a:srgbClr val="FFFFFF"/>
                </a:solidFill>
              </a:rPr>
              <a:t>ordersWHERE</a:t>
            </a:r>
            <a:r>
              <a:rPr lang="en-IN" sz="1200" dirty="0">
                <a:solidFill>
                  <a:srgbClr val="FFFFFF"/>
                </a:solidFill>
              </a:rPr>
              <a:t> </a:t>
            </a:r>
            <a:r>
              <a:rPr lang="en-IN" sz="1200" dirty="0" err="1">
                <a:solidFill>
                  <a:srgbClr val="FFFFFF"/>
                </a:solidFill>
              </a:rPr>
              <a:t>delivery_delay_days</a:t>
            </a:r>
            <a:r>
              <a:rPr lang="en-IN" sz="1200" dirty="0">
                <a:solidFill>
                  <a:srgbClr val="FFFFFF"/>
                </a:solidFill>
              </a:rPr>
              <a:t> &gt; 0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200" dirty="0">
                <a:solidFill>
                  <a:srgbClr val="FFFFFF"/>
                </a:solidFill>
              </a:rPr>
              <a:t>ORDER BY </a:t>
            </a:r>
            <a:r>
              <a:rPr lang="en-IN" sz="1200" dirty="0" err="1">
                <a:solidFill>
                  <a:srgbClr val="FFFFFF"/>
                </a:solidFill>
              </a:rPr>
              <a:t>delivery_delay_days</a:t>
            </a:r>
            <a:r>
              <a:rPr lang="en-IN" sz="1200" dirty="0">
                <a:solidFill>
                  <a:srgbClr val="FFFFFF"/>
                </a:solidFill>
              </a:rPr>
              <a:t> DESC;</a:t>
            </a:r>
            <a:endParaRPr sz="1200" dirty="0">
              <a:solidFill>
                <a:srgbClr val="FFFFFF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9051F5E-9CF3-A8B4-D4F5-9BA8883A447C}"/>
              </a:ext>
            </a:extLst>
          </p:cNvPr>
          <p:cNvSpPr txBox="1"/>
          <p:nvPr/>
        </p:nvSpPr>
        <p:spPr>
          <a:xfrm>
            <a:off x="530985" y="6093299"/>
            <a:ext cx="8082029" cy="307777"/>
          </a:xfrm>
          <a:prstGeom prst="rect">
            <a:avLst/>
          </a:prstGeom>
          <a:effectLst>
            <a:outerShdw blurRad="40000" dist="20000" dir="5400000" rotWithShape="0">
              <a:srgbClr val="000000">
                <a:alpha val="38000"/>
              </a:srgbClr>
            </a:outerShdw>
            <a:softEdge rad="31750"/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So from the above result table we can identify which order has delayed the most in which </a:t>
            </a:r>
            <a:r>
              <a:rPr lang="en-IN" sz="1400" dirty="0" err="1"/>
              <a:t>warehose</a:t>
            </a:r>
            <a:r>
              <a:rPr lang="en-IN" sz="1400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724A97-1C7A-CB42-8420-63C5B59D7313}"/>
              </a:ext>
            </a:extLst>
          </p:cNvPr>
          <p:cNvSpPr txBox="1"/>
          <p:nvPr/>
        </p:nvSpPr>
        <p:spPr>
          <a:xfrm>
            <a:off x="2446790" y="3314179"/>
            <a:ext cx="42504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FF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Delivery delay in warehouse : CLICK HERE</a:t>
            </a:r>
            <a:endParaRPr lang="en-IN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68998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1E7F3-99E0-3BB8-D9CC-27D75018F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CF288E-DB52-227A-E4C9-C79B4322598A}"/>
              </a:ext>
            </a:extLst>
          </p:cNvPr>
          <p:cNvSpPr txBox="1"/>
          <p:nvPr/>
        </p:nvSpPr>
        <p:spPr>
          <a:xfrm>
            <a:off x="274320" y="182880"/>
            <a:ext cx="7486408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rPr dirty="0"/>
              <a:t>Task </a:t>
            </a:r>
            <a:r>
              <a:rPr lang="en-IN" dirty="0"/>
              <a:t>3 – Route Optimisation Insights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469788-A3E4-12F4-784C-8CC3CFEC0BB7}"/>
              </a:ext>
            </a:extLst>
          </p:cNvPr>
          <p:cNvSpPr txBox="1"/>
          <p:nvPr/>
        </p:nvSpPr>
        <p:spPr>
          <a:xfrm>
            <a:off x="274319" y="1005840"/>
            <a:ext cx="868680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</a:defRPr>
            </a:pPr>
            <a:r>
              <a:rPr lang="en-IN" sz="2200" dirty="0"/>
              <a:t>For each route, Average delivery time (in days) : 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9C6A2C5-5672-CED2-502E-A82E410027B2}"/>
              </a:ext>
            </a:extLst>
          </p:cNvPr>
          <p:cNvSpPr/>
          <p:nvPr/>
        </p:nvSpPr>
        <p:spPr>
          <a:xfrm>
            <a:off x="4389120" y="1552700"/>
            <a:ext cx="4572000" cy="2304075"/>
          </a:xfrm>
          <a:prstGeom prst="rect">
            <a:avLst/>
          </a:prstGeom>
          <a:solidFill>
            <a:srgbClr val="183680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2000" b="1">
                <a:solidFill>
                  <a:srgbClr val="FFCC00"/>
                </a:solidFill>
              </a:defRPr>
            </a:pPr>
            <a:r>
              <a:rPr dirty="0"/>
              <a:t>SQL Snippet:</a:t>
            </a:r>
            <a:endParaRPr lang="en-IN" dirty="0"/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200" dirty="0">
                <a:solidFill>
                  <a:srgbClr val="FFFFFF"/>
                </a:solidFill>
              </a:rPr>
              <a:t>SELECT  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200" dirty="0" err="1">
                <a:solidFill>
                  <a:srgbClr val="FFFFFF"/>
                </a:solidFill>
              </a:rPr>
              <a:t>o.Route_ID</a:t>
            </a:r>
            <a:r>
              <a:rPr lang="en-IN" sz="1200" dirty="0">
                <a:solidFill>
                  <a:srgbClr val="FFFFFF"/>
                </a:solidFill>
              </a:rPr>
              <a:t>,  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200" dirty="0">
                <a:solidFill>
                  <a:srgbClr val="FFFFFF"/>
                </a:solidFill>
              </a:rPr>
              <a:t>ROUND(AVG(DATEDIFF(</a:t>
            </a:r>
            <a:r>
              <a:rPr lang="en-IN" sz="1200" dirty="0" err="1">
                <a:solidFill>
                  <a:srgbClr val="FFFFFF"/>
                </a:solidFill>
              </a:rPr>
              <a:t>o.Actual_Delivery_Date</a:t>
            </a:r>
            <a:r>
              <a:rPr lang="en-IN" sz="1200" dirty="0">
                <a:solidFill>
                  <a:srgbClr val="FFFFFF"/>
                </a:solidFill>
              </a:rPr>
              <a:t>, </a:t>
            </a:r>
            <a:r>
              <a:rPr lang="en-IN" sz="1200" dirty="0" err="1">
                <a:solidFill>
                  <a:srgbClr val="FFFFFF"/>
                </a:solidFill>
              </a:rPr>
              <a:t>o.Order_Date</a:t>
            </a:r>
            <a:r>
              <a:rPr lang="en-IN" sz="1200" dirty="0">
                <a:solidFill>
                  <a:srgbClr val="FFFFFF"/>
                </a:solidFill>
              </a:rPr>
              <a:t>)), 2) AS </a:t>
            </a:r>
            <a:r>
              <a:rPr lang="en-IN" sz="1200" dirty="0" err="1">
                <a:solidFill>
                  <a:srgbClr val="FFFFFF"/>
                </a:solidFill>
              </a:rPr>
              <a:t>avg_delivery_time_days</a:t>
            </a:r>
            <a:r>
              <a:rPr lang="en-IN" sz="1200" dirty="0">
                <a:solidFill>
                  <a:srgbClr val="FFFFFF"/>
                </a:solidFill>
              </a:rPr>
              <a:t>,  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200" dirty="0">
                <a:solidFill>
                  <a:srgbClr val="FFFFFF"/>
                </a:solidFill>
              </a:rPr>
              <a:t>COUNT(*) AS </a:t>
            </a:r>
            <a:r>
              <a:rPr lang="en-IN" sz="1200" dirty="0" err="1">
                <a:solidFill>
                  <a:srgbClr val="FFFFFF"/>
                </a:solidFill>
              </a:rPr>
              <a:t>orders_count_with_actual</a:t>
            </a:r>
            <a:endParaRPr lang="en-IN" sz="1200" dirty="0">
              <a:solidFill>
                <a:srgbClr val="FFFFFF"/>
              </a:solidFill>
            </a:endParaRP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200" dirty="0">
                <a:solidFill>
                  <a:srgbClr val="FFFFFF"/>
                </a:solidFill>
              </a:rPr>
              <a:t>FROM orders o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200" dirty="0">
                <a:solidFill>
                  <a:srgbClr val="FFFFFF"/>
                </a:solidFill>
              </a:rPr>
              <a:t>WHERE </a:t>
            </a:r>
            <a:r>
              <a:rPr lang="en-IN" sz="1200" dirty="0" err="1">
                <a:solidFill>
                  <a:srgbClr val="FFFFFF"/>
                </a:solidFill>
              </a:rPr>
              <a:t>o.Actual_Delivery_Date</a:t>
            </a:r>
            <a:r>
              <a:rPr lang="en-IN" sz="1200" dirty="0">
                <a:solidFill>
                  <a:srgbClr val="FFFFFF"/>
                </a:solidFill>
              </a:rPr>
              <a:t> IS NOT NULL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200" dirty="0">
                <a:solidFill>
                  <a:srgbClr val="FFFFFF"/>
                </a:solidFill>
              </a:rPr>
              <a:t>GROUP BY </a:t>
            </a:r>
            <a:r>
              <a:rPr lang="en-IN" sz="1200" dirty="0" err="1">
                <a:solidFill>
                  <a:srgbClr val="FFFFFF"/>
                </a:solidFill>
              </a:rPr>
              <a:t>o.Route_ID</a:t>
            </a:r>
            <a:endParaRPr lang="en-IN" sz="1200" dirty="0">
              <a:solidFill>
                <a:srgbClr val="FFFFFF"/>
              </a:solidFill>
            </a:endParaRP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200" dirty="0">
                <a:solidFill>
                  <a:srgbClr val="FFFFFF"/>
                </a:solidFill>
              </a:rPr>
              <a:t>ORDER BY </a:t>
            </a:r>
            <a:r>
              <a:rPr lang="en-IN" sz="1200" dirty="0" err="1">
                <a:solidFill>
                  <a:srgbClr val="FFFFFF"/>
                </a:solidFill>
              </a:rPr>
              <a:t>avg_delivery_time_days</a:t>
            </a:r>
            <a:r>
              <a:rPr lang="en-IN" sz="1200" dirty="0">
                <a:solidFill>
                  <a:srgbClr val="FFFFFF"/>
                </a:solidFill>
              </a:rPr>
              <a:t> DESC;</a:t>
            </a:r>
            <a:endParaRPr sz="1200" dirty="0">
              <a:solidFill>
                <a:srgbClr val="FFFFFF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C129FE1-F6D0-C7C2-FBF3-55A1FFBC88CC}"/>
              </a:ext>
            </a:extLst>
          </p:cNvPr>
          <p:cNvSpPr txBox="1"/>
          <p:nvPr/>
        </p:nvSpPr>
        <p:spPr>
          <a:xfrm>
            <a:off x="4389121" y="4102668"/>
            <a:ext cx="4572000" cy="738664"/>
          </a:xfrm>
          <a:prstGeom prst="rect">
            <a:avLst/>
          </a:prstGeom>
          <a:effectLst>
            <a:outerShdw blurRad="40000" dist="20000" dir="5400000" rotWithShape="0">
              <a:srgbClr val="000000">
                <a:alpha val="38000"/>
              </a:srgbClr>
            </a:outerShdw>
            <a:softEdge rad="31750"/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From above result table we can calculate average delivery time (in days) for each route id’s and also have orders count.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A442B97-850A-6D4A-4892-715F25E152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2259707"/>
              </p:ext>
            </p:extLst>
          </p:nvPr>
        </p:nvGraphicFramePr>
        <p:xfrm>
          <a:off x="338498" y="1582579"/>
          <a:ext cx="3759201" cy="4400550"/>
        </p:xfrm>
        <a:graphic>
          <a:graphicData uri="http://schemas.openxmlformats.org/drawingml/2006/table">
            <a:tbl>
              <a:tblPr/>
              <a:tblGrid>
                <a:gridCol w="609086">
                  <a:extLst>
                    <a:ext uri="{9D8B030D-6E8A-4147-A177-3AD203B41FA5}">
                      <a16:colId xmlns:a16="http://schemas.microsoft.com/office/drawing/2014/main" val="1694688478"/>
                    </a:ext>
                  </a:extLst>
                </a:gridCol>
                <a:gridCol w="1522714">
                  <a:extLst>
                    <a:ext uri="{9D8B030D-6E8A-4147-A177-3AD203B41FA5}">
                      <a16:colId xmlns:a16="http://schemas.microsoft.com/office/drawing/2014/main" val="4217090352"/>
                    </a:ext>
                  </a:extLst>
                </a:gridCol>
                <a:gridCol w="1627401">
                  <a:extLst>
                    <a:ext uri="{9D8B030D-6E8A-4147-A177-3AD203B41FA5}">
                      <a16:colId xmlns:a16="http://schemas.microsoft.com/office/drawing/2014/main" val="1328494512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Route_ID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avg_delivery_time_days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orders_count_with_actual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76737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RT_02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5.12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4744824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RT_15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5.06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4709866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RT_16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0854921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RT_05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4.9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573089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RT_14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4.88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6171271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RT_20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4.8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5293364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RT_13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4.73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2715557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RT_12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4.61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5368966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RT_18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4.57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3427785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RT_08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4.5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6102487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RT_10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4.42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2363688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RT_06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4.42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883563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RT_07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4.33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6274511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RT_09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4.31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4395135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RT_03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4.3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713067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RT_01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4.23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720045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RT_19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4.07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951799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RT_04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4.06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158833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RT_11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545442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RT_17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3.8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69404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30906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0B7D0-48F3-7F2D-5AC1-46760B70F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4209BE6-C8A8-97C5-2E37-2E3B7F0208C1}"/>
              </a:ext>
            </a:extLst>
          </p:cNvPr>
          <p:cNvSpPr txBox="1"/>
          <p:nvPr/>
        </p:nvSpPr>
        <p:spPr>
          <a:xfrm>
            <a:off x="274320" y="182880"/>
            <a:ext cx="7486408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rPr dirty="0"/>
              <a:t>Task </a:t>
            </a:r>
            <a:r>
              <a:rPr lang="en-IN" dirty="0"/>
              <a:t>3 – Route Optimisation Insights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A69A97-0520-451D-03E6-8DC75AEE6B07}"/>
              </a:ext>
            </a:extLst>
          </p:cNvPr>
          <p:cNvSpPr txBox="1"/>
          <p:nvPr/>
        </p:nvSpPr>
        <p:spPr>
          <a:xfrm>
            <a:off x="274319" y="1005840"/>
            <a:ext cx="917749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</a:defRPr>
            </a:pPr>
            <a:r>
              <a:rPr lang="en-IN" sz="2200" dirty="0"/>
              <a:t>For each route, Average traffic delay :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735FA31-5107-408C-24E0-C64FB4B9F8F9}"/>
              </a:ext>
            </a:extLst>
          </p:cNvPr>
          <p:cNvSpPr/>
          <p:nvPr/>
        </p:nvSpPr>
        <p:spPr>
          <a:xfrm>
            <a:off x="4389120" y="1552701"/>
            <a:ext cx="4572000" cy="1670334"/>
          </a:xfrm>
          <a:prstGeom prst="rect">
            <a:avLst/>
          </a:prstGeom>
          <a:solidFill>
            <a:srgbClr val="183680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2000" b="1">
                <a:solidFill>
                  <a:srgbClr val="FFCC00"/>
                </a:solidFill>
              </a:defRPr>
            </a:pPr>
            <a:r>
              <a:rPr dirty="0"/>
              <a:t>SQL Snippet:</a:t>
            </a:r>
            <a:endParaRPr lang="en-IN" dirty="0"/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200" dirty="0">
                <a:solidFill>
                  <a:srgbClr val="FFFFFF"/>
                </a:solidFill>
              </a:rPr>
              <a:t>SELECT  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200" dirty="0" err="1">
                <a:solidFill>
                  <a:srgbClr val="FFFFFF"/>
                </a:solidFill>
              </a:rPr>
              <a:t>r.Route_ID</a:t>
            </a:r>
            <a:r>
              <a:rPr lang="en-IN" sz="1200" dirty="0">
                <a:solidFill>
                  <a:srgbClr val="FFFFFF"/>
                </a:solidFill>
              </a:rPr>
              <a:t>,  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200" dirty="0" err="1">
                <a:solidFill>
                  <a:srgbClr val="FFFFFF"/>
                </a:solidFill>
              </a:rPr>
              <a:t>r.Traffic_Delay_Min</a:t>
            </a:r>
            <a:r>
              <a:rPr lang="en-IN" sz="1200" dirty="0">
                <a:solidFill>
                  <a:srgbClr val="FFFFFF"/>
                </a:solidFill>
              </a:rPr>
              <a:t> AS </a:t>
            </a:r>
            <a:r>
              <a:rPr lang="en-IN" sz="1200" dirty="0" err="1">
                <a:solidFill>
                  <a:srgbClr val="FFFFFF"/>
                </a:solidFill>
              </a:rPr>
              <a:t>avg_traffic_delay_min</a:t>
            </a:r>
            <a:endParaRPr lang="en-IN" sz="1200" dirty="0">
              <a:solidFill>
                <a:srgbClr val="FFFFFF"/>
              </a:solidFill>
            </a:endParaRP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200" dirty="0">
                <a:solidFill>
                  <a:srgbClr val="FFFFFF"/>
                </a:solidFill>
              </a:rPr>
              <a:t>FROM routes r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200" dirty="0">
                <a:solidFill>
                  <a:srgbClr val="FFFFFF"/>
                </a:solidFill>
              </a:rPr>
              <a:t>ORDER BY </a:t>
            </a:r>
            <a:r>
              <a:rPr lang="en-IN" sz="1200" dirty="0" err="1">
                <a:solidFill>
                  <a:srgbClr val="FFFFFF"/>
                </a:solidFill>
              </a:rPr>
              <a:t>r.Traffic_Delay_Min</a:t>
            </a:r>
            <a:r>
              <a:rPr lang="en-IN" sz="1200" dirty="0">
                <a:solidFill>
                  <a:srgbClr val="FFFFFF"/>
                </a:solidFill>
              </a:rPr>
              <a:t> DESC;</a:t>
            </a:r>
            <a:endParaRPr sz="1200" dirty="0">
              <a:solidFill>
                <a:srgbClr val="FFFFFF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5E84727-4C39-2EB3-FFD9-BD4A5BFAC23E}"/>
              </a:ext>
            </a:extLst>
          </p:cNvPr>
          <p:cNvSpPr txBox="1"/>
          <p:nvPr/>
        </p:nvSpPr>
        <p:spPr>
          <a:xfrm>
            <a:off x="4389120" y="3618307"/>
            <a:ext cx="4572000" cy="738664"/>
          </a:xfrm>
          <a:prstGeom prst="rect">
            <a:avLst/>
          </a:prstGeom>
          <a:effectLst>
            <a:outerShdw blurRad="40000" dist="20000" dir="5400000" rotWithShape="0">
              <a:srgbClr val="000000">
                <a:alpha val="38000"/>
              </a:srgbClr>
            </a:outerShdw>
            <a:softEdge rad="31750"/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From above result table we can calculate average traffic delay for each route id and can further optimise it as per our need.</a:t>
            </a:r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F385D247-72C9-A7DD-F4F3-9FEBB42F81F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7910976"/>
              </p:ext>
            </p:extLst>
          </p:nvPr>
        </p:nvGraphicFramePr>
        <p:xfrm>
          <a:off x="1294693" y="1582579"/>
          <a:ext cx="2009775" cy="441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2009904" imgH="4409812" progId="Excel.Sheet.12">
                  <p:embed/>
                </p:oleObj>
              </mc:Choice>
              <mc:Fallback>
                <p:oleObj name="Worksheet" r:id="rId2" imgW="2009904" imgH="4409812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294693" y="1582579"/>
                        <a:ext cx="2009775" cy="4410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105016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F2FAE-AB9F-215D-7427-32BE0C9A6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A3609B-4B90-B742-20D2-5F5BFCE48209}"/>
              </a:ext>
            </a:extLst>
          </p:cNvPr>
          <p:cNvSpPr txBox="1"/>
          <p:nvPr/>
        </p:nvSpPr>
        <p:spPr>
          <a:xfrm>
            <a:off x="274320" y="182880"/>
            <a:ext cx="7486408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rPr dirty="0"/>
              <a:t>Task </a:t>
            </a:r>
            <a:r>
              <a:rPr lang="en-IN" dirty="0"/>
              <a:t>3 – Route Optimisation Insights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B1C4B4-CF76-8A69-D2EA-96EA181C5D37}"/>
              </a:ext>
            </a:extLst>
          </p:cNvPr>
          <p:cNvSpPr txBox="1"/>
          <p:nvPr/>
        </p:nvSpPr>
        <p:spPr>
          <a:xfrm>
            <a:off x="274319" y="1005840"/>
            <a:ext cx="917749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</a:defRPr>
            </a:pPr>
            <a:r>
              <a:rPr lang="en-IN" sz="2200" dirty="0"/>
              <a:t>Efficiency ratio per route (km per minute)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2767F64-5EFD-5994-0816-FE9AA875C620}"/>
              </a:ext>
            </a:extLst>
          </p:cNvPr>
          <p:cNvSpPr/>
          <p:nvPr/>
        </p:nvSpPr>
        <p:spPr>
          <a:xfrm>
            <a:off x="115884" y="1582579"/>
            <a:ext cx="4572000" cy="1987204"/>
          </a:xfrm>
          <a:prstGeom prst="rect">
            <a:avLst/>
          </a:prstGeom>
          <a:solidFill>
            <a:srgbClr val="183680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2000" b="1">
                <a:solidFill>
                  <a:srgbClr val="FFCC00"/>
                </a:solidFill>
              </a:defRPr>
            </a:pPr>
            <a:r>
              <a:rPr dirty="0"/>
              <a:t>SQL Snippet:</a:t>
            </a:r>
            <a:endParaRPr lang="en-IN" dirty="0"/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200" dirty="0">
                <a:solidFill>
                  <a:srgbClr val="FFFFFF"/>
                </a:solidFill>
              </a:rPr>
              <a:t>SELECT  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200" dirty="0" err="1">
                <a:solidFill>
                  <a:srgbClr val="FFFFFF"/>
                </a:solidFill>
              </a:rPr>
              <a:t>r.Route_ID</a:t>
            </a:r>
            <a:r>
              <a:rPr lang="en-IN" sz="1200" dirty="0">
                <a:solidFill>
                  <a:srgbClr val="FFFFFF"/>
                </a:solidFill>
              </a:rPr>
              <a:t>,  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200" dirty="0" err="1">
                <a:solidFill>
                  <a:srgbClr val="FFFFFF"/>
                </a:solidFill>
              </a:rPr>
              <a:t>r.Distance_KM</a:t>
            </a:r>
            <a:r>
              <a:rPr lang="en-IN" sz="1200" dirty="0">
                <a:solidFill>
                  <a:srgbClr val="FFFFFF"/>
                </a:solidFill>
              </a:rPr>
              <a:t>,  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200" dirty="0">
                <a:solidFill>
                  <a:srgbClr val="FFFFFF"/>
                </a:solidFill>
              </a:rPr>
              <a:t>r.Average_Travel_Time_Min, 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200" dirty="0">
                <a:solidFill>
                  <a:srgbClr val="FFFFFF"/>
                </a:solidFill>
              </a:rPr>
              <a:t>ROUND(r.Distance_KM / NULLIF(r.Average_Travel_Time_Min, 0), 4) AS km_per_minute_efficiency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200" dirty="0">
                <a:solidFill>
                  <a:srgbClr val="FFFFFF"/>
                </a:solidFill>
              </a:rPr>
              <a:t>FROM routes rORDER BY km_per_minute_efficiency ASC; </a:t>
            </a:r>
            <a:endParaRPr sz="1200" dirty="0">
              <a:solidFill>
                <a:srgbClr val="FFFFFF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A68A237-0B3B-958E-7054-0AC00CD87EA7}"/>
              </a:ext>
            </a:extLst>
          </p:cNvPr>
          <p:cNvSpPr txBox="1"/>
          <p:nvPr/>
        </p:nvSpPr>
        <p:spPr>
          <a:xfrm>
            <a:off x="115884" y="3812651"/>
            <a:ext cx="4572000" cy="523220"/>
          </a:xfrm>
          <a:prstGeom prst="rect">
            <a:avLst/>
          </a:prstGeom>
          <a:effectLst>
            <a:outerShdw blurRad="40000" dist="20000" dir="5400000" rotWithShape="0">
              <a:srgbClr val="000000">
                <a:alpha val="38000"/>
              </a:srgbClr>
            </a:outerShdw>
            <a:softEdge rad="31750"/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From above result table we can know most efficient route among all and can optimise others as well.</a:t>
            </a:r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04E3F5BA-6EF2-5DE9-CE22-39CF5F144A3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4273472"/>
              </p:ext>
            </p:extLst>
          </p:nvPr>
        </p:nvGraphicFramePr>
        <p:xfrm>
          <a:off x="4861259" y="1582579"/>
          <a:ext cx="4166857" cy="441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4800452" imgH="4409812" progId="Excel.Sheet.12">
                  <p:embed/>
                </p:oleObj>
              </mc:Choice>
              <mc:Fallback>
                <p:oleObj name="Worksheet" r:id="rId2" imgW="4800452" imgH="4409812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861259" y="1582579"/>
                        <a:ext cx="4166857" cy="4410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724438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C2A8B-0362-26C2-0514-F3C9B4412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7F941ED-CABD-3431-2018-F9786C2A9B68}"/>
              </a:ext>
            </a:extLst>
          </p:cNvPr>
          <p:cNvSpPr txBox="1"/>
          <p:nvPr/>
        </p:nvSpPr>
        <p:spPr>
          <a:xfrm>
            <a:off x="274320" y="182880"/>
            <a:ext cx="7486408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rPr dirty="0"/>
              <a:t>Task </a:t>
            </a:r>
            <a:r>
              <a:rPr lang="en-IN" dirty="0"/>
              <a:t>3 – Route Optimisation Insights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DC487E-0406-C5EE-1DAE-E899F0500F45}"/>
              </a:ext>
            </a:extLst>
          </p:cNvPr>
          <p:cNvSpPr txBox="1"/>
          <p:nvPr/>
        </p:nvSpPr>
        <p:spPr>
          <a:xfrm>
            <a:off x="274319" y="1005840"/>
            <a:ext cx="917749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</a:defRPr>
            </a:pPr>
            <a:r>
              <a:rPr lang="en-IN" sz="2200" dirty="0"/>
              <a:t>Worst 3 routes by efficiency (lowest km/min)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779035D-ABCD-2950-9D84-A2F475624E1B}"/>
              </a:ext>
            </a:extLst>
          </p:cNvPr>
          <p:cNvSpPr/>
          <p:nvPr/>
        </p:nvSpPr>
        <p:spPr>
          <a:xfrm>
            <a:off x="4307638" y="1458125"/>
            <a:ext cx="4572000" cy="1987204"/>
          </a:xfrm>
          <a:prstGeom prst="rect">
            <a:avLst/>
          </a:prstGeom>
          <a:solidFill>
            <a:srgbClr val="183680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2000" b="1">
                <a:solidFill>
                  <a:srgbClr val="FFCC00"/>
                </a:solidFill>
              </a:defRPr>
            </a:pPr>
            <a:r>
              <a:rPr dirty="0"/>
              <a:t>SQL Snippet:</a:t>
            </a:r>
            <a:endParaRPr lang="en-IN" dirty="0"/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200" dirty="0">
                <a:solidFill>
                  <a:srgbClr val="FFFFFF"/>
                </a:solidFill>
              </a:rPr>
              <a:t>SELECT  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200" dirty="0">
                <a:solidFill>
                  <a:srgbClr val="FFFFFF"/>
                </a:solidFill>
              </a:rPr>
              <a:t>r.Route_ID,  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200" dirty="0">
                <a:solidFill>
                  <a:srgbClr val="FFFFFF"/>
                </a:solidFill>
              </a:rPr>
              <a:t>r.Distance_KM,  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200" dirty="0">
                <a:solidFill>
                  <a:srgbClr val="FFFFFF"/>
                </a:solidFill>
              </a:rPr>
              <a:t>r.Average_Travel_Time_Min,  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200" dirty="0">
                <a:solidFill>
                  <a:srgbClr val="FFFFFF"/>
                </a:solidFill>
              </a:rPr>
              <a:t>ROUND(r.Distance_KM / NULLIF(r.Average_Travel_Time_Min,0),4) AS km_per_minute_efficiency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200" dirty="0">
                <a:solidFill>
                  <a:srgbClr val="FFFFFF"/>
                </a:solidFill>
              </a:rPr>
              <a:t>FROM routes r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200" dirty="0">
                <a:solidFill>
                  <a:srgbClr val="FFFFFF"/>
                </a:solidFill>
              </a:rPr>
              <a:t>ORDER BY km_per_minute_efficiency ASCLIMIT 3;</a:t>
            </a:r>
            <a:endParaRPr sz="1200" dirty="0">
              <a:solidFill>
                <a:srgbClr val="FFFFFF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4DC9A3E-DEEB-F900-84C0-87A030C07485}"/>
              </a:ext>
            </a:extLst>
          </p:cNvPr>
          <p:cNvSpPr txBox="1"/>
          <p:nvPr/>
        </p:nvSpPr>
        <p:spPr>
          <a:xfrm>
            <a:off x="1266952" y="6190678"/>
            <a:ext cx="6610097" cy="307777"/>
          </a:xfrm>
          <a:prstGeom prst="rect">
            <a:avLst/>
          </a:prstGeom>
          <a:effectLst>
            <a:outerShdw blurRad="40000" dist="20000" dir="5400000" rotWithShape="0">
              <a:srgbClr val="000000">
                <a:alpha val="38000"/>
              </a:srgbClr>
            </a:outerShdw>
            <a:softEdge rad="31750"/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From above result table we can know worst 3 routes which has lowest efficiency.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4412F9B-A9A7-5943-8196-DBE46A6E73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8952022"/>
              </p:ext>
            </p:extLst>
          </p:nvPr>
        </p:nvGraphicFramePr>
        <p:xfrm>
          <a:off x="1913688" y="3762976"/>
          <a:ext cx="4787900" cy="838200"/>
        </p:xfrm>
        <a:graphic>
          <a:graphicData uri="http://schemas.openxmlformats.org/drawingml/2006/table">
            <a:tbl>
              <a:tblPr/>
              <a:tblGrid>
                <a:gridCol w="608793">
                  <a:extLst>
                    <a:ext uri="{9D8B030D-6E8A-4147-A177-3AD203B41FA5}">
                      <a16:colId xmlns:a16="http://schemas.microsoft.com/office/drawing/2014/main" val="1376146089"/>
                    </a:ext>
                  </a:extLst>
                </a:gridCol>
                <a:gridCol w="827577">
                  <a:extLst>
                    <a:ext uri="{9D8B030D-6E8A-4147-A177-3AD203B41FA5}">
                      <a16:colId xmlns:a16="http://schemas.microsoft.com/office/drawing/2014/main" val="4058948450"/>
                    </a:ext>
                  </a:extLst>
                </a:gridCol>
                <a:gridCol w="1664667">
                  <a:extLst>
                    <a:ext uri="{9D8B030D-6E8A-4147-A177-3AD203B41FA5}">
                      <a16:colId xmlns:a16="http://schemas.microsoft.com/office/drawing/2014/main" val="838540782"/>
                    </a:ext>
                  </a:extLst>
                </a:gridCol>
                <a:gridCol w="1686863">
                  <a:extLst>
                    <a:ext uri="{9D8B030D-6E8A-4147-A177-3AD203B41FA5}">
                      <a16:colId xmlns:a16="http://schemas.microsoft.com/office/drawing/2014/main" val="2259769541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Route_ID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Distance_KM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Average_Travel_Time_Min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km_per_minute_efficiency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82269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RT_13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1078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1481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0.7279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658458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RT_14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908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907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1.0011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4855356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RT_03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846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749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1.1295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7977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40769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DCED42-2B8C-0065-6D1A-0B6318580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9BE2902-05E5-66B0-21EA-072157383160}"/>
              </a:ext>
            </a:extLst>
          </p:cNvPr>
          <p:cNvSpPr txBox="1"/>
          <p:nvPr/>
        </p:nvSpPr>
        <p:spPr>
          <a:xfrm>
            <a:off x="274320" y="182880"/>
            <a:ext cx="7486408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rPr dirty="0"/>
              <a:t>Task </a:t>
            </a:r>
            <a:r>
              <a:rPr lang="en-IN" dirty="0"/>
              <a:t>3 – Route Optimisation Insights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1B7935-BA7D-46FB-25DF-C7EA1E4B67B7}"/>
              </a:ext>
            </a:extLst>
          </p:cNvPr>
          <p:cNvSpPr txBox="1"/>
          <p:nvPr/>
        </p:nvSpPr>
        <p:spPr>
          <a:xfrm>
            <a:off x="274319" y="842883"/>
            <a:ext cx="917749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</a:defRPr>
            </a:pPr>
            <a:r>
              <a:rPr lang="en-IN" sz="2200" dirty="0"/>
              <a:t>Find routes with &gt;20% delayed shipments.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19BE290-8169-BA5A-18D9-F54D7AEAD9F5}"/>
              </a:ext>
            </a:extLst>
          </p:cNvPr>
          <p:cNvSpPr/>
          <p:nvPr/>
        </p:nvSpPr>
        <p:spPr>
          <a:xfrm>
            <a:off x="274319" y="1268005"/>
            <a:ext cx="8605319" cy="2480133"/>
          </a:xfrm>
          <a:prstGeom prst="rect">
            <a:avLst/>
          </a:prstGeom>
          <a:solidFill>
            <a:srgbClr val="183680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2000" b="1">
                <a:solidFill>
                  <a:srgbClr val="FFCC00"/>
                </a:solidFill>
              </a:defRPr>
            </a:pPr>
            <a:r>
              <a:rPr dirty="0"/>
              <a:t>SQL Snippet:</a:t>
            </a:r>
            <a:endParaRPr lang="en-IN" dirty="0"/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200" dirty="0">
                <a:solidFill>
                  <a:srgbClr val="FFFFFF"/>
                </a:solidFill>
              </a:rPr>
              <a:t>SELECT  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200" dirty="0">
                <a:solidFill>
                  <a:srgbClr val="FFFFFF"/>
                </a:solidFill>
              </a:rPr>
              <a:t>	</a:t>
            </a:r>
            <a:r>
              <a:rPr lang="en-IN" sz="1200" dirty="0" err="1">
                <a:solidFill>
                  <a:srgbClr val="FFFFFF"/>
                </a:solidFill>
              </a:rPr>
              <a:t>o.Route_ID</a:t>
            </a:r>
            <a:r>
              <a:rPr lang="en-IN" sz="1200" dirty="0">
                <a:solidFill>
                  <a:srgbClr val="FFFFFF"/>
                </a:solidFill>
              </a:rPr>
              <a:t>,  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200" dirty="0">
                <a:solidFill>
                  <a:srgbClr val="FFFFFF"/>
                </a:solidFill>
              </a:rPr>
              <a:t>	COUNT(*) AS </a:t>
            </a:r>
            <a:r>
              <a:rPr lang="en-IN" sz="1200" dirty="0" err="1">
                <a:solidFill>
                  <a:srgbClr val="FFFFFF"/>
                </a:solidFill>
              </a:rPr>
              <a:t>total_orders</a:t>
            </a:r>
            <a:r>
              <a:rPr lang="en-IN" sz="1200" dirty="0">
                <a:solidFill>
                  <a:srgbClr val="FFFFFF"/>
                </a:solidFill>
              </a:rPr>
              <a:t>,  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200" dirty="0">
                <a:solidFill>
                  <a:srgbClr val="FFFFFF"/>
                </a:solidFill>
              </a:rPr>
              <a:t>	SUM(CASE WHEN COALESCE(</a:t>
            </a:r>
            <a:r>
              <a:rPr lang="en-IN" sz="1200" dirty="0" err="1">
                <a:solidFill>
                  <a:srgbClr val="FFFFFF"/>
                </a:solidFill>
              </a:rPr>
              <a:t>o.delivery_delay_days</a:t>
            </a:r>
            <a:r>
              <a:rPr lang="en-IN" sz="1200" dirty="0">
                <a:solidFill>
                  <a:srgbClr val="FFFFFF"/>
                </a:solidFill>
              </a:rPr>
              <a:t>, DATEDIFF(</a:t>
            </a:r>
            <a:r>
              <a:rPr lang="en-IN" sz="1200" dirty="0" err="1">
                <a:solidFill>
                  <a:srgbClr val="FFFFFF"/>
                </a:solidFill>
              </a:rPr>
              <a:t>o.Actual_Delivery_Date</a:t>
            </a:r>
            <a:r>
              <a:rPr lang="en-IN" sz="1200" dirty="0">
                <a:solidFill>
                  <a:srgbClr val="FFFFFF"/>
                </a:solidFill>
              </a:rPr>
              <a:t>, </a:t>
            </a:r>
            <a:r>
              <a:rPr lang="en-IN" sz="1200" dirty="0" err="1">
                <a:solidFill>
                  <a:srgbClr val="FFFFFF"/>
                </a:solidFill>
              </a:rPr>
              <a:t>o.Expected_Delivery_Date</a:t>
            </a:r>
            <a:r>
              <a:rPr lang="en-IN" sz="1200" dirty="0">
                <a:solidFill>
                  <a:srgbClr val="FFFFFF"/>
                </a:solidFill>
              </a:rPr>
              <a:t>)) &gt; 0 THEN 		1 ELSE 0 END) AS </a:t>
            </a:r>
            <a:r>
              <a:rPr lang="en-IN" sz="1200" dirty="0" err="1">
                <a:solidFill>
                  <a:srgbClr val="FFFFFF"/>
                </a:solidFill>
              </a:rPr>
              <a:t>delayed_count</a:t>
            </a:r>
            <a:r>
              <a:rPr lang="en-IN" sz="1200" dirty="0">
                <a:solidFill>
                  <a:srgbClr val="FFFFFF"/>
                </a:solidFill>
              </a:rPr>
              <a:t>,  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200" dirty="0">
                <a:solidFill>
                  <a:srgbClr val="FFFFFF"/>
                </a:solidFill>
              </a:rPr>
              <a:t>	ROUND(100 * SUM(CASE WHEN COALESCE(</a:t>
            </a:r>
            <a:r>
              <a:rPr lang="en-IN" sz="1200" dirty="0" err="1">
                <a:solidFill>
                  <a:srgbClr val="FFFFFF"/>
                </a:solidFill>
              </a:rPr>
              <a:t>o.delivery_delay_days</a:t>
            </a:r>
            <a:r>
              <a:rPr lang="en-IN" sz="1200" dirty="0">
                <a:solidFill>
                  <a:srgbClr val="FFFFFF"/>
                </a:solidFill>
              </a:rPr>
              <a:t>, DATEDIFF(</a:t>
            </a:r>
            <a:r>
              <a:rPr lang="en-IN" sz="1200" dirty="0" err="1">
                <a:solidFill>
                  <a:srgbClr val="FFFFFF"/>
                </a:solidFill>
              </a:rPr>
              <a:t>o.Actual_Delivery_Date</a:t>
            </a:r>
            <a:r>
              <a:rPr lang="en-IN" sz="1200" dirty="0">
                <a:solidFill>
                  <a:srgbClr val="FFFFFF"/>
                </a:solidFill>
              </a:rPr>
              <a:t>, 					</a:t>
            </a:r>
            <a:r>
              <a:rPr lang="en-IN" sz="1200" dirty="0" err="1">
                <a:solidFill>
                  <a:srgbClr val="FFFFFF"/>
                </a:solidFill>
              </a:rPr>
              <a:t>o.Expected_Delivery_Date</a:t>
            </a:r>
            <a:r>
              <a:rPr lang="en-IN" sz="1200" dirty="0">
                <a:solidFill>
                  <a:srgbClr val="FFFFFF"/>
                </a:solidFill>
              </a:rPr>
              <a:t>)) &gt; 0 THEN 1 ELSE 0 END) / COUNT(*), 2) AS </a:t>
            </a:r>
            <a:r>
              <a:rPr lang="en-IN" sz="1200" dirty="0" err="1">
                <a:solidFill>
                  <a:srgbClr val="FFFFFF"/>
                </a:solidFill>
              </a:rPr>
              <a:t>delayed_pct</a:t>
            </a:r>
            <a:endParaRPr lang="en-IN" sz="1200" dirty="0">
              <a:solidFill>
                <a:srgbClr val="FFFFFF"/>
              </a:solidFill>
            </a:endParaRP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200" dirty="0">
                <a:solidFill>
                  <a:srgbClr val="FFFFFF"/>
                </a:solidFill>
              </a:rPr>
              <a:t>FROM orders o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200" dirty="0">
                <a:solidFill>
                  <a:srgbClr val="FFFFFF"/>
                </a:solidFill>
              </a:rPr>
              <a:t>GROUP BY </a:t>
            </a:r>
            <a:r>
              <a:rPr lang="en-IN" sz="1200" dirty="0" err="1">
                <a:solidFill>
                  <a:srgbClr val="FFFFFF"/>
                </a:solidFill>
              </a:rPr>
              <a:t>o.Route_IDHAVING</a:t>
            </a:r>
            <a:r>
              <a:rPr lang="en-IN" sz="1200" dirty="0">
                <a:solidFill>
                  <a:srgbClr val="FFFFFF"/>
                </a:solidFill>
              </a:rPr>
              <a:t> </a:t>
            </a:r>
            <a:r>
              <a:rPr lang="en-IN" sz="1200" dirty="0" err="1">
                <a:solidFill>
                  <a:srgbClr val="FFFFFF"/>
                </a:solidFill>
              </a:rPr>
              <a:t>delayed_pct</a:t>
            </a:r>
            <a:r>
              <a:rPr lang="en-IN" sz="1200" dirty="0">
                <a:solidFill>
                  <a:srgbClr val="FFFFFF"/>
                </a:solidFill>
              </a:rPr>
              <a:t> &gt; 20ORDER BY </a:t>
            </a:r>
            <a:r>
              <a:rPr lang="en-IN" sz="1200" dirty="0" err="1">
                <a:solidFill>
                  <a:srgbClr val="FFFFFF"/>
                </a:solidFill>
              </a:rPr>
              <a:t>delayed_pct</a:t>
            </a:r>
            <a:r>
              <a:rPr lang="en-IN" sz="1200" dirty="0">
                <a:solidFill>
                  <a:srgbClr val="FFFFFF"/>
                </a:solidFill>
              </a:rPr>
              <a:t> DESC, </a:t>
            </a:r>
            <a:r>
              <a:rPr lang="en-IN" sz="1200" dirty="0" err="1">
                <a:solidFill>
                  <a:srgbClr val="FFFFFF"/>
                </a:solidFill>
              </a:rPr>
              <a:t>delayed_count</a:t>
            </a:r>
            <a:r>
              <a:rPr lang="en-IN" sz="1200" dirty="0">
                <a:solidFill>
                  <a:srgbClr val="FFFFFF"/>
                </a:solidFill>
              </a:rPr>
              <a:t> DESC;</a:t>
            </a:r>
            <a:endParaRPr sz="1200" dirty="0">
              <a:solidFill>
                <a:srgbClr val="FFFFFF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6534BB0-EE10-1930-B724-29372C73BD62}"/>
              </a:ext>
            </a:extLst>
          </p:cNvPr>
          <p:cNvSpPr txBox="1"/>
          <p:nvPr/>
        </p:nvSpPr>
        <p:spPr>
          <a:xfrm>
            <a:off x="4307638" y="4395528"/>
            <a:ext cx="4572000" cy="738664"/>
          </a:xfrm>
          <a:prstGeom prst="rect">
            <a:avLst/>
          </a:prstGeom>
          <a:effectLst>
            <a:outerShdw blurRad="40000" dist="20000" dir="5400000" rotWithShape="0">
              <a:srgbClr val="000000">
                <a:alpha val="38000"/>
              </a:srgbClr>
            </a:outerShdw>
            <a:softEdge rad="31750"/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From this we can find the routes which has delayed for more than 20% of the shipments. And also the delayed counts,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5812449-EE5B-4D36-D710-83718D1C3A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226941"/>
              </p:ext>
            </p:extLst>
          </p:nvPr>
        </p:nvGraphicFramePr>
        <p:xfrm>
          <a:off x="334977" y="3857802"/>
          <a:ext cx="3331675" cy="2932365"/>
        </p:xfrm>
        <a:graphic>
          <a:graphicData uri="http://schemas.openxmlformats.org/drawingml/2006/table">
            <a:tbl>
              <a:tblPr/>
              <a:tblGrid>
                <a:gridCol w="646142">
                  <a:extLst>
                    <a:ext uri="{9D8B030D-6E8A-4147-A177-3AD203B41FA5}">
                      <a16:colId xmlns:a16="http://schemas.microsoft.com/office/drawing/2014/main" val="456178723"/>
                    </a:ext>
                  </a:extLst>
                </a:gridCol>
                <a:gridCol w="837967">
                  <a:extLst>
                    <a:ext uri="{9D8B030D-6E8A-4147-A177-3AD203B41FA5}">
                      <a16:colId xmlns:a16="http://schemas.microsoft.com/office/drawing/2014/main" val="1101755260"/>
                    </a:ext>
                  </a:extLst>
                </a:gridCol>
                <a:gridCol w="1009599">
                  <a:extLst>
                    <a:ext uri="{9D8B030D-6E8A-4147-A177-3AD203B41FA5}">
                      <a16:colId xmlns:a16="http://schemas.microsoft.com/office/drawing/2014/main" val="587617435"/>
                    </a:ext>
                  </a:extLst>
                </a:gridCol>
                <a:gridCol w="837967">
                  <a:extLst>
                    <a:ext uri="{9D8B030D-6E8A-4147-A177-3AD203B41FA5}">
                      <a16:colId xmlns:a16="http://schemas.microsoft.com/office/drawing/2014/main" val="3532677935"/>
                    </a:ext>
                  </a:extLst>
                </a:gridCol>
              </a:tblGrid>
              <a:tr h="19549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Route_ID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total_orders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delayed_count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delayed_pct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0562516"/>
                  </a:ext>
                </a:extLst>
              </a:tr>
              <a:tr h="19549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RT_13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54.55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5417264"/>
                  </a:ext>
                </a:extLst>
              </a:tr>
              <a:tr h="19549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RT_05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40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6379986"/>
                  </a:ext>
                </a:extLst>
              </a:tr>
              <a:tr h="19549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RT_14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35.29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2410499"/>
                  </a:ext>
                </a:extLst>
              </a:tr>
              <a:tr h="19549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RT_17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33.33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5966507"/>
                  </a:ext>
                </a:extLst>
              </a:tr>
              <a:tr h="19549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RT_06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33.33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065113"/>
                  </a:ext>
                </a:extLst>
              </a:tr>
              <a:tr h="19549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RT_09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31.25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4830379"/>
                  </a:ext>
                </a:extLst>
              </a:tr>
              <a:tr h="19549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RT_01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30.77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8372825"/>
                  </a:ext>
                </a:extLst>
              </a:tr>
              <a:tr h="19549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RT_16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0485050"/>
                  </a:ext>
                </a:extLst>
              </a:tr>
              <a:tr h="19549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RT_02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29.41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4054418"/>
                  </a:ext>
                </a:extLst>
              </a:tr>
              <a:tr h="19549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RT_18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28.57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0616662"/>
                  </a:ext>
                </a:extLst>
              </a:tr>
              <a:tr h="19549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RT_12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27.78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8073046"/>
                  </a:ext>
                </a:extLst>
              </a:tr>
              <a:tr h="19549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RT_15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23.53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9758506"/>
                  </a:ext>
                </a:extLst>
              </a:tr>
              <a:tr h="19549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RT_07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22.22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673487"/>
                  </a:ext>
                </a:extLst>
              </a:tr>
              <a:tr h="19549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RT_10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21.05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73541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20144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52A44-AD56-B8A2-CC79-DB990B061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1B453A9-4A1C-176B-577B-21AB4A34C055}"/>
              </a:ext>
            </a:extLst>
          </p:cNvPr>
          <p:cNvSpPr txBox="1"/>
          <p:nvPr/>
        </p:nvSpPr>
        <p:spPr>
          <a:xfrm>
            <a:off x="274320" y="182880"/>
            <a:ext cx="7486408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rPr dirty="0"/>
              <a:t>Task </a:t>
            </a:r>
            <a:r>
              <a:rPr lang="en-IN" dirty="0"/>
              <a:t>3 – Route Optimisation Insights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D2259C-5E5B-1660-72D9-23E0A198880C}"/>
              </a:ext>
            </a:extLst>
          </p:cNvPr>
          <p:cNvSpPr txBox="1"/>
          <p:nvPr/>
        </p:nvSpPr>
        <p:spPr>
          <a:xfrm>
            <a:off x="274319" y="842883"/>
            <a:ext cx="917749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</a:defRPr>
            </a:pPr>
            <a:r>
              <a:rPr lang="en-IN" sz="2200" dirty="0"/>
              <a:t>Recommend potential routes for optimization.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404ED16-8297-7C4F-24F2-206BE0EFDF67}"/>
              </a:ext>
            </a:extLst>
          </p:cNvPr>
          <p:cNvSpPr/>
          <p:nvPr/>
        </p:nvSpPr>
        <p:spPr>
          <a:xfrm>
            <a:off x="274320" y="3943488"/>
            <a:ext cx="8605319" cy="1796409"/>
          </a:xfrm>
          <a:prstGeom prst="rect">
            <a:avLst/>
          </a:prstGeom>
          <a:solidFill>
            <a:srgbClr val="183680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2000" b="1">
                <a:solidFill>
                  <a:srgbClr val="FFCC00"/>
                </a:solidFill>
              </a:defRPr>
            </a:pPr>
            <a:endParaRPr lang="en-IN" dirty="0"/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dirty="0"/>
              <a:t>Route optimisation recommendation</a:t>
            </a:r>
            <a:r>
              <a:rPr dirty="0"/>
              <a:t>:</a:t>
            </a:r>
            <a:endParaRPr lang="en-IN" dirty="0"/>
          </a:p>
          <a:p>
            <a:pPr marL="457200" indent="-457200">
              <a:buFont typeface="+mj-lt"/>
              <a:buAutoNum type="arabicPeriod"/>
              <a:defRPr sz="2000" b="1">
                <a:solidFill>
                  <a:srgbClr val="FFCC00"/>
                </a:solidFill>
              </a:defRPr>
            </a:pPr>
            <a:r>
              <a:rPr lang="en-IN" sz="1400" dirty="0"/>
              <a:t>RT_13 </a:t>
            </a:r>
            <a:r>
              <a:rPr lang="en-IN" sz="1400" b="1" dirty="0"/>
              <a:t>This is the slowest route overall, with the worst efficiency. It should be the top priority for redesign.</a:t>
            </a:r>
          </a:p>
          <a:p>
            <a:pPr marL="457200" indent="-457200">
              <a:buFont typeface="+mj-lt"/>
              <a:buAutoNum type="arabicPeriod"/>
              <a:defRPr sz="2000" b="1">
                <a:solidFill>
                  <a:srgbClr val="FFCC00"/>
                </a:solidFill>
              </a:defRPr>
            </a:pPr>
            <a:r>
              <a:rPr lang="en-IN" sz="1400" b="1" dirty="0"/>
              <a:t>RT_09 Both delay and traffic are high, making this route unreliable.</a:t>
            </a:r>
          </a:p>
          <a:p>
            <a:pPr marL="457200" indent="-457200">
              <a:buFont typeface="+mj-lt"/>
              <a:buAutoNum type="arabicPeriod"/>
              <a:defRPr sz="2000" b="1">
                <a:solidFill>
                  <a:srgbClr val="FFCC00"/>
                </a:solidFill>
              </a:defRPr>
            </a:pPr>
            <a:r>
              <a:rPr lang="en-IN" sz="1400" b="1" dirty="0"/>
              <a:t>RT_05 Delays combined with moderate-to-high traffic make this route a strong candidate for optimization.</a:t>
            </a:r>
          </a:p>
          <a:p>
            <a:pPr marL="457200" indent="-457200">
              <a:buFont typeface="+mj-lt"/>
              <a:buAutoNum type="arabicPeriod"/>
              <a:defRPr sz="2000" b="1">
                <a:solidFill>
                  <a:srgbClr val="FFCC00"/>
                </a:solidFill>
              </a:defRPr>
            </a:pPr>
            <a:r>
              <a:rPr lang="en-IN" sz="1400" b="1" dirty="0"/>
              <a:t>RT_14 Even with average traffic, efficiency is extremely low — the route wastes time relative to distance.</a:t>
            </a:r>
          </a:p>
          <a:p>
            <a:pPr marL="457200" indent="-457200">
              <a:buFont typeface="+mj-lt"/>
              <a:buAutoNum type="arabicPeriod"/>
              <a:defRPr sz="2000" b="1">
                <a:solidFill>
                  <a:srgbClr val="FFCC00"/>
                </a:solidFill>
              </a:defRPr>
            </a:pPr>
            <a:r>
              <a:rPr lang="en-IN" sz="1400" b="1" dirty="0"/>
              <a:t>RT_15 Heavy traffic makes this route slow and unpredictable.</a:t>
            </a:r>
          </a:p>
          <a:p>
            <a:pPr marL="457200" indent="-457200">
              <a:buFont typeface="+mj-lt"/>
              <a:buAutoNum type="arabicPeriod"/>
              <a:defRPr sz="2000" b="1">
                <a:solidFill>
                  <a:srgbClr val="FFCC00"/>
                </a:solidFill>
              </a:defRPr>
            </a:pPr>
            <a:endParaRPr lang="en-IN" sz="12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D4C9675-89D7-A22E-AEE5-36A8876796C7}"/>
              </a:ext>
            </a:extLst>
          </p:cNvPr>
          <p:cNvSpPr/>
          <p:nvPr/>
        </p:nvSpPr>
        <p:spPr>
          <a:xfrm>
            <a:off x="274319" y="1268005"/>
            <a:ext cx="8605319" cy="2480133"/>
          </a:xfrm>
          <a:prstGeom prst="rect">
            <a:avLst/>
          </a:prstGeom>
          <a:solidFill>
            <a:srgbClr val="183680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2000" b="1">
                <a:solidFill>
                  <a:srgbClr val="FFCC00"/>
                </a:solidFill>
              </a:defRPr>
            </a:pPr>
            <a:r>
              <a:rPr dirty="0"/>
              <a:t>SQL Snippet:</a:t>
            </a:r>
            <a:endParaRPr lang="en-IN" dirty="0"/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200" dirty="0">
                <a:solidFill>
                  <a:srgbClr val="FFFFFF"/>
                </a:solidFill>
              </a:rPr>
              <a:t>SELECT    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200" dirty="0">
                <a:solidFill>
                  <a:srgbClr val="FFFFFF"/>
                </a:solidFill>
              </a:rPr>
              <a:t>	r.Route_ID,    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200" dirty="0">
                <a:solidFill>
                  <a:srgbClr val="FFFFFF"/>
                </a:solidFill>
              </a:rPr>
              <a:t>	ROUND(AVG(DATEDIFF(</a:t>
            </a:r>
            <a:r>
              <a:rPr lang="en-IN" sz="1200" dirty="0" err="1">
                <a:solidFill>
                  <a:srgbClr val="FFFFFF"/>
                </a:solidFill>
              </a:rPr>
              <a:t>o.Actual_Delivery_Date</a:t>
            </a:r>
            <a:r>
              <a:rPr lang="en-IN" sz="1200" dirty="0">
                <a:solidFill>
                  <a:srgbClr val="FFFFFF"/>
                </a:solidFill>
              </a:rPr>
              <a:t>, </a:t>
            </a:r>
            <a:r>
              <a:rPr lang="en-IN" sz="1200" dirty="0" err="1">
                <a:solidFill>
                  <a:srgbClr val="FFFFFF"/>
                </a:solidFill>
              </a:rPr>
              <a:t>o.Expected_Delivery_Date</a:t>
            </a:r>
            <a:r>
              <a:rPr lang="en-IN" sz="1200" dirty="0">
                <a:solidFill>
                  <a:srgbClr val="FFFFFF"/>
                </a:solidFill>
              </a:rPr>
              <a:t>)), 2) AS </a:t>
            </a:r>
            <a:r>
              <a:rPr lang="en-IN" sz="1200" dirty="0" err="1">
                <a:solidFill>
                  <a:srgbClr val="FFFFFF"/>
                </a:solidFill>
              </a:rPr>
              <a:t>avg_delay_days</a:t>
            </a:r>
            <a:r>
              <a:rPr lang="en-IN" sz="1200" dirty="0">
                <a:solidFill>
                  <a:srgbClr val="FFFFFF"/>
                </a:solidFill>
              </a:rPr>
              <a:t>,    	ROUND(AVG(</a:t>
            </a:r>
            <a:r>
              <a:rPr lang="en-IN" sz="1200" dirty="0" err="1">
                <a:solidFill>
                  <a:srgbClr val="FFFFFF"/>
                </a:solidFill>
              </a:rPr>
              <a:t>r.Traffic_Delay_Min</a:t>
            </a:r>
            <a:r>
              <a:rPr lang="en-IN" sz="1200" dirty="0">
                <a:solidFill>
                  <a:srgbClr val="FFFFFF"/>
                </a:solidFill>
              </a:rPr>
              <a:t>), 2) AS </a:t>
            </a:r>
            <a:r>
              <a:rPr lang="en-IN" sz="1200" dirty="0" err="1">
                <a:solidFill>
                  <a:srgbClr val="FFFFFF"/>
                </a:solidFill>
              </a:rPr>
              <a:t>avg_traffic_delay</a:t>
            </a:r>
            <a:r>
              <a:rPr lang="en-IN" sz="1200" dirty="0">
                <a:solidFill>
                  <a:srgbClr val="FFFFFF"/>
                </a:solidFill>
              </a:rPr>
              <a:t>,    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200" dirty="0">
                <a:solidFill>
                  <a:srgbClr val="FFFFFF"/>
                </a:solidFill>
              </a:rPr>
              <a:t>	ROUND(r.Distance_KM / NULLIF(r.Average_Travel_Time_Min, 0), 4) AS </a:t>
            </a:r>
            <a:r>
              <a:rPr lang="en-IN" sz="1200" dirty="0" err="1">
                <a:solidFill>
                  <a:srgbClr val="FFFFFF"/>
                </a:solidFill>
              </a:rPr>
              <a:t>efficiency_ratio</a:t>
            </a:r>
            <a:r>
              <a:rPr lang="en-IN" sz="1200" dirty="0">
                <a:solidFill>
                  <a:srgbClr val="FFFFFF"/>
                </a:solidFill>
              </a:rPr>
              <a:t>,    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200" dirty="0">
                <a:solidFill>
                  <a:srgbClr val="FFFFFF"/>
                </a:solidFill>
              </a:rPr>
              <a:t>	COUNT(</a:t>
            </a:r>
            <a:r>
              <a:rPr lang="en-IN" sz="1200" dirty="0" err="1">
                <a:solidFill>
                  <a:srgbClr val="FFFFFF"/>
                </a:solidFill>
              </a:rPr>
              <a:t>o.Order_ID</a:t>
            </a:r>
            <a:r>
              <a:rPr lang="en-IN" sz="1200" dirty="0">
                <a:solidFill>
                  <a:srgbClr val="FFFFFF"/>
                </a:solidFill>
              </a:rPr>
              <a:t>) AS </a:t>
            </a:r>
            <a:r>
              <a:rPr lang="en-IN" sz="1200" dirty="0" err="1">
                <a:solidFill>
                  <a:srgbClr val="FFFFFF"/>
                </a:solidFill>
              </a:rPr>
              <a:t>total_orders</a:t>
            </a:r>
            <a:endParaRPr lang="en-IN" sz="1200" dirty="0">
              <a:solidFill>
                <a:srgbClr val="FFFFFF"/>
              </a:solidFill>
            </a:endParaRP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200" dirty="0">
                <a:solidFill>
                  <a:srgbClr val="FFFFFF"/>
                </a:solidFill>
              </a:rPr>
              <a:t>FROM routes r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200" dirty="0">
                <a:solidFill>
                  <a:srgbClr val="FFFFFF"/>
                </a:solidFill>
              </a:rPr>
              <a:t>LEFT JOIN orders o ON r.Route_ID = </a:t>
            </a:r>
            <a:r>
              <a:rPr lang="en-IN" sz="1200" dirty="0" err="1">
                <a:solidFill>
                  <a:srgbClr val="FFFFFF"/>
                </a:solidFill>
              </a:rPr>
              <a:t>o.Route_ID</a:t>
            </a:r>
            <a:endParaRPr lang="en-IN" sz="1200" dirty="0">
              <a:solidFill>
                <a:srgbClr val="FFFFFF"/>
              </a:solidFill>
            </a:endParaRP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200" dirty="0">
                <a:solidFill>
                  <a:srgbClr val="FFFFFF"/>
                </a:solidFill>
              </a:rPr>
              <a:t>GROUP BY r.Route_ID, r.Distance_KM, r.Average_Travel_Time_Min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200" dirty="0">
                <a:solidFill>
                  <a:srgbClr val="FFFFFF"/>
                </a:solidFill>
              </a:rPr>
              <a:t>ORDER BY </a:t>
            </a:r>
            <a:r>
              <a:rPr lang="en-IN" sz="1200" dirty="0" err="1">
                <a:solidFill>
                  <a:srgbClr val="FFFFFF"/>
                </a:solidFill>
              </a:rPr>
              <a:t>avg_delay_days</a:t>
            </a:r>
            <a:r>
              <a:rPr lang="en-IN" sz="1200" dirty="0">
                <a:solidFill>
                  <a:srgbClr val="FFFFFF"/>
                </a:solidFill>
              </a:rPr>
              <a:t> DESC;</a:t>
            </a:r>
            <a:endParaRPr sz="1200" dirty="0">
              <a:solidFill>
                <a:srgbClr val="FFFFFF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18BEB9-D135-2A95-9F50-D97BA76C1AF1}"/>
              </a:ext>
            </a:extLst>
          </p:cNvPr>
          <p:cNvSpPr txBox="1"/>
          <p:nvPr/>
        </p:nvSpPr>
        <p:spPr>
          <a:xfrm>
            <a:off x="2823621" y="5904922"/>
            <a:ext cx="3496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FF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Route ID to optimise : CLICK HERE</a:t>
            </a:r>
            <a:endParaRPr lang="en-IN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26226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6E8A9-449B-1D59-1523-9418C1BA4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28B55F7-2BD7-2FCA-6E69-858F62A85C62}"/>
              </a:ext>
            </a:extLst>
          </p:cNvPr>
          <p:cNvSpPr txBox="1"/>
          <p:nvPr/>
        </p:nvSpPr>
        <p:spPr>
          <a:xfrm>
            <a:off x="274320" y="182880"/>
            <a:ext cx="8624028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rPr dirty="0"/>
              <a:t>Task </a:t>
            </a:r>
            <a:r>
              <a:rPr lang="en-IN" dirty="0"/>
              <a:t>4 – Warehouse optimisation insights 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22A274-5B3A-6323-FFA0-084AA6F21B6C}"/>
              </a:ext>
            </a:extLst>
          </p:cNvPr>
          <p:cNvSpPr txBox="1"/>
          <p:nvPr/>
        </p:nvSpPr>
        <p:spPr>
          <a:xfrm>
            <a:off x="274319" y="842883"/>
            <a:ext cx="917749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</a:defRPr>
            </a:pPr>
            <a:r>
              <a:rPr lang="en-IN" sz="2200" dirty="0"/>
              <a:t>Find the top 3 warehouses with the highest average processing time.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F88158D-1071-2C9C-B3B0-1070D7E40146}"/>
              </a:ext>
            </a:extLst>
          </p:cNvPr>
          <p:cNvSpPr/>
          <p:nvPr/>
        </p:nvSpPr>
        <p:spPr>
          <a:xfrm>
            <a:off x="1712764" y="1754629"/>
            <a:ext cx="5747139" cy="1674371"/>
          </a:xfrm>
          <a:prstGeom prst="rect">
            <a:avLst/>
          </a:prstGeom>
          <a:solidFill>
            <a:srgbClr val="183680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2000" b="1">
                <a:solidFill>
                  <a:srgbClr val="FFCC00"/>
                </a:solidFill>
              </a:defRPr>
            </a:pPr>
            <a:r>
              <a:rPr dirty="0"/>
              <a:t>SQL Snippet:</a:t>
            </a:r>
            <a:endParaRPr lang="en-IN" dirty="0"/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200" dirty="0">
                <a:solidFill>
                  <a:srgbClr val="FFFFFF"/>
                </a:solidFill>
              </a:rPr>
              <a:t>SELECT  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200" dirty="0">
                <a:solidFill>
                  <a:srgbClr val="FFFFFF"/>
                </a:solidFill>
              </a:rPr>
              <a:t>	</a:t>
            </a:r>
            <a:r>
              <a:rPr lang="en-IN" sz="1200" dirty="0" err="1">
                <a:solidFill>
                  <a:srgbClr val="FFFFFF"/>
                </a:solidFill>
              </a:rPr>
              <a:t>Warehouse_ID</a:t>
            </a:r>
            <a:r>
              <a:rPr lang="en-IN" sz="1200" dirty="0">
                <a:solidFill>
                  <a:srgbClr val="FFFFFF"/>
                </a:solidFill>
              </a:rPr>
              <a:t>,  </a:t>
            </a:r>
            <a:r>
              <a:rPr lang="en-IN" sz="1200" dirty="0" err="1">
                <a:solidFill>
                  <a:srgbClr val="FFFFFF"/>
                </a:solidFill>
              </a:rPr>
              <a:t>Warehouse_Name</a:t>
            </a:r>
            <a:r>
              <a:rPr lang="en-IN" sz="1200" dirty="0">
                <a:solidFill>
                  <a:srgbClr val="FFFFFF"/>
                </a:solidFill>
              </a:rPr>
              <a:t>,  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200" dirty="0">
                <a:solidFill>
                  <a:srgbClr val="FFFFFF"/>
                </a:solidFill>
              </a:rPr>
              <a:t>	ROUND(AVG(</a:t>
            </a:r>
            <a:r>
              <a:rPr lang="en-IN" sz="1200" dirty="0" err="1">
                <a:solidFill>
                  <a:srgbClr val="FFFFFF"/>
                </a:solidFill>
              </a:rPr>
              <a:t>Average_Processing_Time_Min</a:t>
            </a:r>
            <a:r>
              <a:rPr lang="en-IN" sz="1200" dirty="0">
                <a:solidFill>
                  <a:srgbClr val="FFFFFF"/>
                </a:solidFill>
              </a:rPr>
              <a:t>),2) AS </a:t>
            </a:r>
            <a:r>
              <a:rPr lang="en-IN" sz="1200" dirty="0" err="1">
                <a:solidFill>
                  <a:srgbClr val="FFFFFF"/>
                </a:solidFill>
              </a:rPr>
              <a:t>avg_processing_time_min</a:t>
            </a:r>
            <a:endParaRPr lang="en-IN" sz="1200" dirty="0">
              <a:solidFill>
                <a:srgbClr val="FFFFFF"/>
              </a:solidFill>
            </a:endParaRP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200" dirty="0">
                <a:solidFill>
                  <a:srgbClr val="FFFFFF"/>
                </a:solidFill>
              </a:rPr>
              <a:t>FROM warehouses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200" dirty="0">
                <a:solidFill>
                  <a:srgbClr val="FFFFFF"/>
                </a:solidFill>
              </a:rPr>
              <a:t>GROUP BY </a:t>
            </a:r>
            <a:r>
              <a:rPr lang="en-IN" sz="1200" dirty="0" err="1">
                <a:solidFill>
                  <a:srgbClr val="FFFFFF"/>
                </a:solidFill>
              </a:rPr>
              <a:t>Warehouse_ID</a:t>
            </a:r>
            <a:r>
              <a:rPr lang="en-IN" sz="1200" dirty="0">
                <a:solidFill>
                  <a:srgbClr val="FFFFFF"/>
                </a:solidFill>
              </a:rPr>
              <a:t>, </a:t>
            </a:r>
            <a:r>
              <a:rPr lang="en-IN" sz="1200" dirty="0" err="1">
                <a:solidFill>
                  <a:srgbClr val="FFFFFF"/>
                </a:solidFill>
              </a:rPr>
              <a:t>Warehouse_Name</a:t>
            </a:r>
            <a:endParaRPr lang="en-IN" sz="1200" dirty="0">
              <a:solidFill>
                <a:srgbClr val="FFFFFF"/>
              </a:solidFill>
            </a:endParaRP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200" dirty="0">
                <a:solidFill>
                  <a:srgbClr val="FFFFFF"/>
                </a:solidFill>
              </a:rPr>
              <a:t>ORDER BY </a:t>
            </a:r>
            <a:r>
              <a:rPr lang="en-IN" sz="1200" dirty="0" err="1">
                <a:solidFill>
                  <a:srgbClr val="FFFFFF"/>
                </a:solidFill>
              </a:rPr>
              <a:t>avg_processing_time_min</a:t>
            </a:r>
            <a:r>
              <a:rPr lang="en-IN" sz="1200" dirty="0">
                <a:solidFill>
                  <a:srgbClr val="FFFFFF"/>
                </a:solidFill>
              </a:rPr>
              <a:t> DESCLIMIT 3;</a:t>
            </a:r>
            <a:endParaRPr sz="1200" dirty="0">
              <a:solidFill>
                <a:srgbClr val="FFFFFF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789274-14BE-90C6-DE79-A2438C2C289D}"/>
              </a:ext>
            </a:extLst>
          </p:cNvPr>
          <p:cNvSpPr txBox="1"/>
          <p:nvPr/>
        </p:nvSpPr>
        <p:spPr>
          <a:xfrm>
            <a:off x="1112670" y="6151904"/>
            <a:ext cx="6918659" cy="307777"/>
          </a:xfrm>
          <a:prstGeom prst="rect">
            <a:avLst/>
          </a:prstGeom>
          <a:effectLst>
            <a:outerShdw blurRad="40000" dist="20000" dir="5400000" rotWithShape="0">
              <a:srgbClr val="000000">
                <a:alpha val="38000"/>
              </a:srgbClr>
            </a:outerShdw>
            <a:softEdge rad="31750"/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From this we can find the top 3 warehouse with the highest average processing time.</a:t>
            </a:r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65B18403-F6DC-3E12-0752-EFF2A428BAB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6332685"/>
              </p:ext>
            </p:extLst>
          </p:nvPr>
        </p:nvGraphicFramePr>
        <p:xfrm>
          <a:off x="2105024" y="3848950"/>
          <a:ext cx="4933950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4934209" imgH="847791" progId="Excel.Sheet.12">
                  <p:embed/>
                </p:oleObj>
              </mc:Choice>
              <mc:Fallback>
                <p:oleObj name="Worksheet" r:id="rId2" imgW="4934209" imgH="847791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105024" y="3848950"/>
                        <a:ext cx="4933950" cy="847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394229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FA5DA-8092-F934-9950-3202D9DCA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81AE58B-6E73-CCE6-E6A1-D6375BD5591E}"/>
              </a:ext>
            </a:extLst>
          </p:cNvPr>
          <p:cNvSpPr txBox="1"/>
          <p:nvPr/>
        </p:nvSpPr>
        <p:spPr>
          <a:xfrm>
            <a:off x="274320" y="182880"/>
            <a:ext cx="8624028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rPr dirty="0"/>
              <a:t>Task </a:t>
            </a:r>
            <a:r>
              <a:rPr lang="en-IN" dirty="0"/>
              <a:t>4 – Warehouse optimisation insights 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AF1247-BD0A-5970-0BDA-907966780E00}"/>
              </a:ext>
            </a:extLst>
          </p:cNvPr>
          <p:cNvSpPr txBox="1"/>
          <p:nvPr/>
        </p:nvSpPr>
        <p:spPr>
          <a:xfrm>
            <a:off x="274319" y="842883"/>
            <a:ext cx="860531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</a:defRPr>
            </a:pPr>
            <a:r>
              <a:rPr lang="en-IN" sz="2200" dirty="0"/>
              <a:t>Calculate total vs. delayed shipments for each warehouse.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F2E8148-8867-9DA1-4290-19DAD3848DC9}"/>
              </a:ext>
            </a:extLst>
          </p:cNvPr>
          <p:cNvSpPr/>
          <p:nvPr/>
        </p:nvSpPr>
        <p:spPr>
          <a:xfrm>
            <a:off x="274320" y="1268005"/>
            <a:ext cx="8605319" cy="2244740"/>
          </a:xfrm>
          <a:prstGeom prst="rect">
            <a:avLst/>
          </a:prstGeom>
          <a:solidFill>
            <a:srgbClr val="183680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2000" b="1">
                <a:solidFill>
                  <a:srgbClr val="FFCC00"/>
                </a:solidFill>
              </a:defRPr>
            </a:pPr>
            <a:r>
              <a:rPr dirty="0"/>
              <a:t>SQL Snippet:</a:t>
            </a:r>
            <a:endParaRPr lang="en-IN" dirty="0"/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SELECT  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	</a:t>
            </a:r>
            <a:r>
              <a:rPr lang="en-IN" sz="1100" dirty="0" err="1">
                <a:solidFill>
                  <a:srgbClr val="FFFFFF"/>
                </a:solidFill>
              </a:rPr>
              <a:t>o.Warehouse_ID</a:t>
            </a:r>
            <a:r>
              <a:rPr lang="en-IN" sz="1100" dirty="0">
                <a:solidFill>
                  <a:srgbClr val="FFFFFF"/>
                </a:solidFill>
              </a:rPr>
              <a:t>,  </a:t>
            </a:r>
            <a:r>
              <a:rPr lang="en-IN" sz="1100" dirty="0" err="1">
                <a:solidFill>
                  <a:srgbClr val="FFFFFF"/>
                </a:solidFill>
              </a:rPr>
              <a:t>w.Warehouse_Name</a:t>
            </a:r>
            <a:r>
              <a:rPr lang="en-IN" sz="1100" dirty="0">
                <a:solidFill>
                  <a:srgbClr val="FFFFFF"/>
                </a:solidFill>
              </a:rPr>
              <a:t>,  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	COUNT(*) AS </a:t>
            </a:r>
            <a:r>
              <a:rPr lang="en-IN" sz="1100" dirty="0" err="1">
                <a:solidFill>
                  <a:srgbClr val="FFFFFF"/>
                </a:solidFill>
              </a:rPr>
              <a:t>total_shipments</a:t>
            </a:r>
            <a:r>
              <a:rPr lang="en-IN" sz="1100" dirty="0">
                <a:solidFill>
                  <a:srgbClr val="FFFFFF"/>
                </a:solidFill>
              </a:rPr>
              <a:t>,  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	SUM(CASE WHEN </a:t>
            </a:r>
            <a:r>
              <a:rPr lang="en-IN" sz="1100" dirty="0" err="1">
                <a:solidFill>
                  <a:srgbClr val="FFFFFF"/>
                </a:solidFill>
              </a:rPr>
              <a:t>o.Actual_Delivery_Date</a:t>
            </a:r>
            <a:r>
              <a:rPr lang="en-IN" sz="1100" dirty="0">
                <a:solidFill>
                  <a:srgbClr val="FFFFFF"/>
                </a:solidFill>
              </a:rPr>
              <a:t> &gt; </a:t>
            </a:r>
            <a:r>
              <a:rPr lang="en-IN" sz="1100" dirty="0" err="1">
                <a:solidFill>
                  <a:srgbClr val="FFFFFF"/>
                </a:solidFill>
              </a:rPr>
              <a:t>o.Expected_Delivery_Date</a:t>
            </a:r>
            <a:r>
              <a:rPr lang="en-IN" sz="1100" dirty="0">
                <a:solidFill>
                  <a:srgbClr val="FFFFFF"/>
                </a:solidFill>
              </a:rPr>
              <a:t> THEN 1 ELSE 0 END) AS </a:t>
            </a:r>
            <a:r>
              <a:rPr lang="en-IN" sz="1100" dirty="0" err="1">
                <a:solidFill>
                  <a:srgbClr val="FFFFFF"/>
                </a:solidFill>
              </a:rPr>
              <a:t>delayed_shipments</a:t>
            </a:r>
            <a:r>
              <a:rPr lang="en-IN" sz="1100" dirty="0">
                <a:solidFill>
                  <a:srgbClr val="FFFFFF"/>
                </a:solidFill>
              </a:rPr>
              <a:t>,  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	ROUND(100 * SUM(CASE WHEN </a:t>
            </a:r>
            <a:r>
              <a:rPr lang="en-IN" sz="1100" dirty="0" err="1">
                <a:solidFill>
                  <a:srgbClr val="FFFFFF"/>
                </a:solidFill>
              </a:rPr>
              <a:t>o.Actual_Delivery_Date</a:t>
            </a:r>
            <a:r>
              <a:rPr lang="en-IN" sz="1100" dirty="0">
                <a:solidFill>
                  <a:srgbClr val="FFFFFF"/>
                </a:solidFill>
              </a:rPr>
              <a:t> &gt; </a:t>
            </a:r>
            <a:r>
              <a:rPr lang="en-IN" sz="1100" dirty="0" err="1">
                <a:solidFill>
                  <a:srgbClr val="FFFFFF"/>
                </a:solidFill>
              </a:rPr>
              <a:t>o.Expected_Delivery_Date</a:t>
            </a:r>
            <a:r>
              <a:rPr lang="en-IN" sz="1100" dirty="0">
                <a:solidFill>
                  <a:srgbClr val="FFFFFF"/>
                </a:solidFill>
              </a:rPr>
              <a:t> THEN 1 ELSE 0 END) / COUNT(*), 2) AS </a:t>
            </a:r>
            <a:r>
              <a:rPr lang="en-IN" sz="1100" dirty="0" err="1">
                <a:solidFill>
                  <a:srgbClr val="FFFFFF"/>
                </a:solidFill>
              </a:rPr>
              <a:t>delayed_pct</a:t>
            </a:r>
            <a:endParaRPr lang="en-IN" sz="1100" dirty="0">
              <a:solidFill>
                <a:srgbClr val="FFFFFF"/>
              </a:solidFill>
            </a:endParaRP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FROM orders o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LEFT JOIN warehouses w ON </a:t>
            </a:r>
            <a:r>
              <a:rPr lang="en-IN" sz="1100" dirty="0" err="1">
                <a:solidFill>
                  <a:srgbClr val="FFFFFF"/>
                </a:solidFill>
              </a:rPr>
              <a:t>o.Warehouse_ID</a:t>
            </a:r>
            <a:r>
              <a:rPr lang="en-IN" sz="1100" dirty="0">
                <a:solidFill>
                  <a:srgbClr val="FFFFFF"/>
                </a:solidFill>
              </a:rPr>
              <a:t> = </a:t>
            </a:r>
            <a:r>
              <a:rPr lang="en-IN" sz="1100" dirty="0" err="1">
                <a:solidFill>
                  <a:srgbClr val="FFFFFF"/>
                </a:solidFill>
              </a:rPr>
              <a:t>w.Warehouse_ID</a:t>
            </a:r>
            <a:endParaRPr lang="en-IN" sz="1100" dirty="0">
              <a:solidFill>
                <a:srgbClr val="FFFFFF"/>
              </a:solidFill>
            </a:endParaRP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GROUP BY </a:t>
            </a:r>
            <a:r>
              <a:rPr lang="en-IN" sz="1100" dirty="0" err="1">
                <a:solidFill>
                  <a:srgbClr val="FFFFFF"/>
                </a:solidFill>
              </a:rPr>
              <a:t>o.Warehouse_ID</a:t>
            </a:r>
            <a:r>
              <a:rPr lang="en-IN" sz="1100" dirty="0">
                <a:solidFill>
                  <a:srgbClr val="FFFFFF"/>
                </a:solidFill>
              </a:rPr>
              <a:t>, </a:t>
            </a:r>
            <a:r>
              <a:rPr lang="en-IN" sz="1100" dirty="0" err="1">
                <a:solidFill>
                  <a:srgbClr val="FFFFFF"/>
                </a:solidFill>
              </a:rPr>
              <a:t>w.Warehouse_Name</a:t>
            </a:r>
            <a:endParaRPr lang="en-IN" sz="1100" dirty="0">
              <a:solidFill>
                <a:srgbClr val="FFFFFF"/>
              </a:solidFill>
            </a:endParaRP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ORDER BY </a:t>
            </a:r>
            <a:r>
              <a:rPr lang="en-IN" sz="1100" dirty="0" err="1">
                <a:solidFill>
                  <a:srgbClr val="FFFFFF"/>
                </a:solidFill>
              </a:rPr>
              <a:t>delayed_pct</a:t>
            </a:r>
            <a:r>
              <a:rPr lang="en-IN" sz="1100" dirty="0">
                <a:solidFill>
                  <a:srgbClr val="FFFFFF"/>
                </a:solidFill>
              </a:rPr>
              <a:t> DESC, </a:t>
            </a:r>
            <a:r>
              <a:rPr lang="en-IN" sz="1100" dirty="0" err="1">
                <a:solidFill>
                  <a:srgbClr val="FFFFFF"/>
                </a:solidFill>
              </a:rPr>
              <a:t>delayed_shipments</a:t>
            </a:r>
            <a:r>
              <a:rPr lang="en-IN" sz="1100" dirty="0">
                <a:solidFill>
                  <a:srgbClr val="FFFFFF"/>
                </a:solidFill>
              </a:rPr>
              <a:t> DESC;</a:t>
            </a:r>
            <a:endParaRPr sz="1100" dirty="0">
              <a:solidFill>
                <a:srgbClr val="FFFFFF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EB1D09B-EB55-88BD-42F2-0483307C7460}"/>
              </a:ext>
            </a:extLst>
          </p:cNvPr>
          <p:cNvSpPr txBox="1"/>
          <p:nvPr/>
        </p:nvSpPr>
        <p:spPr>
          <a:xfrm>
            <a:off x="1556744" y="6055891"/>
            <a:ext cx="6030513" cy="307777"/>
          </a:xfrm>
          <a:prstGeom prst="rect">
            <a:avLst/>
          </a:prstGeom>
          <a:effectLst>
            <a:outerShdw blurRad="40000" dist="20000" dir="5400000" rotWithShape="0">
              <a:srgbClr val="000000">
                <a:alpha val="38000"/>
              </a:srgbClr>
            </a:outerShdw>
            <a:softEdge rad="31750"/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From this we can calculate total vs delayed shipments for each warehouse.</a:t>
            </a:r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F278E067-6733-4844-34A7-545B7114BD0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9199149"/>
              </p:ext>
            </p:extLst>
          </p:nvPr>
        </p:nvGraphicFramePr>
        <p:xfrm>
          <a:off x="1343025" y="3623211"/>
          <a:ext cx="6457950" cy="231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6458209" imgH="2314575" progId="Excel.Sheet.12">
                  <p:embed/>
                </p:oleObj>
              </mc:Choice>
              <mc:Fallback>
                <p:oleObj name="Worksheet" r:id="rId2" imgW="6458209" imgH="2314575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343025" y="3623211"/>
                        <a:ext cx="6457950" cy="23145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737194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10C6A-D08C-3673-5A8A-C2F109041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EC65F7B-A912-DE9E-8ED5-EE5F9DA6E4AF}"/>
              </a:ext>
            </a:extLst>
          </p:cNvPr>
          <p:cNvSpPr txBox="1"/>
          <p:nvPr/>
        </p:nvSpPr>
        <p:spPr>
          <a:xfrm>
            <a:off x="274320" y="182880"/>
            <a:ext cx="8624028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rPr dirty="0"/>
              <a:t>Task </a:t>
            </a:r>
            <a:r>
              <a:rPr lang="en-IN" dirty="0"/>
              <a:t>4 – Warehouse optimisation insights 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D9095D-A1D4-04B1-21D5-B3583351AE52}"/>
              </a:ext>
            </a:extLst>
          </p:cNvPr>
          <p:cNvSpPr txBox="1"/>
          <p:nvPr/>
        </p:nvSpPr>
        <p:spPr>
          <a:xfrm>
            <a:off x="274320" y="842883"/>
            <a:ext cx="87882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</a:defRPr>
            </a:pPr>
            <a:r>
              <a:rPr lang="en-IN" sz="2200" dirty="0"/>
              <a:t>Use CTEs to find bottleneck warehouses where processing time &gt; global average.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76B1BE-B65C-4D99-A5D9-A5B9B423C333}"/>
              </a:ext>
            </a:extLst>
          </p:cNvPr>
          <p:cNvSpPr/>
          <p:nvPr/>
        </p:nvSpPr>
        <p:spPr>
          <a:xfrm>
            <a:off x="274320" y="1820262"/>
            <a:ext cx="8605319" cy="3829100"/>
          </a:xfrm>
          <a:prstGeom prst="rect">
            <a:avLst/>
          </a:prstGeom>
          <a:solidFill>
            <a:srgbClr val="183680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2000" b="1">
                <a:solidFill>
                  <a:srgbClr val="FFCC00"/>
                </a:solidFill>
              </a:defRPr>
            </a:pPr>
            <a:r>
              <a:rPr dirty="0"/>
              <a:t>SQL Snippet:</a:t>
            </a:r>
            <a:endParaRPr lang="en-IN" dirty="0"/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WITH </a:t>
            </a:r>
            <a:r>
              <a:rPr lang="en-IN" sz="1100" dirty="0" err="1">
                <a:solidFill>
                  <a:srgbClr val="FFFFFF"/>
                </a:solidFill>
              </a:rPr>
              <a:t>global_avg</a:t>
            </a:r>
            <a:r>
              <a:rPr lang="en-IN" sz="1100" dirty="0">
                <a:solidFill>
                  <a:srgbClr val="FFFFFF"/>
                </a:solidFill>
              </a:rPr>
              <a:t> AS (  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	SELECT ROUND(AVG(</a:t>
            </a:r>
            <a:r>
              <a:rPr lang="en-IN" sz="1100" dirty="0" err="1">
                <a:solidFill>
                  <a:srgbClr val="FFFFFF"/>
                </a:solidFill>
              </a:rPr>
              <a:t>Average_Processing_Time_Min</a:t>
            </a:r>
            <a:r>
              <a:rPr lang="en-IN" sz="1100" dirty="0">
                <a:solidFill>
                  <a:srgbClr val="FFFFFF"/>
                </a:solidFill>
              </a:rPr>
              <a:t>),2) AS </a:t>
            </a:r>
            <a:r>
              <a:rPr lang="en-IN" sz="1100" dirty="0" err="1">
                <a:solidFill>
                  <a:srgbClr val="FFFFFF"/>
                </a:solidFill>
              </a:rPr>
              <a:t>global_avg_proc_min</a:t>
            </a:r>
            <a:r>
              <a:rPr lang="en-IN" sz="1100" dirty="0">
                <a:solidFill>
                  <a:srgbClr val="FFFFFF"/>
                </a:solidFill>
              </a:rPr>
              <a:t>  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	FROM warehouses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),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 err="1">
                <a:solidFill>
                  <a:srgbClr val="FFFFFF"/>
                </a:solidFill>
              </a:rPr>
              <a:t>wh_stats</a:t>
            </a:r>
            <a:r>
              <a:rPr lang="en-IN" sz="1100" dirty="0">
                <a:solidFill>
                  <a:srgbClr val="FFFFFF"/>
                </a:solidFill>
              </a:rPr>
              <a:t> AS (  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	SELECT    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		</a:t>
            </a:r>
            <a:r>
              <a:rPr lang="en-IN" sz="1100" dirty="0" err="1">
                <a:solidFill>
                  <a:srgbClr val="FFFFFF"/>
                </a:solidFill>
              </a:rPr>
              <a:t>Warehouse_ID</a:t>
            </a:r>
            <a:r>
              <a:rPr lang="en-IN" sz="1100" dirty="0">
                <a:solidFill>
                  <a:srgbClr val="FFFFFF"/>
                </a:solidFill>
              </a:rPr>
              <a:t>,    </a:t>
            </a:r>
            <a:r>
              <a:rPr lang="en-IN" sz="1100" dirty="0" err="1">
                <a:solidFill>
                  <a:srgbClr val="FFFFFF"/>
                </a:solidFill>
              </a:rPr>
              <a:t>Warehouse_Name</a:t>
            </a:r>
            <a:r>
              <a:rPr lang="en-IN" sz="1100" dirty="0">
                <a:solidFill>
                  <a:srgbClr val="FFFFFF"/>
                </a:solidFill>
              </a:rPr>
              <a:t>,    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		ROUND(AVG(</a:t>
            </a:r>
            <a:r>
              <a:rPr lang="en-IN" sz="1100" dirty="0" err="1">
                <a:solidFill>
                  <a:srgbClr val="FFFFFF"/>
                </a:solidFill>
              </a:rPr>
              <a:t>Average_Processing_Time_Min</a:t>
            </a:r>
            <a:r>
              <a:rPr lang="en-IN" sz="1100" dirty="0">
                <a:solidFill>
                  <a:srgbClr val="FFFFFF"/>
                </a:solidFill>
              </a:rPr>
              <a:t>),2) AS </a:t>
            </a:r>
            <a:r>
              <a:rPr lang="en-IN" sz="1100" dirty="0" err="1">
                <a:solidFill>
                  <a:srgbClr val="FFFFFF"/>
                </a:solidFill>
              </a:rPr>
              <a:t>avg_proc_min</a:t>
            </a:r>
            <a:r>
              <a:rPr lang="en-IN" sz="1100" dirty="0">
                <a:solidFill>
                  <a:srgbClr val="FFFFFF"/>
                </a:solidFill>
              </a:rPr>
              <a:t>,    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		COUNT(*) AS </a:t>
            </a:r>
            <a:r>
              <a:rPr lang="en-IN" sz="1100" dirty="0" err="1">
                <a:solidFill>
                  <a:srgbClr val="FFFFFF"/>
                </a:solidFill>
              </a:rPr>
              <a:t>warehouse_count_rows</a:t>
            </a:r>
            <a:r>
              <a:rPr lang="en-IN" sz="1100" dirty="0">
                <a:solidFill>
                  <a:srgbClr val="FFFFFF"/>
                </a:solidFill>
              </a:rPr>
              <a:t>  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	FROM warehouses  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	GROUP BY </a:t>
            </a:r>
            <a:r>
              <a:rPr lang="en-IN" sz="1100" dirty="0" err="1">
                <a:solidFill>
                  <a:srgbClr val="FFFFFF"/>
                </a:solidFill>
              </a:rPr>
              <a:t>Warehouse_ID</a:t>
            </a:r>
            <a:r>
              <a:rPr lang="en-IN" sz="1100" dirty="0">
                <a:solidFill>
                  <a:srgbClr val="FFFFFF"/>
                </a:solidFill>
              </a:rPr>
              <a:t>, </a:t>
            </a:r>
            <a:r>
              <a:rPr lang="en-IN" sz="1100" dirty="0" err="1">
                <a:solidFill>
                  <a:srgbClr val="FFFFFF"/>
                </a:solidFill>
              </a:rPr>
              <a:t>Warehouse_Name</a:t>
            </a:r>
            <a:endParaRPr lang="en-IN" sz="1100" dirty="0">
              <a:solidFill>
                <a:srgbClr val="FFFFFF"/>
              </a:solidFill>
            </a:endParaRP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)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SELECT  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	</a:t>
            </a:r>
            <a:r>
              <a:rPr lang="en-IN" sz="1100" dirty="0" err="1">
                <a:solidFill>
                  <a:srgbClr val="FFFFFF"/>
                </a:solidFill>
              </a:rPr>
              <a:t>s.Warehouse_ID</a:t>
            </a:r>
            <a:r>
              <a:rPr lang="en-IN" sz="1100" dirty="0">
                <a:solidFill>
                  <a:srgbClr val="FFFFFF"/>
                </a:solidFill>
              </a:rPr>
              <a:t>,  </a:t>
            </a:r>
            <a:r>
              <a:rPr lang="en-IN" sz="1100" dirty="0" err="1">
                <a:solidFill>
                  <a:srgbClr val="FFFFFF"/>
                </a:solidFill>
              </a:rPr>
              <a:t>s.Warehouse_Name</a:t>
            </a:r>
            <a:r>
              <a:rPr lang="en-IN" sz="1100" dirty="0">
                <a:solidFill>
                  <a:srgbClr val="FFFFFF"/>
                </a:solidFill>
              </a:rPr>
              <a:t>,  </a:t>
            </a:r>
            <a:r>
              <a:rPr lang="en-IN" sz="1100" dirty="0" err="1">
                <a:solidFill>
                  <a:srgbClr val="FFFFFF"/>
                </a:solidFill>
              </a:rPr>
              <a:t>s.avg_proc_min</a:t>
            </a:r>
            <a:r>
              <a:rPr lang="en-IN" sz="1100" dirty="0">
                <a:solidFill>
                  <a:srgbClr val="FFFFFF"/>
                </a:solidFill>
              </a:rPr>
              <a:t>,  </a:t>
            </a:r>
            <a:r>
              <a:rPr lang="en-IN" sz="1100" dirty="0" err="1">
                <a:solidFill>
                  <a:srgbClr val="FFFFFF"/>
                </a:solidFill>
              </a:rPr>
              <a:t>g.global_avg_proc_min</a:t>
            </a:r>
            <a:r>
              <a:rPr lang="en-IN" sz="1100" dirty="0">
                <a:solidFill>
                  <a:srgbClr val="FFFFFF"/>
                </a:solidFill>
              </a:rPr>
              <a:t>,  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	ROUND(100 * (</a:t>
            </a:r>
            <a:r>
              <a:rPr lang="en-IN" sz="1100" dirty="0" err="1">
                <a:solidFill>
                  <a:srgbClr val="FFFFFF"/>
                </a:solidFill>
              </a:rPr>
              <a:t>s.avg_proc_min</a:t>
            </a:r>
            <a:r>
              <a:rPr lang="en-IN" sz="1100" dirty="0">
                <a:solidFill>
                  <a:srgbClr val="FFFFFF"/>
                </a:solidFill>
              </a:rPr>
              <a:t> - </a:t>
            </a:r>
            <a:r>
              <a:rPr lang="en-IN" sz="1100" dirty="0" err="1">
                <a:solidFill>
                  <a:srgbClr val="FFFFFF"/>
                </a:solidFill>
              </a:rPr>
              <a:t>g.global_avg_proc_min</a:t>
            </a:r>
            <a:r>
              <a:rPr lang="en-IN" sz="1100" dirty="0">
                <a:solidFill>
                  <a:srgbClr val="FFFFFF"/>
                </a:solidFill>
              </a:rPr>
              <a:t>) / NULLIF(g.global_avg_proc_min,0),2) AS </a:t>
            </a:r>
            <a:r>
              <a:rPr lang="en-IN" sz="1100" dirty="0" err="1">
                <a:solidFill>
                  <a:srgbClr val="FFFFFF"/>
                </a:solidFill>
              </a:rPr>
              <a:t>pct_above_global</a:t>
            </a:r>
            <a:endParaRPr lang="en-IN" sz="1100" dirty="0">
              <a:solidFill>
                <a:srgbClr val="FFFFFF"/>
              </a:solidFill>
            </a:endParaRP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FROM </a:t>
            </a:r>
            <a:r>
              <a:rPr lang="en-IN" sz="1100" dirty="0" err="1">
                <a:solidFill>
                  <a:srgbClr val="FFFFFF"/>
                </a:solidFill>
              </a:rPr>
              <a:t>wh_stats</a:t>
            </a:r>
            <a:r>
              <a:rPr lang="en-IN" sz="1100" dirty="0">
                <a:solidFill>
                  <a:srgbClr val="FFFFFF"/>
                </a:solidFill>
              </a:rPr>
              <a:t> s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CROSS JOIN </a:t>
            </a:r>
            <a:r>
              <a:rPr lang="en-IN" sz="1100" dirty="0" err="1">
                <a:solidFill>
                  <a:srgbClr val="FFFFFF"/>
                </a:solidFill>
              </a:rPr>
              <a:t>global_avg</a:t>
            </a:r>
            <a:r>
              <a:rPr lang="en-IN" sz="1100" dirty="0">
                <a:solidFill>
                  <a:srgbClr val="FFFFFF"/>
                </a:solidFill>
              </a:rPr>
              <a:t> g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WHERE </a:t>
            </a:r>
            <a:r>
              <a:rPr lang="en-IN" sz="1100" dirty="0" err="1">
                <a:solidFill>
                  <a:srgbClr val="FFFFFF"/>
                </a:solidFill>
              </a:rPr>
              <a:t>s.avg_proc_min</a:t>
            </a:r>
            <a:r>
              <a:rPr lang="en-IN" sz="1100" dirty="0">
                <a:solidFill>
                  <a:srgbClr val="FFFFFF"/>
                </a:solidFill>
              </a:rPr>
              <a:t> &gt; </a:t>
            </a:r>
            <a:r>
              <a:rPr lang="en-IN" sz="1100" dirty="0" err="1">
                <a:solidFill>
                  <a:srgbClr val="FFFFFF"/>
                </a:solidFill>
              </a:rPr>
              <a:t>g.global_avg_proc_min</a:t>
            </a:r>
            <a:endParaRPr lang="en-IN" sz="1100" dirty="0">
              <a:solidFill>
                <a:srgbClr val="FFFFFF"/>
              </a:solidFill>
            </a:endParaRP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ORDER BY </a:t>
            </a:r>
            <a:r>
              <a:rPr lang="en-IN" sz="1100" dirty="0" err="1">
                <a:solidFill>
                  <a:srgbClr val="FFFFFF"/>
                </a:solidFill>
              </a:rPr>
              <a:t>pct_above_global</a:t>
            </a:r>
            <a:r>
              <a:rPr lang="en-IN" sz="1100" dirty="0">
                <a:solidFill>
                  <a:srgbClr val="FFFFFF"/>
                </a:solidFill>
              </a:rPr>
              <a:t> DESC;</a:t>
            </a:r>
            <a:endParaRPr sz="1100" dirty="0">
              <a:solidFill>
                <a:srgbClr val="FFFFFF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0B2EA8C-DBCF-E047-CC12-DF690731AFE1}"/>
              </a:ext>
            </a:extLst>
          </p:cNvPr>
          <p:cNvSpPr txBox="1"/>
          <p:nvPr/>
        </p:nvSpPr>
        <p:spPr>
          <a:xfrm>
            <a:off x="1556744" y="6427080"/>
            <a:ext cx="6030513" cy="307777"/>
          </a:xfrm>
          <a:prstGeom prst="rect">
            <a:avLst/>
          </a:prstGeom>
          <a:effectLst>
            <a:outerShdw blurRad="40000" dist="20000" dir="5400000" rotWithShape="0">
              <a:srgbClr val="000000">
                <a:alpha val="38000"/>
              </a:srgbClr>
            </a:outerShdw>
            <a:softEdge rad="31750"/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From this we can calculate total vs delayed shipments for each warehouse.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994A46-FB58-111F-4AD7-764F84241814}"/>
              </a:ext>
            </a:extLst>
          </p:cNvPr>
          <p:cNvSpPr txBox="1"/>
          <p:nvPr/>
        </p:nvSpPr>
        <p:spPr>
          <a:xfrm>
            <a:off x="1543991" y="5904922"/>
            <a:ext cx="6056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FF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Warehouse </a:t>
            </a:r>
            <a:r>
              <a:rPr lang="en-IN" dirty="0" err="1">
                <a:solidFill>
                  <a:srgbClr val="FFFF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avg</a:t>
            </a:r>
            <a:r>
              <a:rPr lang="en-IN" dirty="0">
                <a:solidFill>
                  <a:srgbClr val="FFFF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processing time &gt; global </a:t>
            </a:r>
            <a:r>
              <a:rPr lang="en-IN" dirty="0" err="1">
                <a:solidFill>
                  <a:srgbClr val="FFFF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avg</a:t>
            </a:r>
            <a:r>
              <a:rPr lang="en-IN" dirty="0">
                <a:solidFill>
                  <a:srgbClr val="FFFF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: CLICK HERE</a:t>
            </a:r>
            <a:endParaRPr lang="en-IN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50066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EE7395A-02F9-FDD8-62A9-DA880A86C2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9152" y="1858512"/>
            <a:ext cx="5225696" cy="3140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0304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7B796-4A6F-E97F-8C3E-5C143687F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FD605AF-2D00-934C-3E8F-0C02D8227D65}"/>
              </a:ext>
            </a:extLst>
          </p:cNvPr>
          <p:cNvSpPr txBox="1"/>
          <p:nvPr/>
        </p:nvSpPr>
        <p:spPr>
          <a:xfrm>
            <a:off x="274320" y="182880"/>
            <a:ext cx="8734635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rPr dirty="0"/>
              <a:t>Task </a:t>
            </a:r>
            <a:r>
              <a:rPr lang="en-IN" dirty="0"/>
              <a:t>4 – Warehouse optimisation insights  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777E1F-4686-5604-E852-DF06A96BB2FE}"/>
              </a:ext>
            </a:extLst>
          </p:cNvPr>
          <p:cNvSpPr txBox="1"/>
          <p:nvPr/>
        </p:nvSpPr>
        <p:spPr>
          <a:xfrm>
            <a:off x="274320" y="842883"/>
            <a:ext cx="731293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</a:defRPr>
            </a:pPr>
            <a:r>
              <a:rPr lang="en-IN" sz="2200" dirty="0"/>
              <a:t>Rank warehouses based on on-time delivery percentage.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11E27A-1AF4-F573-D646-D2385D139047}"/>
              </a:ext>
            </a:extLst>
          </p:cNvPr>
          <p:cNvSpPr/>
          <p:nvPr/>
        </p:nvSpPr>
        <p:spPr>
          <a:xfrm>
            <a:off x="274320" y="1349481"/>
            <a:ext cx="8605319" cy="2806059"/>
          </a:xfrm>
          <a:prstGeom prst="rect">
            <a:avLst/>
          </a:prstGeom>
          <a:solidFill>
            <a:srgbClr val="183680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2000" b="1">
                <a:solidFill>
                  <a:srgbClr val="FFCC00"/>
                </a:solidFill>
              </a:defRPr>
            </a:pPr>
            <a:r>
              <a:rPr dirty="0"/>
              <a:t>SQL Snippet:</a:t>
            </a:r>
            <a:endParaRPr lang="en-IN" dirty="0"/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SELECT  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	</a:t>
            </a:r>
            <a:r>
              <a:rPr lang="en-IN" sz="1100" dirty="0" err="1">
                <a:solidFill>
                  <a:srgbClr val="FFFFFF"/>
                </a:solidFill>
              </a:rPr>
              <a:t>Warehouse_ID</a:t>
            </a:r>
            <a:r>
              <a:rPr lang="en-IN" sz="1100" dirty="0">
                <a:solidFill>
                  <a:srgbClr val="FFFFFF"/>
                </a:solidFill>
              </a:rPr>
              <a:t>,  </a:t>
            </a:r>
            <a:r>
              <a:rPr lang="en-IN" sz="1100" dirty="0" err="1">
                <a:solidFill>
                  <a:srgbClr val="FFFFFF"/>
                </a:solidFill>
              </a:rPr>
              <a:t>Warehouse_Name</a:t>
            </a:r>
            <a:r>
              <a:rPr lang="en-IN" sz="1100" dirty="0">
                <a:solidFill>
                  <a:srgbClr val="FFFFFF"/>
                </a:solidFill>
              </a:rPr>
              <a:t>,  </a:t>
            </a:r>
            <a:r>
              <a:rPr lang="en-IN" sz="1100" dirty="0" err="1">
                <a:solidFill>
                  <a:srgbClr val="FFFFFF"/>
                </a:solidFill>
              </a:rPr>
              <a:t>total_delivered</a:t>
            </a:r>
            <a:r>
              <a:rPr lang="en-IN" sz="1100" dirty="0">
                <a:solidFill>
                  <a:srgbClr val="FFFFFF"/>
                </a:solidFill>
              </a:rPr>
              <a:t>,  </a:t>
            </a:r>
            <a:r>
              <a:rPr lang="en-IN" sz="1100" dirty="0" err="1">
                <a:solidFill>
                  <a:srgbClr val="FFFFFF"/>
                </a:solidFill>
              </a:rPr>
              <a:t>on_time_count</a:t>
            </a:r>
            <a:r>
              <a:rPr lang="en-IN" sz="1100" dirty="0">
                <a:solidFill>
                  <a:srgbClr val="FFFFFF"/>
                </a:solidFill>
              </a:rPr>
              <a:t>,  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	ROUND(100 * </a:t>
            </a:r>
            <a:r>
              <a:rPr lang="en-IN" sz="1100" dirty="0" err="1">
                <a:solidFill>
                  <a:srgbClr val="FFFFFF"/>
                </a:solidFill>
              </a:rPr>
              <a:t>on_time_count</a:t>
            </a:r>
            <a:r>
              <a:rPr lang="en-IN" sz="1100" dirty="0">
                <a:solidFill>
                  <a:srgbClr val="FFFFFF"/>
                </a:solidFill>
              </a:rPr>
              <a:t> / NULLIF(total_delivered,0),2) AS </a:t>
            </a:r>
            <a:r>
              <a:rPr lang="en-IN" sz="1100" dirty="0" err="1">
                <a:solidFill>
                  <a:srgbClr val="FFFFFF"/>
                </a:solidFill>
              </a:rPr>
              <a:t>on_time_pct</a:t>
            </a:r>
            <a:r>
              <a:rPr lang="en-IN" sz="1100" dirty="0">
                <a:solidFill>
                  <a:srgbClr val="FFFFFF"/>
                </a:solidFill>
              </a:rPr>
              <a:t>,  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	RANK() OVER (ORDER BY ROUND(100 * </a:t>
            </a:r>
            <a:r>
              <a:rPr lang="en-IN" sz="1100" dirty="0" err="1">
                <a:solidFill>
                  <a:srgbClr val="FFFFFF"/>
                </a:solidFill>
              </a:rPr>
              <a:t>on_time_count</a:t>
            </a:r>
            <a:r>
              <a:rPr lang="en-IN" sz="1100" dirty="0">
                <a:solidFill>
                  <a:srgbClr val="FFFFFF"/>
                </a:solidFill>
              </a:rPr>
              <a:t> / NULLIF(total_delivered,0),2) DESC) AS </a:t>
            </a:r>
            <a:r>
              <a:rPr lang="en-IN" sz="1100" dirty="0" err="1">
                <a:solidFill>
                  <a:srgbClr val="FFFFFF"/>
                </a:solidFill>
              </a:rPr>
              <a:t>on_time_rank</a:t>
            </a:r>
            <a:endParaRPr lang="en-IN" sz="1100" dirty="0">
              <a:solidFill>
                <a:srgbClr val="FFFFFF"/>
              </a:solidFill>
            </a:endParaRP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FROM (  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	SELECT    </a:t>
            </a:r>
            <a:r>
              <a:rPr lang="en-IN" sz="1100" dirty="0" err="1">
                <a:solidFill>
                  <a:srgbClr val="FFFFFF"/>
                </a:solidFill>
              </a:rPr>
              <a:t>o.Warehouse_ID</a:t>
            </a:r>
            <a:r>
              <a:rPr lang="en-IN" sz="1100" dirty="0">
                <a:solidFill>
                  <a:srgbClr val="FFFFFF"/>
                </a:solidFill>
              </a:rPr>
              <a:t>,    </a:t>
            </a:r>
            <a:r>
              <a:rPr lang="en-IN" sz="1100" dirty="0" err="1">
                <a:solidFill>
                  <a:srgbClr val="FFFFFF"/>
                </a:solidFill>
              </a:rPr>
              <a:t>w.Warehouse_Name</a:t>
            </a:r>
            <a:r>
              <a:rPr lang="en-IN" sz="1100" dirty="0">
                <a:solidFill>
                  <a:srgbClr val="FFFFFF"/>
                </a:solidFill>
              </a:rPr>
              <a:t>,    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	SUM(CASE WHEN </a:t>
            </a:r>
            <a:r>
              <a:rPr lang="en-IN" sz="1100" dirty="0" err="1">
                <a:solidFill>
                  <a:srgbClr val="FFFFFF"/>
                </a:solidFill>
              </a:rPr>
              <a:t>o.Actual_Delivery_Date</a:t>
            </a:r>
            <a:r>
              <a:rPr lang="en-IN" sz="1100" dirty="0">
                <a:solidFill>
                  <a:srgbClr val="FFFFFF"/>
                </a:solidFill>
              </a:rPr>
              <a:t> IS NOT NULL THEN 1 ELSE 0 END) AS </a:t>
            </a:r>
            <a:r>
              <a:rPr lang="en-IN" sz="1100" dirty="0" err="1">
                <a:solidFill>
                  <a:srgbClr val="FFFFFF"/>
                </a:solidFill>
              </a:rPr>
              <a:t>total_delivered</a:t>
            </a:r>
            <a:r>
              <a:rPr lang="en-IN" sz="1100" dirty="0">
                <a:solidFill>
                  <a:srgbClr val="FFFFFF"/>
                </a:solidFill>
              </a:rPr>
              <a:t>,    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	SUM(CASE WHEN </a:t>
            </a:r>
            <a:r>
              <a:rPr lang="en-IN" sz="1100" dirty="0" err="1">
                <a:solidFill>
                  <a:srgbClr val="FFFFFF"/>
                </a:solidFill>
              </a:rPr>
              <a:t>o.Actual_Delivery_Date</a:t>
            </a:r>
            <a:r>
              <a:rPr lang="en-IN" sz="1100" dirty="0">
                <a:solidFill>
                  <a:srgbClr val="FFFFFF"/>
                </a:solidFill>
              </a:rPr>
              <a:t> IS NOT NULL AND </a:t>
            </a:r>
            <a:r>
              <a:rPr lang="en-IN" sz="1100" dirty="0" err="1">
                <a:solidFill>
                  <a:srgbClr val="FFFFFF"/>
                </a:solidFill>
              </a:rPr>
              <a:t>o.Actual_Delivery_Date</a:t>
            </a:r>
            <a:r>
              <a:rPr lang="en-IN" sz="1100" dirty="0">
                <a:solidFill>
                  <a:srgbClr val="FFFFFF"/>
                </a:solidFill>
              </a:rPr>
              <a:t> &lt;= </a:t>
            </a:r>
            <a:r>
              <a:rPr lang="en-IN" sz="1100" dirty="0" err="1">
                <a:solidFill>
                  <a:srgbClr val="FFFFFF"/>
                </a:solidFill>
              </a:rPr>
              <a:t>o.Expected_Delivery_Date</a:t>
            </a:r>
            <a:r>
              <a:rPr lang="en-IN" sz="1100" dirty="0">
                <a:solidFill>
                  <a:srgbClr val="FFFFFF"/>
                </a:solidFill>
              </a:rPr>
              <a:t> THEN 1 ELSE 0 END) 		AS </a:t>
            </a:r>
            <a:r>
              <a:rPr lang="en-IN" sz="1100" dirty="0" err="1">
                <a:solidFill>
                  <a:srgbClr val="FFFFFF"/>
                </a:solidFill>
              </a:rPr>
              <a:t>on_time_count</a:t>
            </a:r>
            <a:r>
              <a:rPr lang="en-IN" sz="1100" dirty="0">
                <a:solidFill>
                  <a:srgbClr val="FFFFFF"/>
                </a:solidFill>
              </a:rPr>
              <a:t>  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FROM orders o  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LEFT JOIN warehouses w ON </a:t>
            </a:r>
            <a:r>
              <a:rPr lang="en-IN" sz="1100" dirty="0" err="1">
                <a:solidFill>
                  <a:srgbClr val="FFFFFF"/>
                </a:solidFill>
              </a:rPr>
              <a:t>o.Warehouse_ID</a:t>
            </a:r>
            <a:r>
              <a:rPr lang="en-IN" sz="1100" dirty="0">
                <a:solidFill>
                  <a:srgbClr val="FFFFFF"/>
                </a:solidFill>
              </a:rPr>
              <a:t> = </a:t>
            </a:r>
            <a:r>
              <a:rPr lang="en-IN" sz="1100" dirty="0" err="1">
                <a:solidFill>
                  <a:srgbClr val="FFFFFF"/>
                </a:solidFill>
              </a:rPr>
              <a:t>w.Warehouse_ID</a:t>
            </a:r>
            <a:r>
              <a:rPr lang="en-IN" sz="1100" dirty="0">
                <a:solidFill>
                  <a:srgbClr val="FFFFFF"/>
                </a:solidFill>
              </a:rPr>
              <a:t>  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GROUP BY </a:t>
            </a:r>
            <a:r>
              <a:rPr lang="en-IN" sz="1100" dirty="0" err="1">
                <a:solidFill>
                  <a:srgbClr val="FFFFFF"/>
                </a:solidFill>
              </a:rPr>
              <a:t>o.Warehouse_ID</a:t>
            </a:r>
            <a:r>
              <a:rPr lang="en-IN" sz="1100" dirty="0">
                <a:solidFill>
                  <a:srgbClr val="FFFFFF"/>
                </a:solidFill>
              </a:rPr>
              <a:t>, </a:t>
            </a:r>
            <a:r>
              <a:rPr lang="en-IN" sz="1100" dirty="0" err="1">
                <a:solidFill>
                  <a:srgbClr val="FFFFFF"/>
                </a:solidFill>
              </a:rPr>
              <a:t>w.Warehouse_Name</a:t>
            </a:r>
            <a:r>
              <a:rPr lang="en-IN" sz="1100" dirty="0">
                <a:solidFill>
                  <a:srgbClr val="FFFFFF"/>
                </a:solidFill>
              </a:rPr>
              <a:t>) t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ORDER BY </a:t>
            </a:r>
            <a:r>
              <a:rPr lang="en-IN" sz="1100" dirty="0" err="1">
                <a:solidFill>
                  <a:srgbClr val="FFFFFF"/>
                </a:solidFill>
              </a:rPr>
              <a:t>on_time_pct</a:t>
            </a:r>
            <a:r>
              <a:rPr lang="en-IN" sz="1100" dirty="0">
                <a:solidFill>
                  <a:srgbClr val="FFFFFF"/>
                </a:solidFill>
              </a:rPr>
              <a:t> DESC;</a:t>
            </a:r>
            <a:endParaRPr sz="1100" dirty="0">
              <a:solidFill>
                <a:srgbClr val="FFFFFF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DADA606-F25B-4BC3-EE80-92C1BE6FDAE0}"/>
              </a:ext>
            </a:extLst>
          </p:cNvPr>
          <p:cNvSpPr txBox="1"/>
          <p:nvPr/>
        </p:nvSpPr>
        <p:spPr>
          <a:xfrm>
            <a:off x="910553" y="6427080"/>
            <a:ext cx="7322895" cy="307777"/>
          </a:xfrm>
          <a:prstGeom prst="rect">
            <a:avLst/>
          </a:prstGeom>
          <a:effectLst>
            <a:outerShdw blurRad="40000" dist="20000" dir="5400000" rotWithShape="0">
              <a:srgbClr val="000000">
                <a:alpha val="38000"/>
              </a:srgbClr>
            </a:outerShdw>
            <a:softEdge rad="31750"/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From this we can obtain rank of warehouse their corresponding on-time deliveries.</a:t>
            </a:r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D5405F91-348A-A5B0-B794-CDE9EBBEFA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622971"/>
              </p:ext>
            </p:extLst>
          </p:nvPr>
        </p:nvGraphicFramePr>
        <p:xfrm>
          <a:off x="1117387" y="4231250"/>
          <a:ext cx="7048500" cy="21958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7048278" imgH="2314575" progId="Excel.Sheet.12">
                  <p:embed/>
                </p:oleObj>
              </mc:Choice>
              <mc:Fallback>
                <p:oleObj name="Worksheet" r:id="rId2" imgW="7048278" imgH="2314575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117387" y="4231250"/>
                        <a:ext cx="7048500" cy="219582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655456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C2ABE6-BC6B-7200-7158-1FB8DF09D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37B3F28-1B58-0FF6-9355-DE1E6BFF9780}"/>
              </a:ext>
            </a:extLst>
          </p:cNvPr>
          <p:cNvSpPr txBox="1"/>
          <p:nvPr/>
        </p:nvSpPr>
        <p:spPr>
          <a:xfrm>
            <a:off x="274320" y="182880"/>
            <a:ext cx="7856446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rPr dirty="0"/>
              <a:t>Task </a:t>
            </a:r>
            <a:r>
              <a:rPr lang="en-IN" dirty="0"/>
              <a:t>5 – Delivery agent Performance  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00AEED-A357-FEC1-CA81-2E0AB070650D}"/>
              </a:ext>
            </a:extLst>
          </p:cNvPr>
          <p:cNvSpPr txBox="1"/>
          <p:nvPr/>
        </p:nvSpPr>
        <p:spPr>
          <a:xfrm>
            <a:off x="274320" y="842883"/>
            <a:ext cx="731293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</a:defRPr>
            </a:pPr>
            <a:r>
              <a:rPr lang="en-IN" sz="2200" dirty="0"/>
              <a:t>Rank agents (per route) by on-time delivery percentage :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935D19-5FE1-8D73-B412-0C4EE4107222}"/>
              </a:ext>
            </a:extLst>
          </p:cNvPr>
          <p:cNvSpPr/>
          <p:nvPr/>
        </p:nvSpPr>
        <p:spPr>
          <a:xfrm>
            <a:off x="274320" y="1349481"/>
            <a:ext cx="8605319" cy="2806059"/>
          </a:xfrm>
          <a:prstGeom prst="rect">
            <a:avLst/>
          </a:prstGeom>
          <a:solidFill>
            <a:srgbClr val="183680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2000" b="1">
                <a:solidFill>
                  <a:srgbClr val="FFCC00"/>
                </a:solidFill>
              </a:defRPr>
            </a:pPr>
            <a:r>
              <a:rPr dirty="0"/>
              <a:t>SQL Snippet:</a:t>
            </a:r>
            <a:endParaRPr lang="en-IN" dirty="0"/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WITH </a:t>
            </a:r>
            <a:r>
              <a:rPr lang="en-IN" sz="1100" dirty="0" err="1">
                <a:solidFill>
                  <a:srgbClr val="FFFFFF"/>
                </a:solidFill>
              </a:rPr>
              <a:t>agent_route_stats</a:t>
            </a:r>
            <a:r>
              <a:rPr lang="en-IN" sz="1100" dirty="0">
                <a:solidFill>
                  <a:srgbClr val="FFFFFF"/>
                </a:solidFill>
              </a:rPr>
              <a:t> AS (  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SELECT    </a:t>
            </a:r>
            <a:r>
              <a:rPr lang="en-IN" sz="1100" dirty="0" err="1">
                <a:solidFill>
                  <a:srgbClr val="FFFFFF"/>
                </a:solidFill>
              </a:rPr>
              <a:t>o.Route_ID</a:t>
            </a:r>
            <a:r>
              <a:rPr lang="en-IN" sz="1100" dirty="0">
                <a:solidFill>
                  <a:srgbClr val="FFFFFF"/>
                </a:solidFill>
              </a:rPr>
              <a:t>,    </a:t>
            </a:r>
            <a:r>
              <a:rPr lang="en-IN" sz="1100" dirty="0" err="1">
                <a:solidFill>
                  <a:srgbClr val="FFFFFF"/>
                </a:solidFill>
              </a:rPr>
              <a:t>o.Agent_ID</a:t>
            </a:r>
            <a:r>
              <a:rPr lang="en-IN" sz="1100" dirty="0">
                <a:solidFill>
                  <a:srgbClr val="FFFFFF"/>
                </a:solidFill>
              </a:rPr>
              <a:t>,    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	COUNT(*) AS </a:t>
            </a:r>
            <a:r>
              <a:rPr lang="en-IN" sz="1100" dirty="0" err="1">
                <a:solidFill>
                  <a:srgbClr val="FFFFFF"/>
                </a:solidFill>
              </a:rPr>
              <a:t>total_orders</a:t>
            </a:r>
            <a:r>
              <a:rPr lang="en-IN" sz="1100" dirty="0">
                <a:solidFill>
                  <a:srgbClr val="FFFFFF"/>
                </a:solidFill>
              </a:rPr>
              <a:t>,    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	SUM(CASE WHEN </a:t>
            </a:r>
            <a:r>
              <a:rPr lang="en-IN" sz="1100" dirty="0" err="1">
                <a:solidFill>
                  <a:srgbClr val="FFFFFF"/>
                </a:solidFill>
              </a:rPr>
              <a:t>o.Actual_Delivery_Date</a:t>
            </a:r>
            <a:r>
              <a:rPr lang="en-IN" sz="1100" dirty="0">
                <a:solidFill>
                  <a:srgbClr val="FFFFFF"/>
                </a:solidFill>
              </a:rPr>
              <a:t> IS NOT NULL AND </a:t>
            </a:r>
            <a:r>
              <a:rPr lang="en-IN" sz="1100" dirty="0" err="1">
                <a:solidFill>
                  <a:srgbClr val="FFFFFF"/>
                </a:solidFill>
              </a:rPr>
              <a:t>o.Actual_Delivery_Date</a:t>
            </a:r>
            <a:r>
              <a:rPr lang="en-IN" sz="1100" dirty="0">
                <a:solidFill>
                  <a:srgbClr val="FFFFFF"/>
                </a:solidFill>
              </a:rPr>
              <a:t> &lt;= </a:t>
            </a:r>
            <a:r>
              <a:rPr lang="en-IN" sz="1100" dirty="0" err="1">
                <a:solidFill>
                  <a:srgbClr val="FFFFFF"/>
                </a:solidFill>
              </a:rPr>
              <a:t>o.Expected_Delivery_Date</a:t>
            </a:r>
            <a:r>
              <a:rPr lang="en-IN" sz="1100" dirty="0">
                <a:solidFill>
                  <a:srgbClr val="FFFFFF"/>
                </a:solidFill>
              </a:rPr>
              <a:t> THEN 1 ELSE 0 END) 		AS </a:t>
            </a:r>
            <a:r>
              <a:rPr lang="en-IN" sz="1100" dirty="0" err="1">
                <a:solidFill>
                  <a:srgbClr val="FFFFFF"/>
                </a:solidFill>
              </a:rPr>
              <a:t>on_time_orders</a:t>
            </a:r>
            <a:r>
              <a:rPr lang="en-IN" sz="1100" dirty="0">
                <a:solidFill>
                  <a:srgbClr val="FFFFFF"/>
                </a:solidFill>
              </a:rPr>
              <a:t>,    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	ROUND(100 * SUM(CASE WHEN </a:t>
            </a:r>
            <a:r>
              <a:rPr lang="en-IN" sz="1100" dirty="0" err="1">
                <a:solidFill>
                  <a:srgbClr val="FFFFFF"/>
                </a:solidFill>
              </a:rPr>
              <a:t>o.Actual_Delivery_Date</a:t>
            </a:r>
            <a:r>
              <a:rPr lang="en-IN" sz="1100" dirty="0">
                <a:solidFill>
                  <a:srgbClr val="FFFFFF"/>
                </a:solidFill>
              </a:rPr>
              <a:t> IS NOT NULL AND </a:t>
            </a:r>
            <a:r>
              <a:rPr lang="en-IN" sz="1100" dirty="0" err="1">
                <a:solidFill>
                  <a:srgbClr val="FFFFFF"/>
                </a:solidFill>
              </a:rPr>
              <a:t>o.Actual_Delivery_Date</a:t>
            </a:r>
            <a:r>
              <a:rPr lang="en-IN" sz="1100" dirty="0">
                <a:solidFill>
                  <a:srgbClr val="FFFFFF"/>
                </a:solidFill>
              </a:rPr>
              <a:t> &lt;= </a:t>
            </a:r>
            <a:r>
              <a:rPr lang="en-IN" sz="1100" dirty="0" err="1">
                <a:solidFill>
                  <a:srgbClr val="FFFFFF"/>
                </a:solidFill>
              </a:rPr>
              <a:t>o.Expected_Delivery_Date</a:t>
            </a:r>
            <a:r>
              <a:rPr lang="en-IN" sz="1100" dirty="0">
                <a:solidFill>
                  <a:srgbClr val="FFFFFF"/>
                </a:solidFill>
              </a:rPr>
              <a:t> THEN 1 		ELSE 0 END) / COUNT(*), 2) AS </a:t>
            </a:r>
            <a:r>
              <a:rPr lang="en-IN" sz="1100" dirty="0" err="1">
                <a:solidFill>
                  <a:srgbClr val="FFFFFF"/>
                </a:solidFill>
              </a:rPr>
              <a:t>on_time_pct</a:t>
            </a:r>
            <a:r>
              <a:rPr lang="en-IN" sz="1100" dirty="0">
                <a:solidFill>
                  <a:srgbClr val="FFFFFF"/>
                </a:solidFill>
              </a:rPr>
              <a:t>  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FROM orders o  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GROUP BY </a:t>
            </a:r>
            <a:r>
              <a:rPr lang="en-IN" sz="1100" dirty="0" err="1">
                <a:solidFill>
                  <a:srgbClr val="FFFFFF"/>
                </a:solidFill>
              </a:rPr>
              <a:t>o.Route_ID</a:t>
            </a:r>
            <a:r>
              <a:rPr lang="en-IN" sz="1100" dirty="0">
                <a:solidFill>
                  <a:srgbClr val="FFFFFF"/>
                </a:solidFill>
              </a:rPr>
              <a:t>, </a:t>
            </a:r>
            <a:r>
              <a:rPr lang="en-IN" sz="1100" dirty="0" err="1">
                <a:solidFill>
                  <a:srgbClr val="FFFFFF"/>
                </a:solidFill>
              </a:rPr>
              <a:t>o.Agent_ID</a:t>
            </a:r>
            <a:endParaRPr lang="en-IN" sz="1100" dirty="0">
              <a:solidFill>
                <a:srgbClr val="FFFFFF"/>
              </a:solidFill>
            </a:endParaRP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)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SELECT  </a:t>
            </a:r>
            <a:r>
              <a:rPr lang="en-IN" sz="1100" dirty="0" err="1">
                <a:solidFill>
                  <a:srgbClr val="FFFFFF"/>
                </a:solidFill>
              </a:rPr>
              <a:t>Route_ID</a:t>
            </a:r>
            <a:r>
              <a:rPr lang="en-IN" sz="1100" dirty="0">
                <a:solidFill>
                  <a:srgbClr val="FFFFFF"/>
                </a:solidFill>
              </a:rPr>
              <a:t>,  </a:t>
            </a:r>
            <a:r>
              <a:rPr lang="en-IN" sz="1100" dirty="0" err="1">
                <a:solidFill>
                  <a:srgbClr val="FFFFFF"/>
                </a:solidFill>
              </a:rPr>
              <a:t>Agent_ID</a:t>
            </a:r>
            <a:r>
              <a:rPr lang="en-IN" sz="1100" dirty="0">
                <a:solidFill>
                  <a:srgbClr val="FFFFFF"/>
                </a:solidFill>
              </a:rPr>
              <a:t>,  </a:t>
            </a:r>
            <a:r>
              <a:rPr lang="en-IN" sz="1100" dirty="0" err="1">
                <a:solidFill>
                  <a:srgbClr val="FFFFFF"/>
                </a:solidFill>
              </a:rPr>
              <a:t>total_orders</a:t>
            </a:r>
            <a:r>
              <a:rPr lang="en-IN" sz="1100" dirty="0">
                <a:solidFill>
                  <a:srgbClr val="FFFFFF"/>
                </a:solidFill>
              </a:rPr>
              <a:t>,  </a:t>
            </a:r>
            <a:r>
              <a:rPr lang="en-IN" sz="1100" dirty="0" err="1">
                <a:solidFill>
                  <a:srgbClr val="FFFFFF"/>
                </a:solidFill>
              </a:rPr>
              <a:t>on_time_orders</a:t>
            </a:r>
            <a:r>
              <a:rPr lang="en-IN" sz="1100" dirty="0">
                <a:solidFill>
                  <a:srgbClr val="FFFFFF"/>
                </a:solidFill>
              </a:rPr>
              <a:t>,  </a:t>
            </a:r>
            <a:r>
              <a:rPr lang="en-IN" sz="1100" dirty="0" err="1">
                <a:solidFill>
                  <a:srgbClr val="FFFFFF"/>
                </a:solidFill>
              </a:rPr>
              <a:t>on_time_pct</a:t>
            </a:r>
            <a:r>
              <a:rPr lang="en-IN" sz="1100" dirty="0">
                <a:solidFill>
                  <a:srgbClr val="FFFFFF"/>
                </a:solidFill>
              </a:rPr>
              <a:t>,  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	RANK() OVER (PARTITION BY </a:t>
            </a:r>
            <a:r>
              <a:rPr lang="en-IN" sz="1100" dirty="0" err="1">
                <a:solidFill>
                  <a:srgbClr val="FFFFFF"/>
                </a:solidFill>
              </a:rPr>
              <a:t>Route_ID</a:t>
            </a:r>
            <a:r>
              <a:rPr lang="en-IN" sz="1100" dirty="0">
                <a:solidFill>
                  <a:srgbClr val="FFFFFF"/>
                </a:solidFill>
              </a:rPr>
              <a:t> ORDER BY </a:t>
            </a:r>
            <a:r>
              <a:rPr lang="en-IN" sz="1100" dirty="0" err="1">
                <a:solidFill>
                  <a:srgbClr val="FFFFFF"/>
                </a:solidFill>
              </a:rPr>
              <a:t>on_time_pct</a:t>
            </a:r>
            <a:r>
              <a:rPr lang="en-IN" sz="1100" dirty="0">
                <a:solidFill>
                  <a:srgbClr val="FFFFFF"/>
                </a:solidFill>
              </a:rPr>
              <a:t> DESC) AS </a:t>
            </a:r>
            <a:r>
              <a:rPr lang="en-IN" sz="1100" dirty="0" err="1">
                <a:solidFill>
                  <a:srgbClr val="FFFFFF"/>
                </a:solidFill>
              </a:rPr>
              <a:t>route_agent_rank</a:t>
            </a:r>
            <a:endParaRPr lang="en-IN" sz="1100" dirty="0">
              <a:solidFill>
                <a:srgbClr val="FFFFFF"/>
              </a:solidFill>
            </a:endParaRP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FROM </a:t>
            </a:r>
            <a:r>
              <a:rPr lang="en-IN" sz="1100" dirty="0" err="1">
                <a:solidFill>
                  <a:srgbClr val="FFFFFF"/>
                </a:solidFill>
              </a:rPr>
              <a:t>agent_route_stats</a:t>
            </a:r>
            <a:endParaRPr lang="en-IN" sz="1100" dirty="0">
              <a:solidFill>
                <a:srgbClr val="FFFFFF"/>
              </a:solidFill>
            </a:endParaRP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ORDER BY </a:t>
            </a:r>
            <a:r>
              <a:rPr lang="en-IN" sz="1100" dirty="0" err="1">
                <a:solidFill>
                  <a:srgbClr val="FFFFFF"/>
                </a:solidFill>
              </a:rPr>
              <a:t>Route_ID</a:t>
            </a:r>
            <a:r>
              <a:rPr lang="en-IN" sz="1100" dirty="0">
                <a:solidFill>
                  <a:srgbClr val="FFFFFF"/>
                </a:solidFill>
              </a:rPr>
              <a:t>, </a:t>
            </a:r>
            <a:r>
              <a:rPr lang="en-IN" sz="1100" dirty="0" err="1">
                <a:solidFill>
                  <a:srgbClr val="FFFFFF"/>
                </a:solidFill>
              </a:rPr>
              <a:t>route_agent_rank</a:t>
            </a:r>
            <a:r>
              <a:rPr lang="en-IN" sz="1100" dirty="0">
                <a:solidFill>
                  <a:srgbClr val="FFFFFF"/>
                </a:solidFill>
              </a:rPr>
              <a:t>;</a:t>
            </a:r>
            <a:endParaRPr sz="1100" dirty="0">
              <a:solidFill>
                <a:srgbClr val="FFFFFF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4A8AD8-8053-D33A-FE74-44D0DBE7FC11}"/>
              </a:ext>
            </a:extLst>
          </p:cNvPr>
          <p:cNvSpPr txBox="1"/>
          <p:nvPr/>
        </p:nvSpPr>
        <p:spPr>
          <a:xfrm>
            <a:off x="1880216" y="6217179"/>
            <a:ext cx="5383568" cy="307777"/>
          </a:xfrm>
          <a:prstGeom prst="rect">
            <a:avLst/>
          </a:prstGeom>
          <a:effectLst>
            <a:outerShdw blurRad="40000" dist="20000" dir="5400000" rotWithShape="0">
              <a:srgbClr val="000000">
                <a:alpha val="38000"/>
              </a:srgbClr>
            </a:outerShdw>
            <a:softEdge rad="31750"/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From this we can obtain rank of agents based on-time deliveries.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2615A9-B2A6-8E44-61A6-8296645C5ADE}"/>
              </a:ext>
            </a:extLst>
          </p:cNvPr>
          <p:cNvSpPr txBox="1"/>
          <p:nvPr/>
        </p:nvSpPr>
        <p:spPr>
          <a:xfrm>
            <a:off x="2014056" y="4275701"/>
            <a:ext cx="5115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FF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Agent rank based on on-time </a:t>
            </a:r>
            <a:r>
              <a:rPr lang="en-IN" dirty="0" err="1">
                <a:solidFill>
                  <a:srgbClr val="FFFF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deliveires</a:t>
            </a:r>
            <a:r>
              <a:rPr lang="en-IN" dirty="0">
                <a:solidFill>
                  <a:srgbClr val="FFFF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: CLICK HERE</a:t>
            </a:r>
            <a:endParaRPr lang="en-IN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40079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2D776A-64F0-9430-4843-42389F1C7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AE676D9-E9E1-88FA-4BD7-4694C7B240BB}"/>
              </a:ext>
            </a:extLst>
          </p:cNvPr>
          <p:cNvSpPr txBox="1"/>
          <p:nvPr/>
        </p:nvSpPr>
        <p:spPr>
          <a:xfrm>
            <a:off x="274320" y="182880"/>
            <a:ext cx="7856446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rPr dirty="0"/>
              <a:t>Task </a:t>
            </a:r>
            <a:r>
              <a:rPr lang="en-IN" dirty="0"/>
              <a:t>5 – Delivery agent Performance  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3CC7CB-1CDB-A314-22F4-1E41FEAB64D9}"/>
              </a:ext>
            </a:extLst>
          </p:cNvPr>
          <p:cNvSpPr txBox="1"/>
          <p:nvPr/>
        </p:nvSpPr>
        <p:spPr>
          <a:xfrm>
            <a:off x="274320" y="842883"/>
            <a:ext cx="731293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</a:defRPr>
            </a:pPr>
            <a:r>
              <a:rPr lang="en-IN" sz="2200" dirty="0"/>
              <a:t>Find agents with on-time % &lt; 80% :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B839C6B-6CCC-E468-4D8E-3947719F06B9}"/>
              </a:ext>
            </a:extLst>
          </p:cNvPr>
          <p:cNvSpPr/>
          <p:nvPr/>
        </p:nvSpPr>
        <p:spPr>
          <a:xfrm>
            <a:off x="274320" y="1349481"/>
            <a:ext cx="8605319" cy="2376699"/>
          </a:xfrm>
          <a:prstGeom prst="rect">
            <a:avLst/>
          </a:prstGeom>
          <a:solidFill>
            <a:srgbClr val="183680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2000" b="1">
                <a:solidFill>
                  <a:srgbClr val="FFCC00"/>
                </a:solidFill>
              </a:defRPr>
            </a:pPr>
            <a:r>
              <a:rPr dirty="0"/>
              <a:t>SQL Snippet:</a:t>
            </a:r>
            <a:endParaRPr lang="en-IN" dirty="0"/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SELECT  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	</a:t>
            </a:r>
            <a:r>
              <a:rPr lang="en-IN" sz="1100" dirty="0" err="1">
                <a:solidFill>
                  <a:srgbClr val="FFFFFF"/>
                </a:solidFill>
              </a:rPr>
              <a:t>Agent_ID</a:t>
            </a:r>
            <a:r>
              <a:rPr lang="en-IN" sz="1100" dirty="0">
                <a:solidFill>
                  <a:srgbClr val="FFFFFF"/>
                </a:solidFill>
              </a:rPr>
              <a:t>,  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	COUNT(*) AS </a:t>
            </a:r>
            <a:r>
              <a:rPr lang="en-IN" sz="1100" dirty="0" err="1">
                <a:solidFill>
                  <a:srgbClr val="FFFFFF"/>
                </a:solidFill>
              </a:rPr>
              <a:t>total_orders</a:t>
            </a:r>
            <a:r>
              <a:rPr lang="en-IN" sz="1100" dirty="0">
                <a:solidFill>
                  <a:srgbClr val="FFFFFF"/>
                </a:solidFill>
              </a:rPr>
              <a:t>, 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	SUM(CASE WHEN </a:t>
            </a:r>
            <a:r>
              <a:rPr lang="en-IN" sz="1100" dirty="0" err="1">
                <a:solidFill>
                  <a:srgbClr val="FFFFFF"/>
                </a:solidFill>
              </a:rPr>
              <a:t>Actual_Delivery_Date</a:t>
            </a:r>
            <a:r>
              <a:rPr lang="en-IN" sz="1100" dirty="0">
                <a:solidFill>
                  <a:srgbClr val="FFFFFF"/>
                </a:solidFill>
              </a:rPr>
              <a:t> IS NOT NULL AND </a:t>
            </a:r>
            <a:r>
              <a:rPr lang="en-IN" sz="1100" dirty="0" err="1">
                <a:solidFill>
                  <a:srgbClr val="FFFFFF"/>
                </a:solidFill>
              </a:rPr>
              <a:t>Actual_Delivery_Date</a:t>
            </a:r>
            <a:r>
              <a:rPr lang="en-IN" sz="1100" dirty="0">
                <a:solidFill>
                  <a:srgbClr val="FFFFFF"/>
                </a:solidFill>
              </a:rPr>
              <a:t> &lt;= </a:t>
            </a:r>
            <a:r>
              <a:rPr lang="en-IN" sz="1100" dirty="0" err="1">
                <a:solidFill>
                  <a:srgbClr val="FFFFFF"/>
                </a:solidFill>
              </a:rPr>
              <a:t>Expected_Delivery_Date</a:t>
            </a:r>
            <a:r>
              <a:rPr lang="en-IN" sz="1100" dirty="0">
                <a:solidFill>
                  <a:srgbClr val="FFFFFF"/>
                </a:solidFill>
              </a:rPr>
              <a:t> THEN 1 ELSE 0 END) AS 			</a:t>
            </a:r>
            <a:r>
              <a:rPr lang="en-IN" sz="1100" dirty="0" err="1">
                <a:solidFill>
                  <a:srgbClr val="FFFFFF"/>
                </a:solidFill>
              </a:rPr>
              <a:t>on_time_orders</a:t>
            </a:r>
            <a:r>
              <a:rPr lang="en-IN" sz="1100" dirty="0">
                <a:solidFill>
                  <a:srgbClr val="FFFFFF"/>
                </a:solidFill>
              </a:rPr>
              <a:t>,  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	ROUND(100 * SUM(CASE WHEN </a:t>
            </a:r>
            <a:r>
              <a:rPr lang="en-IN" sz="1100" dirty="0" err="1">
                <a:solidFill>
                  <a:srgbClr val="FFFFFF"/>
                </a:solidFill>
              </a:rPr>
              <a:t>Actual_Delivery_Date</a:t>
            </a:r>
            <a:r>
              <a:rPr lang="en-IN" sz="1100" dirty="0">
                <a:solidFill>
                  <a:srgbClr val="FFFFFF"/>
                </a:solidFill>
              </a:rPr>
              <a:t> IS NOT NULL AND </a:t>
            </a:r>
            <a:r>
              <a:rPr lang="en-IN" sz="1100" dirty="0" err="1">
                <a:solidFill>
                  <a:srgbClr val="FFFFFF"/>
                </a:solidFill>
              </a:rPr>
              <a:t>Actual_Delivery_Date</a:t>
            </a:r>
            <a:r>
              <a:rPr lang="en-IN" sz="1100" dirty="0">
                <a:solidFill>
                  <a:srgbClr val="FFFFFF"/>
                </a:solidFill>
              </a:rPr>
              <a:t> &lt;= </a:t>
            </a:r>
            <a:r>
              <a:rPr lang="en-IN" sz="1100" dirty="0" err="1">
                <a:solidFill>
                  <a:srgbClr val="FFFFFF"/>
                </a:solidFill>
              </a:rPr>
              <a:t>Expected_Delivery_Date</a:t>
            </a:r>
            <a:r>
              <a:rPr lang="en-IN" sz="1100" dirty="0">
                <a:solidFill>
                  <a:srgbClr val="FFFFFF"/>
                </a:solidFill>
              </a:rPr>
              <a:t> THEN 1 ELSE 		0 END) / COUNT(*), 2) AS </a:t>
            </a:r>
            <a:r>
              <a:rPr lang="en-IN" sz="1100" dirty="0" err="1">
                <a:solidFill>
                  <a:srgbClr val="FFFFFF"/>
                </a:solidFill>
              </a:rPr>
              <a:t>on_time_pct</a:t>
            </a:r>
            <a:endParaRPr lang="en-IN" sz="1100" dirty="0">
              <a:solidFill>
                <a:srgbClr val="FFFFFF"/>
              </a:solidFill>
            </a:endParaRP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FROM orders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GROUP BY </a:t>
            </a:r>
            <a:r>
              <a:rPr lang="en-IN" sz="1100" dirty="0" err="1">
                <a:solidFill>
                  <a:srgbClr val="FFFFFF"/>
                </a:solidFill>
              </a:rPr>
              <a:t>Agent_IDHAVING</a:t>
            </a:r>
            <a:r>
              <a:rPr lang="en-IN" sz="1100" dirty="0">
                <a:solidFill>
                  <a:srgbClr val="FFFFFF"/>
                </a:solidFill>
              </a:rPr>
              <a:t> </a:t>
            </a:r>
            <a:r>
              <a:rPr lang="en-IN" sz="1100" dirty="0" err="1">
                <a:solidFill>
                  <a:srgbClr val="FFFFFF"/>
                </a:solidFill>
              </a:rPr>
              <a:t>on_time_pct</a:t>
            </a:r>
            <a:r>
              <a:rPr lang="en-IN" sz="1100" dirty="0">
                <a:solidFill>
                  <a:srgbClr val="FFFFFF"/>
                </a:solidFill>
              </a:rPr>
              <a:t> &lt; 80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ORDER BY </a:t>
            </a:r>
            <a:r>
              <a:rPr lang="en-IN" sz="1100" dirty="0" err="1">
                <a:solidFill>
                  <a:srgbClr val="FFFFFF"/>
                </a:solidFill>
              </a:rPr>
              <a:t>on_time_pct</a:t>
            </a:r>
            <a:r>
              <a:rPr lang="en-IN" sz="1100" dirty="0">
                <a:solidFill>
                  <a:srgbClr val="FFFFFF"/>
                </a:solidFill>
              </a:rPr>
              <a:t> ASC;</a:t>
            </a:r>
            <a:endParaRPr sz="1100" dirty="0">
              <a:solidFill>
                <a:srgbClr val="FFFFFF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BBC9D88-83CE-DFD5-53AD-BCBF99C69630}"/>
              </a:ext>
            </a:extLst>
          </p:cNvPr>
          <p:cNvSpPr txBox="1"/>
          <p:nvPr/>
        </p:nvSpPr>
        <p:spPr>
          <a:xfrm>
            <a:off x="1949099" y="6427080"/>
            <a:ext cx="5245803" cy="307777"/>
          </a:xfrm>
          <a:prstGeom prst="rect">
            <a:avLst/>
          </a:prstGeom>
          <a:effectLst>
            <a:outerShdw blurRad="40000" dist="20000" dir="5400000" rotWithShape="0">
              <a:srgbClr val="000000">
                <a:alpha val="38000"/>
              </a:srgbClr>
            </a:outerShdw>
            <a:softEdge rad="31750"/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From this we can see the agents having &lt;80% on-time deliveries.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B37200-8184-4821-FBB2-DE8CB44DA5DB}"/>
              </a:ext>
            </a:extLst>
          </p:cNvPr>
          <p:cNvSpPr txBox="1"/>
          <p:nvPr/>
        </p:nvSpPr>
        <p:spPr>
          <a:xfrm>
            <a:off x="1785400" y="3993761"/>
            <a:ext cx="55732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FF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Agents with on-time deliveries with &lt;80%  : CLICK HERE</a:t>
            </a:r>
            <a:endParaRPr lang="en-IN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86172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74467-6B6E-1CAA-C05C-675E9790B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43578B-8CFB-14CF-FD5E-BD834E3E4FFB}"/>
              </a:ext>
            </a:extLst>
          </p:cNvPr>
          <p:cNvSpPr txBox="1"/>
          <p:nvPr/>
        </p:nvSpPr>
        <p:spPr>
          <a:xfrm>
            <a:off x="274320" y="182880"/>
            <a:ext cx="7856446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rPr dirty="0"/>
              <a:t>Task </a:t>
            </a:r>
            <a:r>
              <a:rPr lang="en-IN" dirty="0"/>
              <a:t>5 – Delivery agent Performance  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E90D26-49A3-AA41-768E-683999D9F472}"/>
              </a:ext>
            </a:extLst>
          </p:cNvPr>
          <p:cNvSpPr txBox="1"/>
          <p:nvPr/>
        </p:nvSpPr>
        <p:spPr>
          <a:xfrm>
            <a:off x="274320" y="842883"/>
            <a:ext cx="867050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</a:defRPr>
            </a:pPr>
            <a:r>
              <a:rPr lang="en-IN" sz="2200" dirty="0"/>
              <a:t>Compare average speed of top 5 vs bottom 5 agents using subqueries :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63DE29B-F99D-89EC-E913-796EEE8C851F}"/>
              </a:ext>
            </a:extLst>
          </p:cNvPr>
          <p:cNvSpPr/>
          <p:nvPr/>
        </p:nvSpPr>
        <p:spPr>
          <a:xfrm>
            <a:off x="274320" y="1349481"/>
            <a:ext cx="8605319" cy="4209347"/>
          </a:xfrm>
          <a:prstGeom prst="rect">
            <a:avLst/>
          </a:prstGeom>
          <a:solidFill>
            <a:srgbClr val="183680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2000" b="1">
                <a:solidFill>
                  <a:srgbClr val="FFCC00"/>
                </a:solidFill>
              </a:defRPr>
            </a:pPr>
            <a:r>
              <a:rPr dirty="0"/>
              <a:t>SQL Snippet:</a:t>
            </a:r>
            <a:endParaRPr lang="en-IN" dirty="0"/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WITH </a:t>
            </a:r>
            <a:r>
              <a:rPr lang="en-IN" sz="1100" dirty="0" err="1">
                <a:solidFill>
                  <a:srgbClr val="FFFFFF"/>
                </a:solidFill>
              </a:rPr>
              <a:t>agent_speed</a:t>
            </a:r>
            <a:r>
              <a:rPr lang="en-IN" sz="1100" dirty="0">
                <a:solidFill>
                  <a:srgbClr val="FFFFFF"/>
                </a:solidFill>
              </a:rPr>
              <a:t> AS 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(  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	SELECT    </a:t>
            </a:r>
            <a:r>
              <a:rPr lang="en-IN" sz="1100" dirty="0" err="1">
                <a:solidFill>
                  <a:srgbClr val="FFFFFF"/>
                </a:solidFill>
              </a:rPr>
              <a:t>o.Agent_ID</a:t>
            </a:r>
            <a:r>
              <a:rPr lang="en-IN" sz="1100" dirty="0">
                <a:solidFill>
                  <a:srgbClr val="FFFFFF"/>
                </a:solidFill>
              </a:rPr>
              <a:t>,    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		ROUND(AVG(CASE WHEN r.Average_Travel_Time_Min IS NULL OR r.Average_Travel_Time_Min = 0 THEN NULL ELSE 					r.Distance_KM / r.Average_Travel_Time_Min END), 4) AS </a:t>
            </a:r>
            <a:r>
              <a:rPr lang="en-IN" sz="1100" dirty="0" err="1">
                <a:solidFill>
                  <a:srgbClr val="FFFFFF"/>
                </a:solidFill>
              </a:rPr>
              <a:t>avg_km_per_min</a:t>
            </a:r>
            <a:r>
              <a:rPr lang="en-IN" sz="1100" dirty="0">
                <a:solidFill>
                  <a:srgbClr val="FFFFFF"/>
                </a:solidFill>
              </a:rPr>
              <a:t>,    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		ROUND(100 * SUM(CASE WHEN </a:t>
            </a:r>
            <a:r>
              <a:rPr lang="en-IN" sz="1100" dirty="0" err="1">
                <a:solidFill>
                  <a:srgbClr val="FFFFFF"/>
                </a:solidFill>
              </a:rPr>
              <a:t>o.Actual_Delivery_Date</a:t>
            </a:r>
            <a:r>
              <a:rPr lang="en-IN" sz="1100" dirty="0">
                <a:solidFill>
                  <a:srgbClr val="FFFFFF"/>
                </a:solidFill>
              </a:rPr>
              <a:t> IS NOT NULL AND </a:t>
            </a:r>
            <a:r>
              <a:rPr lang="en-IN" sz="1100" dirty="0" err="1">
                <a:solidFill>
                  <a:srgbClr val="FFFFFF"/>
                </a:solidFill>
              </a:rPr>
              <a:t>o.Actual_Delivery_Date</a:t>
            </a:r>
            <a:r>
              <a:rPr lang="en-IN" sz="1100" dirty="0">
                <a:solidFill>
                  <a:srgbClr val="FFFFFF"/>
                </a:solidFill>
              </a:rPr>
              <a:t> &lt;= </a:t>
            </a:r>
            <a:r>
              <a:rPr lang="en-IN" sz="1100" dirty="0" err="1">
                <a:solidFill>
                  <a:srgbClr val="FFFFFF"/>
                </a:solidFill>
              </a:rPr>
              <a:t>o.Expected_Delivery_Date</a:t>
            </a:r>
            <a:r>
              <a:rPr lang="en-IN" sz="1100" dirty="0">
                <a:solidFill>
                  <a:srgbClr val="FFFFFF"/>
                </a:solidFill>
              </a:rPr>
              <a:t> 			THEN 1 ELSE 0 END) / COUNT(*), 2) AS </a:t>
            </a:r>
            <a:r>
              <a:rPr lang="en-IN" sz="1100" dirty="0" err="1">
                <a:solidFill>
                  <a:srgbClr val="FFFFFF"/>
                </a:solidFill>
              </a:rPr>
              <a:t>on_time_pct</a:t>
            </a:r>
            <a:r>
              <a:rPr lang="en-IN" sz="1100" dirty="0">
                <a:solidFill>
                  <a:srgbClr val="FFFFFF"/>
                </a:solidFill>
              </a:rPr>
              <a:t>  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	FROM orders o  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	LEFT JOIN routes r ON </a:t>
            </a:r>
            <a:r>
              <a:rPr lang="en-IN" sz="1100" dirty="0" err="1">
                <a:solidFill>
                  <a:srgbClr val="FFFFFF"/>
                </a:solidFill>
              </a:rPr>
              <a:t>o.Route_ID</a:t>
            </a:r>
            <a:r>
              <a:rPr lang="en-IN" sz="1100" dirty="0">
                <a:solidFill>
                  <a:srgbClr val="FFFFFF"/>
                </a:solidFill>
              </a:rPr>
              <a:t> = r.Route_ID  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	GROUP BY </a:t>
            </a:r>
            <a:r>
              <a:rPr lang="en-IN" sz="1100" dirty="0" err="1">
                <a:solidFill>
                  <a:srgbClr val="FFFFFF"/>
                </a:solidFill>
              </a:rPr>
              <a:t>o.Agent_ID</a:t>
            </a:r>
            <a:endParaRPr lang="en-IN" sz="1100" dirty="0">
              <a:solidFill>
                <a:srgbClr val="FFFFFF"/>
              </a:solidFill>
            </a:endParaRP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),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 err="1">
                <a:solidFill>
                  <a:srgbClr val="FFFFFF"/>
                </a:solidFill>
              </a:rPr>
              <a:t>ranked_agents</a:t>
            </a:r>
            <a:r>
              <a:rPr lang="en-IN" sz="1100" dirty="0">
                <a:solidFill>
                  <a:srgbClr val="FFFFFF"/>
                </a:solidFill>
              </a:rPr>
              <a:t> AS (  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	SELECT    </a:t>
            </a:r>
            <a:r>
              <a:rPr lang="en-IN" sz="1100" dirty="0" err="1">
                <a:solidFill>
                  <a:srgbClr val="FFFFFF"/>
                </a:solidFill>
              </a:rPr>
              <a:t>Agent_ID</a:t>
            </a:r>
            <a:r>
              <a:rPr lang="en-IN" sz="1100" dirty="0">
                <a:solidFill>
                  <a:srgbClr val="FFFFFF"/>
                </a:solidFill>
              </a:rPr>
              <a:t>,    </a:t>
            </a:r>
            <a:r>
              <a:rPr lang="en-IN" sz="1100" dirty="0" err="1">
                <a:solidFill>
                  <a:srgbClr val="FFFFFF"/>
                </a:solidFill>
              </a:rPr>
              <a:t>avg_km_per_min</a:t>
            </a:r>
            <a:r>
              <a:rPr lang="en-IN" sz="1100" dirty="0">
                <a:solidFill>
                  <a:srgbClr val="FFFFFF"/>
                </a:solidFill>
              </a:rPr>
              <a:t>,    </a:t>
            </a:r>
            <a:r>
              <a:rPr lang="en-IN" sz="1100" dirty="0" err="1">
                <a:solidFill>
                  <a:srgbClr val="FFFFFF"/>
                </a:solidFill>
              </a:rPr>
              <a:t>on_time_pct</a:t>
            </a:r>
            <a:r>
              <a:rPr lang="en-IN" sz="1100" dirty="0">
                <a:solidFill>
                  <a:srgbClr val="FFFFFF"/>
                </a:solidFill>
              </a:rPr>
              <a:t>,    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	ROW_NUMBER() OVER (ORDER BY </a:t>
            </a:r>
            <a:r>
              <a:rPr lang="en-IN" sz="1100" dirty="0" err="1">
                <a:solidFill>
                  <a:srgbClr val="FFFFFF"/>
                </a:solidFill>
              </a:rPr>
              <a:t>on_time_pct</a:t>
            </a:r>
            <a:r>
              <a:rPr lang="en-IN" sz="1100" dirty="0">
                <a:solidFill>
                  <a:srgbClr val="FFFFFF"/>
                </a:solidFill>
              </a:rPr>
              <a:t> DESC) AS </a:t>
            </a:r>
            <a:r>
              <a:rPr lang="en-IN" sz="1100" dirty="0" err="1">
                <a:solidFill>
                  <a:srgbClr val="FFFFFF"/>
                </a:solidFill>
              </a:rPr>
              <a:t>rn_desc</a:t>
            </a:r>
            <a:r>
              <a:rPr lang="en-IN" sz="1100" dirty="0">
                <a:solidFill>
                  <a:srgbClr val="FFFFFF"/>
                </a:solidFill>
              </a:rPr>
              <a:t>,    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	ROW_NUMBER() OVER (ORDER BY </a:t>
            </a:r>
            <a:r>
              <a:rPr lang="en-IN" sz="1100" dirty="0" err="1">
                <a:solidFill>
                  <a:srgbClr val="FFFFFF"/>
                </a:solidFill>
              </a:rPr>
              <a:t>on_time_pct</a:t>
            </a:r>
            <a:r>
              <a:rPr lang="en-IN" sz="1100" dirty="0">
                <a:solidFill>
                  <a:srgbClr val="FFFFFF"/>
                </a:solidFill>
              </a:rPr>
              <a:t> ASC)  AS </a:t>
            </a:r>
            <a:r>
              <a:rPr lang="en-IN" sz="1100" dirty="0" err="1">
                <a:solidFill>
                  <a:srgbClr val="FFFFFF"/>
                </a:solidFill>
              </a:rPr>
              <a:t>rn_asc</a:t>
            </a:r>
            <a:r>
              <a:rPr lang="en-IN" sz="1100" dirty="0">
                <a:solidFill>
                  <a:srgbClr val="FFFFFF"/>
                </a:solidFill>
              </a:rPr>
              <a:t>  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FROM </a:t>
            </a:r>
            <a:r>
              <a:rPr lang="en-IN" sz="1100" dirty="0" err="1">
                <a:solidFill>
                  <a:srgbClr val="FFFFFF"/>
                </a:solidFill>
              </a:rPr>
              <a:t>agent_speed</a:t>
            </a:r>
            <a:endParaRPr lang="en-IN" sz="1100" dirty="0">
              <a:solidFill>
                <a:srgbClr val="FFFFFF"/>
              </a:solidFill>
            </a:endParaRP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)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SELECT  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	(SELECT ROUND(AVG(</a:t>
            </a:r>
            <a:r>
              <a:rPr lang="en-IN" sz="1100" dirty="0" err="1">
                <a:solidFill>
                  <a:srgbClr val="FFFFFF"/>
                </a:solidFill>
              </a:rPr>
              <a:t>avg_km_per_min</a:t>
            </a:r>
            <a:r>
              <a:rPr lang="en-IN" sz="1100" dirty="0">
                <a:solidFill>
                  <a:srgbClr val="FFFFFF"/>
                </a:solidFill>
              </a:rPr>
              <a:t>),4) FROM </a:t>
            </a:r>
            <a:r>
              <a:rPr lang="en-IN" sz="1100" dirty="0" err="1">
                <a:solidFill>
                  <a:srgbClr val="FFFFFF"/>
                </a:solidFill>
              </a:rPr>
              <a:t>ranked_agents</a:t>
            </a:r>
            <a:r>
              <a:rPr lang="en-IN" sz="1100" dirty="0">
                <a:solidFill>
                  <a:srgbClr val="FFFFFF"/>
                </a:solidFill>
              </a:rPr>
              <a:t> WHERE </a:t>
            </a:r>
            <a:r>
              <a:rPr lang="en-IN" sz="1100" dirty="0" err="1">
                <a:solidFill>
                  <a:srgbClr val="FFFFFF"/>
                </a:solidFill>
              </a:rPr>
              <a:t>rn_desc</a:t>
            </a:r>
            <a:r>
              <a:rPr lang="en-IN" sz="1100" dirty="0">
                <a:solidFill>
                  <a:srgbClr val="FFFFFF"/>
                </a:solidFill>
              </a:rPr>
              <a:t> &lt;= 5) AS avg_speed_top5_agents,  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	(SELECT ROUND(AVG(</a:t>
            </a:r>
            <a:r>
              <a:rPr lang="en-IN" sz="1100" dirty="0" err="1">
                <a:solidFill>
                  <a:srgbClr val="FFFFFF"/>
                </a:solidFill>
              </a:rPr>
              <a:t>avg_km_per_min</a:t>
            </a:r>
            <a:r>
              <a:rPr lang="en-IN" sz="1100" dirty="0">
                <a:solidFill>
                  <a:srgbClr val="FFFFFF"/>
                </a:solidFill>
              </a:rPr>
              <a:t>),4) FROM </a:t>
            </a:r>
            <a:r>
              <a:rPr lang="en-IN" sz="1100" dirty="0" err="1">
                <a:solidFill>
                  <a:srgbClr val="FFFFFF"/>
                </a:solidFill>
              </a:rPr>
              <a:t>ranked_agents</a:t>
            </a:r>
            <a:r>
              <a:rPr lang="en-IN" sz="1100" dirty="0">
                <a:solidFill>
                  <a:srgbClr val="FFFFFF"/>
                </a:solidFill>
              </a:rPr>
              <a:t> WHERE </a:t>
            </a:r>
            <a:r>
              <a:rPr lang="en-IN" sz="1100" dirty="0" err="1">
                <a:solidFill>
                  <a:srgbClr val="FFFFFF"/>
                </a:solidFill>
              </a:rPr>
              <a:t>rn_asc</a:t>
            </a:r>
            <a:r>
              <a:rPr lang="en-IN" sz="1100" dirty="0">
                <a:solidFill>
                  <a:srgbClr val="FFFFFF"/>
                </a:solidFill>
              </a:rPr>
              <a:t> &lt;= 5)  AS avg_speed_bottom5_agents,  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	(SELECT COUNT(*) FROM </a:t>
            </a:r>
            <a:r>
              <a:rPr lang="en-IN" sz="1100" dirty="0" err="1">
                <a:solidFill>
                  <a:srgbClr val="FFFFFF"/>
                </a:solidFill>
              </a:rPr>
              <a:t>ranked_agents</a:t>
            </a:r>
            <a:r>
              <a:rPr lang="en-IN" sz="1100" dirty="0">
                <a:solidFill>
                  <a:srgbClr val="FFFFFF"/>
                </a:solidFill>
              </a:rPr>
              <a:t> WHERE </a:t>
            </a:r>
            <a:r>
              <a:rPr lang="en-IN" sz="1100" dirty="0" err="1">
                <a:solidFill>
                  <a:srgbClr val="FFFFFF"/>
                </a:solidFill>
              </a:rPr>
              <a:t>avg_km_per_min</a:t>
            </a:r>
            <a:r>
              <a:rPr lang="en-IN" sz="1100" dirty="0">
                <a:solidFill>
                  <a:srgbClr val="FFFFFF"/>
                </a:solidFill>
              </a:rPr>
              <a:t> IS NULL) AS </a:t>
            </a:r>
            <a:r>
              <a:rPr lang="en-IN" sz="1100" dirty="0" err="1">
                <a:solidFill>
                  <a:srgbClr val="FFFFFF"/>
                </a:solidFill>
              </a:rPr>
              <a:t>agents_with_no_speed_data</a:t>
            </a:r>
            <a:r>
              <a:rPr lang="en-IN" sz="1100" dirty="0">
                <a:solidFill>
                  <a:srgbClr val="FFFFFF"/>
                </a:solidFill>
              </a:rPr>
              <a:t>;</a:t>
            </a:r>
            <a:endParaRPr sz="1100" dirty="0">
              <a:solidFill>
                <a:srgbClr val="FFFFFF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E0777E-211A-12A1-CE55-27CFD7310A4F}"/>
              </a:ext>
            </a:extLst>
          </p:cNvPr>
          <p:cNvSpPr txBox="1"/>
          <p:nvPr/>
        </p:nvSpPr>
        <p:spPr>
          <a:xfrm>
            <a:off x="1413643" y="6427080"/>
            <a:ext cx="6316715" cy="307777"/>
          </a:xfrm>
          <a:prstGeom prst="rect">
            <a:avLst/>
          </a:prstGeom>
          <a:effectLst>
            <a:outerShdw blurRad="40000" dist="20000" dir="5400000" rotWithShape="0">
              <a:srgbClr val="000000">
                <a:alpha val="38000"/>
              </a:srgbClr>
            </a:outerShdw>
            <a:softEdge rad="31750"/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From this we can compare the Top vs bottom </a:t>
            </a:r>
            <a:r>
              <a:rPr lang="en-IN" sz="1400" dirty="0" err="1"/>
              <a:t>avg</a:t>
            </a:r>
            <a:r>
              <a:rPr lang="en-IN" sz="1400" dirty="0"/>
              <a:t> speed of the delivery agent.</a:t>
            </a:r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2DA7F0E1-C78F-D378-B495-0D24DD0E12E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2388243"/>
              </p:ext>
            </p:extLst>
          </p:nvPr>
        </p:nvGraphicFramePr>
        <p:xfrm>
          <a:off x="2028825" y="5778641"/>
          <a:ext cx="5086350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5086313" imgH="428625" progId="Excel.Sheet.12">
                  <p:embed/>
                </p:oleObj>
              </mc:Choice>
              <mc:Fallback>
                <p:oleObj name="Worksheet" r:id="rId2" imgW="5086313" imgH="428625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028825" y="5778641"/>
                        <a:ext cx="5086350" cy="428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477054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478048-55A4-3620-EB0B-A4D8E016D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59F5E25-D105-2770-F912-974B1317FA96}"/>
              </a:ext>
            </a:extLst>
          </p:cNvPr>
          <p:cNvSpPr txBox="1"/>
          <p:nvPr/>
        </p:nvSpPr>
        <p:spPr>
          <a:xfrm>
            <a:off x="274320" y="182880"/>
            <a:ext cx="7856446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rPr dirty="0"/>
              <a:t>Task </a:t>
            </a:r>
            <a:r>
              <a:rPr lang="en-IN" dirty="0"/>
              <a:t>5 – Delivery agent Performance  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809B4E-81D0-6338-11EC-748B884D9672}"/>
              </a:ext>
            </a:extLst>
          </p:cNvPr>
          <p:cNvSpPr txBox="1"/>
          <p:nvPr/>
        </p:nvSpPr>
        <p:spPr>
          <a:xfrm>
            <a:off x="274320" y="842883"/>
            <a:ext cx="867050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</a:defRPr>
            </a:pPr>
            <a:r>
              <a:rPr lang="en-IN" sz="2200" dirty="0"/>
              <a:t>Suggest training or workload balancing strategies for low performers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2012690-4F40-26EA-FE94-648CD8AB0683}"/>
              </a:ext>
            </a:extLst>
          </p:cNvPr>
          <p:cNvSpPr/>
          <p:nvPr/>
        </p:nvSpPr>
        <p:spPr>
          <a:xfrm>
            <a:off x="274320" y="1349481"/>
            <a:ext cx="8605319" cy="4987945"/>
          </a:xfrm>
          <a:prstGeom prst="rect">
            <a:avLst/>
          </a:prstGeom>
          <a:solidFill>
            <a:srgbClr val="183680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dirty="0"/>
              <a:t>Recommendations</a:t>
            </a:r>
            <a:r>
              <a:rPr dirty="0"/>
              <a:t>:</a:t>
            </a:r>
            <a:endParaRPr lang="en-IN" dirty="0"/>
          </a:p>
          <a:p>
            <a:pPr marL="457200" indent="-457200">
              <a:buFont typeface="+mj-lt"/>
              <a:buAutoNum type="arabicPeriod"/>
              <a:defRPr sz="2000" b="1">
                <a:solidFill>
                  <a:srgbClr val="FFCC00"/>
                </a:solidFill>
              </a:defRPr>
            </a:pPr>
            <a:r>
              <a:rPr lang="en-IN" sz="2000" dirty="0">
                <a:solidFill>
                  <a:srgbClr val="FFFFFF"/>
                </a:solidFill>
              </a:rPr>
              <a:t>Adjust shift timings:   </a:t>
            </a:r>
            <a:r>
              <a:rPr lang="en-IN" sz="1600" dirty="0">
                <a:solidFill>
                  <a:srgbClr val="FFFFFF"/>
                </a:solidFill>
              </a:rPr>
              <a:t>If an agent regularly gets delayed because of peak-hour traffic, assign them routes at times when the roads are less crowded.                                                               </a:t>
            </a:r>
          </a:p>
          <a:p>
            <a:pPr marL="457200" indent="-457200">
              <a:buFont typeface="+mj-lt"/>
              <a:buAutoNum type="arabicPeriod"/>
              <a:defRPr sz="2000" b="1">
                <a:solidFill>
                  <a:srgbClr val="FFCC00"/>
                </a:solidFill>
              </a:defRPr>
            </a:pPr>
            <a:endParaRPr lang="en-IN" sz="2000" dirty="0">
              <a:solidFill>
                <a:srgbClr val="FFFFFF"/>
              </a:solidFill>
            </a:endParaRPr>
          </a:p>
          <a:p>
            <a:pPr marL="457200" indent="-457200">
              <a:buFont typeface="+mj-lt"/>
              <a:buAutoNum type="arabicPeriod"/>
              <a:defRPr sz="2000" b="1">
                <a:solidFill>
                  <a:srgbClr val="FFCC00"/>
                </a:solidFill>
              </a:defRPr>
            </a:pPr>
            <a:r>
              <a:rPr lang="en-IN" sz="2000" dirty="0">
                <a:solidFill>
                  <a:srgbClr val="FFFFFF"/>
                </a:solidFill>
              </a:rPr>
              <a:t>Offer small rewards:  </a:t>
            </a:r>
            <a:r>
              <a:rPr lang="en-IN" sz="1600" b="1" dirty="0">
                <a:solidFill>
                  <a:srgbClr val="FFFFFF"/>
                </a:solidFill>
              </a:rPr>
              <a:t>Give appreciation, small bonuses, or recognition to agents who improve their on-time delivery rate. This encourages better performance.</a:t>
            </a:r>
          </a:p>
          <a:p>
            <a:pPr marL="457200" indent="-457200">
              <a:buFont typeface="+mj-lt"/>
              <a:buAutoNum type="arabicPeriod"/>
              <a:defRPr sz="2000" b="1">
                <a:solidFill>
                  <a:srgbClr val="FFCC00"/>
                </a:solidFill>
              </a:defRPr>
            </a:pPr>
            <a:endParaRPr lang="en-IN" sz="2000" dirty="0">
              <a:solidFill>
                <a:srgbClr val="FFFFFF"/>
              </a:solidFill>
            </a:endParaRPr>
          </a:p>
          <a:p>
            <a:pPr marL="457200" indent="-457200">
              <a:buFont typeface="+mj-lt"/>
              <a:buAutoNum type="arabicPeriod"/>
              <a:defRPr sz="2000" b="1">
                <a:solidFill>
                  <a:srgbClr val="FFCC00"/>
                </a:solidFill>
              </a:defRPr>
            </a:pPr>
            <a:r>
              <a:rPr lang="en-IN" sz="2000" dirty="0">
                <a:solidFill>
                  <a:srgbClr val="FFFFFF"/>
                </a:solidFill>
              </a:rPr>
              <a:t>Balance the workload:  </a:t>
            </a:r>
            <a:r>
              <a:rPr lang="en-IN" sz="1600" b="1" dirty="0">
                <a:solidFill>
                  <a:srgbClr val="FFFFFF"/>
                </a:solidFill>
              </a:rPr>
              <a:t>Try not to give difficult or high-traffic routes to agents who already struggle. Give simpler routes to them and assign challenging ones to top performers.</a:t>
            </a:r>
          </a:p>
          <a:p>
            <a:pPr marL="457200" indent="-457200">
              <a:buFont typeface="+mj-lt"/>
              <a:buAutoNum type="arabicPeriod"/>
              <a:defRPr sz="2000" b="1">
                <a:solidFill>
                  <a:srgbClr val="FFCC00"/>
                </a:solidFill>
              </a:defRPr>
            </a:pPr>
            <a:endParaRPr lang="en-IN" sz="2000" dirty="0">
              <a:solidFill>
                <a:srgbClr val="FFFFFF"/>
              </a:solidFill>
            </a:endParaRPr>
          </a:p>
          <a:p>
            <a:pPr marL="457200" indent="-457200">
              <a:buFont typeface="+mj-lt"/>
              <a:buAutoNum type="arabicPeriod"/>
              <a:defRPr sz="2000" b="1">
                <a:solidFill>
                  <a:srgbClr val="FFCC00"/>
                </a:solidFill>
              </a:defRPr>
            </a:pPr>
            <a:r>
              <a:rPr lang="en-IN" sz="2000" dirty="0">
                <a:solidFill>
                  <a:srgbClr val="FFFFFF"/>
                </a:solidFill>
              </a:rPr>
              <a:t>Give extra training:  </a:t>
            </a:r>
            <a:r>
              <a:rPr lang="en-IN" sz="1600" b="1" dirty="0">
                <a:solidFill>
                  <a:srgbClr val="FFFFFF"/>
                </a:solidFill>
              </a:rPr>
              <a:t>Agents who often miss deadlines should receive short training sessions on time management, understanding routes better, and handling deliveries more smoothly.</a:t>
            </a:r>
          </a:p>
          <a:p>
            <a:pPr marL="457200" indent="-457200">
              <a:buFont typeface="+mj-lt"/>
              <a:buAutoNum type="arabicPeriod"/>
              <a:defRPr sz="2000" b="1">
                <a:solidFill>
                  <a:srgbClr val="FFCC00"/>
                </a:solidFill>
              </a:defRPr>
            </a:pPr>
            <a:endParaRPr lang="en-IN" sz="2000" dirty="0">
              <a:solidFill>
                <a:srgbClr val="FFFFFF"/>
              </a:solidFill>
            </a:endParaRPr>
          </a:p>
          <a:p>
            <a:pPr marL="457200" indent="-457200">
              <a:buFont typeface="+mj-lt"/>
              <a:buAutoNum type="arabicPeriod"/>
              <a:defRPr sz="2000" b="1">
                <a:solidFill>
                  <a:srgbClr val="FFCC00"/>
                </a:solidFill>
              </a:defRPr>
            </a:pPr>
            <a:r>
              <a:rPr lang="en-IN" sz="2000" dirty="0">
                <a:solidFill>
                  <a:srgbClr val="FFFFFF"/>
                </a:solidFill>
              </a:rPr>
              <a:t>Mentorship support:  </a:t>
            </a:r>
            <a:r>
              <a:rPr lang="en-IN" sz="1600" b="1" dirty="0">
                <a:solidFill>
                  <a:srgbClr val="FFFFFF"/>
                </a:solidFill>
              </a:rPr>
              <a:t>Pair weaker agents with high-performing agents for a few days so they can learn tips, shortcuts, and best practices.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 </a:t>
            </a:r>
            <a:endParaRPr sz="11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51542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7E968-FF90-A4E4-A0E6-EB33499AA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79E3F6-FE8F-DF41-15D4-F874FC83E998}"/>
              </a:ext>
            </a:extLst>
          </p:cNvPr>
          <p:cNvSpPr txBox="1"/>
          <p:nvPr/>
        </p:nvSpPr>
        <p:spPr>
          <a:xfrm>
            <a:off x="274320" y="182880"/>
            <a:ext cx="7535333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rPr dirty="0"/>
              <a:t>Task </a:t>
            </a:r>
            <a:r>
              <a:rPr lang="en-IN" dirty="0"/>
              <a:t>6 – Shipment tracking Analysis  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C346CB-F135-AB2D-82DF-40BA03CF4510}"/>
              </a:ext>
            </a:extLst>
          </p:cNvPr>
          <p:cNvSpPr txBox="1"/>
          <p:nvPr/>
        </p:nvSpPr>
        <p:spPr>
          <a:xfrm>
            <a:off x="274320" y="842883"/>
            <a:ext cx="867050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</a:defRPr>
            </a:pPr>
            <a:r>
              <a:rPr lang="en-IN" sz="2200" dirty="0"/>
              <a:t>For each order, list the last checkpoint and time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7C82802-A6EC-72D6-1897-7972DB79A530}"/>
              </a:ext>
            </a:extLst>
          </p:cNvPr>
          <p:cNvSpPr/>
          <p:nvPr/>
        </p:nvSpPr>
        <p:spPr>
          <a:xfrm>
            <a:off x="274320" y="1349481"/>
            <a:ext cx="8605319" cy="4209347"/>
          </a:xfrm>
          <a:prstGeom prst="rect">
            <a:avLst/>
          </a:prstGeom>
          <a:solidFill>
            <a:srgbClr val="183680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2000" b="1">
                <a:solidFill>
                  <a:srgbClr val="FFCC00"/>
                </a:solidFill>
              </a:defRPr>
            </a:pPr>
            <a:r>
              <a:rPr dirty="0"/>
              <a:t>SQL Snippet:</a:t>
            </a:r>
            <a:endParaRPr lang="en-IN" dirty="0"/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WITH </a:t>
            </a:r>
            <a:r>
              <a:rPr lang="en-IN" sz="1100" dirty="0" err="1">
                <a:solidFill>
                  <a:srgbClr val="FFFFFF"/>
                </a:solidFill>
              </a:rPr>
              <a:t>last_ck</a:t>
            </a:r>
            <a:r>
              <a:rPr lang="en-IN" sz="1100" dirty="0">
                <a:solidFill>
                  <a:srgbClr val="FFFFFF"/>
                </a:solidFill>
              </a:rPr>
              <a:t> AS (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  SELECT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    </a:t>
            </a:r>
            <a:r>
              <a:rPr lang="en-IN" sz="1100" dirty="0" err="1">
                <a:solidFill>
                  <a:srgbClr val="FFFFFF"/>
                </a:solidFill>
              </a:rPr>
              <a:t>Tracking_ID</a:t>
            </a:r>
            <a:r>
              <a:rPr lang="en-IN" sz="1100" dirty="0">
                <a:solidFill>
                  <a:srgbClr val="FFFFFF"/>
                </a:solidFill>
              </a:rPr>
              <a:t>,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    Order_ID,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    Checkpoint,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    </a:t>
            </a:r>
            <a:r>
              <a:rPr lang="en-IN" sz="1100" dirty="0" err="1">
                <a:solidFill>
                  <a:srgbClr val="FFFFFF"/>
                </a:solidFill>
              </a:rPr>
              <a:t>Checkpoint_Time</a:t>
            </a:r>
            <a:r>
              <a:rPr lang="en-IN" sz="1100" dirty="0">
                <a:solidFill>
                  <a:srgbClr val="FFFFFF"/>
                </a:solidFill>
              </a:rPr>
              <a:t>,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    </a:t>
            </a:r>
            <a:r>
              <a:rPr lang="en-IN" sz="1100" dirty="0" err="1">
                <a:solidFill>
                  <a:srgbClr val="FFFFFF"/>
                </a:solidFill>
              </a:rPr>
              <a:t>Delay_Reason</a:t>
            </a:r>
            <a:r>
              <a:rPr lang="en-IN" sz="1100" dirty="0">
                <a:solidFill>
                  <a:srgbClr val="FFFFFF"/>
                </a:solidFill>
              </a:rPr>
              <a:t>,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    </a:t>
            </a:r>
            <a:r>
              <a:rPr lang="en-IN" sz="1100" dirty="0" err="1">
                <a:solidFill>
                  <a:srgbClr val="FFFFFF"/>
                </a:solidFill>
              </a:rPr>
              <a:t>Delay_Minutes</a:t>
            </a:r>
            <a:r>
              <a:rPr lang="en-IN" sz="1100" dirty="0">
                <a:solidFill>
                  <a:srgbClr val="FFFFFF"/>
                </a:solidFill>
              </a:rPr>
              <a:t>,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    ROW_NUMBER() OVER (PARTITION BY Order_ID ORDER BY </a:t>
            </a:r>
            <a:r>
              <a:rPr lang="en-IN" sz="1100" dirty="0" err="1">
                <a:solidFill>
                  <a:srgbClr val="FFFFFF"/>
                </a:solidFill>
              </a:rPr>
              <a:t>Checkpoint_Time</a:t>
            </a:r>
            <a:r>
              <a:rPr lang="en-IN" sz="1100" dirty="0">
                <a:solidFill>
                  <a:srgbClr val="FFFFFF"/>
                </a:solidFill>
              </a:rPr>
              <a:t> DESC) AS </a:t>
            </a:r>
            <a:r>
              <a:rPr lang="en-IN" sz="1100" dirty="0" err="1">
                <a:solidFill>
                  <a:srgbClr val="FFFFFF"/>
                </a:solidFill>
              </a:rPr>
              <a:t>rn</a:t>
            </a:r>
            <a:endParaRPr lang="en-IN" sz="1100" dirty="0">
              <a:solidFill>
                <a:srgbClr val="FFFFFF"/>
              </a:solidFill>
            </a:endParaRP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  FROM </a:t>
            </a:r>
            <a:r>
              <a:rPr lang="en-IN" sz="1100" dirty="0" err="1">
                <a:solidFill>
                  <a:srgbClr val="FFFFFF"/>
                </a:solidFill>
              </a:rPr>
              <a:t>shipmenttracking</a:t>
            </a:r>
            <a:endParaRPr lang="en-IN" sz="1100" dirty="0">
              <a:solidFill>
                <a:srgbClr val="FFFFFF"/>
              </a:solidFill>
            </a:endParaRP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)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SELECT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  Order_ID,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  </a:t>
            </a:r>
            <a:r>
              <a:rPr lang="en-IN" sz="1100" dirty="0" err="1">
                <a:solidFill>
                  <a:srgbClr val="FFFFFF"/>
                </a:solidFill>
              </a:rPr>
              <a:t>Tracking_ID</a:t>
            </a:r>
            <a:r>
              <a:rPr lang="en-IN" sz="1100" dirty="0">
                <a:solidFill>
                  <a:srgbClr val="FFFFFF"/>
                </a:solidFill>
              </a:rPr>
              <a:t>,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  Checkpoint,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  </a:t>
            </a:r>
            <a:r>
              <a:rPr lang="en-IN" sz="1100" dirty="0" err="1">
                <a:solidFill>
                  <a:srgbClr val="FFFFFF"/>
                </a:solidFill>
              </a:rPr>
              <a:t>Checkpoint_Time</a:t>
            </a:r>
            <a:r>
              <a:rPr lang="en-IN" sz="1100" dirty="0">
                <a:solidFill>
                  <a:srgbClr val="FFFFFF"/>
                </a:solidFill>
              </a:rPr>
              <a:t>,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  </a:t>
            </a:r>
            <a:r>
              <a:rPr lang="en-IN" sz="1100" dirty="0" err="1">
                <a:solidFill>
                  <a:srgbClr val="FFFFFF"/>
                </a:solidFill>
              </a:rPr>
              <a:t>Delay_Reason</a:t>
            </a:r>
            <a:r>
              <a:rPr lang="en-IN" sz="1100" dirty="0">
                <a:solidFill>
                  <a:srgbClr val="FFFFFF"/>
                </a:solidFill>
              </a:rPr>
              <a:t>,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  </a:t>
            </a:r>
            <a:r>
              <a:rPr lang="en-IN" sz="1100" dirty="0" err="1">
                <a:solidFill>
                  <a:srgbClr val="FFFFFF"/>
                </a:solidFill>
              </a:rPr>
              <a:t>Delay_Minutes</a:t>
            </a:r>
            <a:endParaRPr lang="en-IN" sz="1100" dirty="0">
              <a:solidFill>
                <a:srgbClr val="FFFFFF"/>
              </a:solidFill>
            </a:endParaRP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FROM </a:t>
            </a:r>
            <a:r>
              <a:rPr lang="en-IN" sz="1100" dirty="0" err="1">
                <a:solidFill>
                  <a:srgbClr val="FFFFFF"/>
                </a:solidFill>
              </a:rPr>
              <a:t>last_ck</a:t>
            </a:r>
            <a:endParaRPr lang="en-IN" sz="1100" dirty="0">
              <a:solidFill>
                <a:srgbClr val="FFFFFF"/>
              </a:solidFill>
            </a:endParaRP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WHERE </a:t>
            </a:r>
            <a:r>
              <a:rPr lang="en-IN" sz="1100" dirty="0" err="1">
                <a:solidFill>
                  <a:srgbClr val="FFFFFF"/>
                </a:solidFill>
              </a:rPr>
              <a:t>rn</a:t>
            </a:r>
            <a:r>
              <a:rPr lang="en-IN" sz="1100" dirty="0">
                <a:solidFill>
                  <a:srgbClr val="FFFFFF"/>
                </a:solidFill>
              </a:rPr>
              <a:t> = 1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ORDER BY </a:t>
            </a:r>
            <a:r>
              <a:rPr lang="en-IN" sz="1100" dirty="0" err="1">
                <a:solidFill>
                  <a:srgbClr val="FFFFFF"/>
                </a:solidFill>
              </a:rPr>
              <a:t>Checkpoint_Time</a:t>
            </a:r>
            <a:r>
              <a:rPr lang="en-IN" sz="1100" dirty="0">
                <a:solidFill>
                  <a:srgbClr val="FFFFFF"/>
                </a:solidFill>
              </a:rPr>
              <a:t> DESC;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4F7DEBD-C3E6-1309-6A94-20C2B87CC432}"/>
              </a:ext>
            </a:extLst>
          </p:cNvPr>
          <p:cNvSpPr txBox="1"/>
          <p:nvPr/>
        </p:nvSpPr>
        <p:spPr>
          <a:xfrm>
            <a:off x="1785399" y="6427080"/>
            <a:ext cx="5573202" cy="307777"/>
          </a:xfrm>
          <a:prstGeom prst="rect">
            <a:avLst/>
          </a:prstGeom>
          <a:effectLst>
            <a:outerShdw blurRad="40000" dist="20000" dir="5400000" rotWithShape="0">
              <a:srgbClr val="000000">
                <a:alpha val="38000"/>
              </a:srgbClr>
            </a:outerShdw>
            <a:softEdge rad="31750"/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From this list we can check last checkpoint and time for each orders.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FDFF6C-0890-98B0-9879-4EEFAAE0C17C}"/>
              </a:ext>
            </a:extLst>
          </p:cNvPr>
          <p:cNvSpPr txBox="1"/>
          <p:nvPr/>
        </p:nvSpPr>
        <p:spPr>
          <a:xfrm>
            <a:off x="1822971" y="5673003"/>
            <a:ext cx="55732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FF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For each order last checkpoint and time  : CLICK HERE</a:t>
            </a:r>
            <a:endParaRPr lang="en-IN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63875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50D51-4C4F-CA36-BEE6-4A56C5870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2FD8EB9-1DC3-C01C-7D35-48F6A7F253A2}"/>
              </a:ext>
            </a:extLst>
          </p:cNvPr>
          <p:cNvSpPr txBox="1"/>
          <p:nvPr/>
        </p:nvSpPr>
        <p:spPr>
          <a:xfrm>
            <a:off x="274320" y="182880"/>
            <a:ext cx="7535333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rPr dirty="0"/>
              <a:t>Task </a:t>
            </a:r>
            <a:r>
              <a:rPr lang="en-IN" dirty="0"/>
              <a:t>6 – Shipment tracking Analysis  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1CAACA-EB1E-216D-AC96-0184F4D8C63A}"/>
              </a:ext>
            </a:extLst>
          </p:cNvPr>
          <p:cNvSpPr txBox="1"/>
          <p:nvPr/>
        </p:nvSpPr>
        <p:spPr>
          <a:xfrm>
            <a:off x="274320" y="842883"/>
            <a:ext cx="867050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</a:defRPr>
            </a:pPr>
            <a:r>
              <a:rPr lang="en-IN" sz="2200" dirty="0"/>
              <a:t>Find the most common delay reasons (excluding None).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1F10A01-C730-DB27-B553-7489314BB886}"/>
              </a:ext>
            </a:extLst>
          </p:cNvPr>
          <p:cNvSpPr/>
          <p:nvPr/>
        </p:nvSpPr>
        <p:spPr>
          <a:xfrm>
            <a:off x="274320" y="1349481"/>
            <a:ext cx="8605319" cy="2824167"/>
          </a:xfrm>
          <a:prstGeom prst="rect">
            <a:avLst/>
          </a:prstGeom>
          <a:solidFill>
            <a:srgbClr val="183680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2000" b="1">
                <a:solidFill>
                  <a:srgbClr val="FFCC00"/>
                </a:solidFill>
              </a:defRPr>
            </a:pPr>
            <a:r>
              <a:rPr dirty="0"/>
              <a:t>SQL Snippet:</a:t>
            </a:r>
            <a:endParaRPr lang="en-IN" sz="1100" dirty="0">
              <a:solidFill>
                <a:srgbClr val="FFFFFF"/>
              </a:solidFill>
            </a:endParaRP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SELECT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  </a:t>
            </a:r>
            <a:r>
              <a:rPr lang="en-IN" sz="1100" dirty="0" err="1">
                <a:solidFill>
                  <a:srgbClr val="FFFFFF"/>
                </a:solidFill>
              </a:rPr>
              <a:t>cleaned_reason</a:t>
            </a:r>
            <a:r>
              <a:rPr lang="en-IN" sz="1100" dirty="0">
                <a:solidFill>
                  <a:srgbClr val="FFFFFF"/>
                </a:solidFill>
              </a:rPr>
              <a:t> AS </a:t>
            </a:r>
            <a:r>
              <a:rPr lang="en-IN" sz="1100" dirty="0" err="1">
                <a:solidFill>
                  <a:srgbClr val="FFFFFF"/>
                </a:solidFill>
              </a:rPr>
              <a:t>delay_reason</a:t>
            </a:r>
            <a:r>
              <a:rPr lang="en-IN" sz="1100" dirty="0">
                <a:solidFill>
                  <a:srgbClr val="FFFFFF"/>
                </a:solidFill>
              </a:rPr>
              <a:t>,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  COUNT(*) AS </a:t>
            </a:r>
            <a:r>
              <a:rPr lang="en-IN" sz="1100" dirty="0" err="1">
                <a:solidFill>
                  <a:srgbClr val="FFFFFF"/>
                </a:solidFill>
              </a:rPr>
              <a:t>reason_count</a:t>
            </a:r>
            <a:endParaRPr lang="en-IN" sz="1100" dirty="0">
              <a:solidFill>
                <a:srgbClr val="FFFFFF"/>
              </a:solidFill>
            </a:endParaRP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FROM (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  SELECT LOWER(TRIM(</a:t>
            </a:r>
            <a:r>
              <a:rPr lang="en-IN" sz="1100" dirty="0" err="1">
                <a:solidFill>
                  <a:srgbClr val="FFFFFF"/>
                </a:solidFill>
              </a:rPr>
              <a:t>Delay_Reason</a:t>
            </a:r>
            <a:r>
              <a:rPr lang="en-IN" sz="1100" dirty="0">
                <a:solidFill>
                  <a:srgbClr val="FFFFFF"/>
                </a:solidFill>
              </a:rPr>
              <a:t>)) AS </a:t>
            </a:r>
            <a:r>
              <a:rPr lang="en-IN" sz="1100" dirty="0" err="1">
                <a:solidFill>
                  <a:srgbClr val="FFFFFF"/>
                </a:solidFill>
              </a:rPr>
              <a:t>cleaned_reason</a:t>
            </a:r>
            <a:endParaRPr lang="en-IN" sz="1100" dirty="0">
              <a:solidFill>
                <a:srgbClr val="FFFFFF"/>
              </a:solidFill>
            </a:endParaRP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  FROM </a:t>
            </a:r>
            <a:r>
              <a:rPr lang="en-IN" sz="1100" dirty="0" err="1">
                <a:solidFill>
                  <a:srgbClr val="FFFFFF"/>
                </a:solidFill>
              </a:rPr>
              <a:t>shipmenttracking</a:t>
            </a:r>
            <a:endParaRPr lang="en-IN" sz="1100" dirty="0">
              <a:solidFill>
                <a:srgbClr val="FFFFFF"/>
              </a:solidFill>
            </a:endParaRP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  WHERE </a:t>
            </a:r>
            <a:r>
              <a:rPr lang="en-IN" sz="1100" dirty="0" err="1">
                <a:solidFill>
                  <a:srgbClr val="FFFFFF"/>
                </a:solidFill>
              </a:rPr>
              <a:t>Delay_Reason</a:t>
            </a:r>
            <a:r>
              <a:rPr lang="en-IN" sz="1100" dirty="0">
                <a:solidFill>
                  <a:srgbClr val="FFFFFF"/>
                </a:solidFill>
              </a:rPr>
              <a:t> IS NOT NULL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) AS t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WHERE </a:t>
            </a:r>
            <a:r>
              <a:rPr lang="en-IN" sz="1100" dirty="0" err="1">
                <a:solidFill>
                  <a:srgbClr val="FFFFFF"/>
                </a:solidFill>
              </a:rPr>
              <a:t>cleaned_reason</a:t>
            </a:r>
            <a:r>
              <a:rPr lang="en-IN" sz="1100" dirty="0">
                <a:solidFill>
                  <a:srgbClr val="FFFFFF"/>
                </a:solidFill>
              </a:rPr>
              <a:t> NOT IN ('', 'none', '</a:t>
            </a:r>
            <a:r>
              <a:rPr lang="en-IN" sz="1100" dirty="0" err="1">
                <a:solidFill>
                  <a:srgbClr val="FFFFFF"/>
                </a:solidFill>
              </a:rPr>
              <a:t>na</a:t>
            </a:r>
            <a:r>
              <a:rPr lang="en-IN" sz="1100" dirty="0">
                <a:solidFill>
                  <a:srgbClr val="FFFFFF"/>
                </a:solidFill>
              </a:rPr>
              <a:t>', 'n/a', 'null')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GROUP BY </a:t>
            </a:r>
            <a:r>
              <a:rPr lang="en-IN" sz="1100" dirty="0" err="1">
                <a:solidFill>
                  <a:srgbClr val="FFFFFF"/>
                </a:solidFill>
              </a:rPr>
              <a:t>cleaned_reason</a:t>
            </a:r>
            <a:endParaRPr lang="en-IN" sz="1100" dirty="0">
              <a:solidFill>
                <a:srgbClr val="FFFFFF"/>
              </a:solidFill>
            </a:endParaRP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ORDER BY </a:t>
            </a:r>
            <a:r>
              <a:rPr lang="en-IN" sz="1100" dirty="0" err="1">
                <a:solidFill>
                  <a:srgbClr val="FFFFFF"/>
                </a:solidFill>
              </a:rPr>
              <a:t>reason_count</a:t>
            </a:r>
            <a:r>
              <a:rPr lang="en-IN" sz="1100" dirty="0">
                <a:solidFill>
                  <a:srgbClr val="FFFFFF"/>
                </a:solidFill>
              </a:rPr>
              <a:t> DESC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LIMIT 10;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E45CB62-C5D7-FD00-9231-451C8FADB3CF}"/>
              </a:ext>
            </a:extLst>
          </p:cNvPr>
          <p:cNvSpPr txBox="1"/>
          <p:nvPr/>
        </p:nvSpPr>
        <p:spPr>
          <a:xfrm>
            <a:off x="2992822" y="6427080"/>
            <a:ext cx="3158357" cy="307777"/>
          </a:xfrm>
          <a:prstGeom prst="rect">
            <a:avLst/>
          </a:prstGeom>
          <a:effectLst>
            <a:outerShdw blurRad="40000" dist="20000" dir="5400000" rotWithShape="0">
              <a:srgbClr val="000000">
                <a:alpha val="38000"/>
              </a:srgbClr>
            </a:outerShdw>
            <a:softEdge rad="31750"/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List of the reason count for delays.</a:t>
            </a:r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0DE8DC5B-2C7F-A863-74EE-1CFA7ED34B8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6377874"/>
              </p:ext>
            </p:extLst>
          </p:nvPr>
        </p:nvGraphicFramePr>
        <p:xfrm>
          <a:off x="3127586" y="4660794"/>
          <a:ext cx="1828800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1828800" imgH="847791" progId="Excel.Sheet.12">
                  <p:embed/>
                </p:oleObj>
              </mc:Choice>
              <mc:Fallback>
                <p:oleObj name="Worksheet" r:id="rId2" imgW="1828800" imgH="847791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127586" y="4660794"/>
                        <a:ext cx="1828800" cy="847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464306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C64E1-9F5B-3ADC-38A7-F926288C4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E930251-61CF-4402-27A3-0D6C58E48255}"/>
              </a:ext>
            </a:extLst>
          </p:cNvPr>
          <p:cNvSpPr txBox="1"/>
          <p:nvPr/>
        </p:nvSpPr>
        <p:spPr>
          <a:xfrm>
            <a:off x="274320" y="182880"/>
            <a:ext cx="7535333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rPr dirty="0"/>
              <a:t>Task </a:t>
            </a:r>
            <a:r>
              <a:rPr lang="en-IN" dirty="0"/>
              <a:t>6 – Shipment tracking Analysis  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97F87F-AC21-B6BF-7EA6-7ED80557C9B0}"/>
              </a:ext>
            </a:extLst>
          </p:cNvPr>
          <p:cNvSpPr txBox="1"/>
          <p:nvPr/>
        </p:nvSpPr>
        <p:spPr>
          <a:xfrm>
            <a:off x="274320" y="842883"/>
            <a:ext cx="867050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</a:defRPr>
            </a:pPr>
            <a:r>
              <a:rPr lang="en-IN" sz="2200" dirty="0"/>
              <a:t>Identify orders with &gt;2 delayed checkpoints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F982D9-9A19-2A47-5F03-618BCD1405EA}"/>
              </a:ext>
            </a:extLst>
          </p:cNvPr>
          <p:cNvSpPr/>
          <p:nvPr/>
        </p:nvSpPr>
        <p:spPr>
          <a:xfrm>
            <a:off x="274320" y="1349481"/>
            <a:ext cx="8605319" cy="2199477"/>
          </a:xfrm>
          <a:prstGeom prst="rect">
            <a:avLst/>
          </a:prstGeom>
          <a:solidFill>
            <a:srgbClr val="183680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2000" b="1">
                <a:solidFill>
                  <a:srgbClr val="FFCC00"/>
                </a:solidFill>
              </a:defRPr>
            </a:pPr>
            <a:r>
              <a:rPr dirty="0"/>
              <a:t>SQL Snippet:</a:t>
            </a:r>
            <a:endParaRPr lang="en-IN" dirty="0"/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SELECT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  Order_ID,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  COUNT(*) AS </a:t>
            </a:r>
            <a:r>
              <a:rPr lang="en-IN" sz="1100" dirty="0" err="1">
                <a:solidFill>
                  <a:srgbClr val="FFFFFF"/>
                </a:solidFill>
              </a:rPr>
              <a:t>delayed_checkpoints_count</a:t>
            </a:r>
            <a:r>
              <a:rPr lang="en-IN" sz="1100" dirty="0">
                <a:solidFill>
                  <a:srgbClr val="FFFFFF"/>
                </a:solidFill>
              </a:rPr>
              <a:t>,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  SUM(COALESCE(Delay_Minutes,0)) AS </a:t>
            </a:r>
            <a:r>
              <a:rPr lang="en-IN" sz="1100" dirty="0" err="1">
                <a:solidFill>
                  <a:srgbClr val="FFFFFF"/>
                </a:solidFill>
              </a:rPr>
              <a:t>total_delay_minutes</a:t>
            </a:r>
            <a:endParaRPr lang="en-IN" sz="1100" dirty="0">
              <a:solidFill>
                <a:srgbClr val="FFFFFF"/>
              </a:solidFill>
            </a:endParaRP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FROM </a:t>
            </a:r>
            <a:r>
              <a:rPr lang="en-IN" sz="1100" dirty="0" err="1">
                <a:solidFill>
                  <a:srgbClr val="FFFFFF"/>
                </a:solidFill>
              </a:rPr>
              <a:t>shipmenttracking</a:t>
            </a:r>
            <a:endParaRPr lang="en-IN" sz="1100" dirty="0">
              <a:solidFill>
                <a:srgbClr val="FFFFFF"/>
              </a:solidFill>
            </a:endParaRP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WHERE </a:t>
            </a:r>
            <a:r>
              <a:rPr lang="en-IN" sz="1100" dirty="0" err="1">
                <a:solidFill>
                  <a:srgbClr val="FFFFFF"/>
                </a:solidFill>
              </a:rPr>
              <a:t>Delay_Minutes</a:t>
            </a:r>
            <a:r>
              <a:rPr lang="en-IN" sz="1100" dirty="0">
                <a:solidFill>
                  <a:srgbClr val="FFFFFF"/>
                </a:solidFill>
              </a:rPr>
              <a:t> IS NOT NULL AND </a:t>
            </a:r>
            <a:r>
              <a:rPr lang="en-IN" sz="1100" dirty="0" err="1">
                <a:solidFill>
                  <a:srgbClr val="FFFFFF"/>
                </a:solidFill>
              </a:rPr>
              <a:t>Delay_Minutes</a:t>
            </a:r>
            <a:r>
              <a:rPr lang="en-IN" sz="1100" dirty="0">
                <a:solidFill>
                  <a:srgbClr val="FFFFFF"/>
                </a:solidFill>
              </a:rPr>
              <a:t> &gt; 0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GROUP BY Order_ID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HAVING </a:t>
            </a:r>
            <a:r>
              <a:rPr lang="en-IN" sz="1100" dirty="0" err="1">
                <a:solidFill>
                  <a:srgbClr val="FFFFFF"/>
                </a:solidFill>
              </a:rPr>
              <a:t>delayed_checkpoints_count</a:t>
            </a:r>
            <a:r>
              <a:rPr lang="en-IN" sz="1100" dirty="0">
                <a:solidFill>
                  <a:srgbClr val="FFFFFF"/>
                </a:solidFill>
              </a:rPr>
              <a:t> &gt; 2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ORDER BY </a:t>
            </a:r>
            <a:r>
              <a:rPr lang="en-IN" sz="1100" dirty="0" err="1">
                <a:solidFill>
                  <a:srgbClr val="FFFFFF"/>
                </a:solidFill>
              </a:rPr>
              <a:t>delayed_checkpoints_count</a:t>
            </a:r>
            <a:r>
              <a:rPr lang="en-IN" sz="1100" dirty="0">
                <a:solidFill>
                  <a:srgbClr val="FFFFFF"/>
                </a:solidFill>
              </a:rPr>
              <a:t> DESC, </a:t>
            </a:r>
            <a:r>
              <a:rPr lang="en-IN" sz="1100" dirty="0" err="1">
                <a:solidFill>
                  <a:srgbClr val="FFFFFF"/>
                </a:solidFill>
              </a:rPr>
              <a:t>total_delay_minutes</a:t>
            </a:r>
            <a:r>
              <a:rPr lang="en-IN" sz="1100" dirty="0">
                <a:solidFill>
                  <a:srgbClr val="FFFFFF"/>
                </a:solidFill>
              </a:rPr>
              <a:t> DESC;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50EB96-A4C4-62E3-3F09-69F698DD146D}"/>
              </a:ext>
            </a:extLst>
          </p:cNvPr>
          <p:cNvSpPr txBox="1"/>
          <p:nvPr/>
        </p:nvSpPr>
        <p:spPr>
          <a:xfrm>
            <a:off x="1413643" y="6427080"/>
            <a:ext cx="6316715" cy="307777"/>
          </a:xfrm>
          <a:prstGeom prst="rect">
            <a:avLst/>
          </a:prstGeom>
          <a:effectLst>
            <a:outerShdw blurRad="40000" dist="20000" dir="5400000" rotWithShape="0">
              <a:srgbClr val="000000">
                <a:alpha val="38000"/>
              </a:srgbClr>
            </a:outerShdw>
            <a:softEdge rad="31750"/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From this list we can identify each order with more than 2 delayed checkpoints.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08EE10-E355-B274-1C47-AB6FB28C0B36}"/>
              </a:ext>
            </a:extLst>
          </p:cNvPr>
          <p:cNvSpPr txBox="1"/>
          <p:nvPr/>
        </p:nvSpPr>
        <p:spPr>
          <a:xfrm>
            <a:off x="1578659" y="5673003"/>
            <a:ext cx="59866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FF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Order list with more than 2 delayed checkpoints  : CLICK HERE</a:t>
            </a:r>
            <a:endParaRPr lang="en-IN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43540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19AEE-E2FC-7A2A-F5D6-A019F072E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0BE2D27-61EE-B13E-AF8B-621B997F5B2F}"/>
              </a:ext>
            </a:extLst>
          </p:cNvPr>
          <p:cNvSpPr txBox="1"/>
          <p:nvPr/>
        </p:nvSpPr>
        <p:spPr>
          <a:xfrm>
            <a:off x="274320" y="182880"/>
            <a:ext cx="8610947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rPr dirty="0"/>
              <a:t>Task </a:t>
            </a:r>
            <a:r>
              <a:rPr lang="en-IN" dirty="0"/>
              <a:t>7 – KPI Reporting (using SQL queries)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13896E-6C20-F3F1-15D3-3F1337511AEB}"/>
              </a:ext>
            </a:extLst>
          </p:cNvPr>
          <p:cNvSpPr txBox="1"/>
          <p:nvPr/>
        </p:nvSpPr>
        <p:spPr>
          <a:xfrm>
            <a:off x="274320" y="842883"/>
            <a:ext cx="867050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</a:defRPr>
            </a:pPr>
            <a:r>
              <a:rPr lang="en-IN" sz="2200" dirty="0"/>
              <a:t>Average Delivery Delay per Region (</a:t>
            </a:r>
            <a:r>
              <a:rPr lang="en-IN" sz="2200" dirty="0" err="1"/>
              <a:t>Start_Location</a:t>
            </a:r>
            <a:r>
              <a:rPr lang="en-IN" sz="2200" dirty="0"/>
              <a:t>)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0D47D5-71E5-FB23-6A1F-061491B30853}"/>
              </a:ext>
            </a:extLst>
          </p:cNvPr>
          <p:cNvSpPr/>
          <p:nvPr/>
        </p:nvSpPr>
        <p:spPr>
          <a:xfrm>
            <a:off x="274320" y="1349481"/>
            <a:ext cx="8605319" cy="2199477"/>
          </a:xfrm>
          <a:prstGeom prst="rect">
            <a:avLst/>
          </a:prstGeom>
          <a:solidFill>
            <a:srgbClr val="183680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2000" b="1">
                <a:solidFill>
                  <a:srgbClr val="FFCC00"/>
                </a:solidFill>
              </a:defRPr>
            </a:pPr>
            <a:r>
              <a:rPr dirty="0"/>
              <a:t>SQL Snippet:</a:t>
            </a:r>
            <a:endParaRPr lang="en-IN" dirty="0"/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SELECT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  </a:t>
            </a:r>
            <a:r>
              <a:rPr lang="en-IN" sz="1100" dirty="0" err="1">
                <a:solidFill>
                  <a:srgbClr val="FFFFFF"/>
                </a:solidFill>
              </a:rPr>
              <a:t>r.Start_Location</a:t>
            </a:r>
            <a:r>
              <a:rPr lang="en-IN" sz="1100" dirty="0">
                <a:solidFill>
                  <a:srgbClr val="FFFFFF"/>
                </a:solidFill>
              </a:rPr>
              <a:t> AS region,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  ROUND(AVG(DATEDIFF(</a:t>
            </a:r>
            <a:r>
              <a:rPr lang="en-IN" sz="1100" dirty="0" err="1">
                <a:solidFill>
                  <a:srgbClr val="FFFFFF"/>
                </a:solidFill>
              </a:rPr>
              <a:t>o.Actual_Delivery_Date</a:t>
            </a:r>
            <a:r>
              <a:rPr lang="en-IN" sz="1100" dirty="0">
                <a:solidFill>
                  <a:srgbClr val="FFFFFF"/>
                </a:solidFill>
              </a:rPr>
              <a:t>, </a:t>
            </a:r>
            <a:r>
              <a:rPr lang="en-IN" sz="1100" dirty="0" err="1">
                <a:solidFill>
                  <a:srgbClr val="FFFFFF"/>
                </a:solidFill>
              </a:rPr>
              <a:t>o.Expected_Delivery_Date</a:t>
            </a:r>
            <a:r>
              <a:rPr lang="en-IN" sz="1100" dirty="0">
                <a:solidFill>
                  <a:srgbClr val="FFFFFF"/>
                </a:solidFill>
              </a:rPr>
              <a:t>)), 2) AS </a:t>
            </a:r>
            <a:r>
              <a:rPr lang="en-IN" sz="1100" dirty="0" err="1">
                <a:solidFill>
                  <a:srgbClr val="FFFFFF"/>
                </a:solidFill>
              </a:rPr>
              <a:t>avg_delivery_delay_days</a:t>
            </a:r>
            <a:r>
              <a:rPr lang="en-IN" sz="1100" dirty="0">
                <a:solidFill>
                  <a:srgbClr val="FFFFFF"/>
                </a:solidFill>
              </a:rPr>
              <a:t>,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  COUNT(*) AS </a:t>
            </a:r>
            <a:r>
              <a:rPr lang="en-IN" sz="1100" dirty="0" err="1">
                <a:solidFill>
                  <a:srgbClr val="FFFFFF"/>
                </a:solidFill>
              </a:rPr>
              <a:t>deliveries_count</a:t>
            </a:r>
            <a:endParaRPr lang="en-IN" sz="1100" dirty="0">
              <a:solidFill>
                <a:srgbClr val="FFFFFF"/>
              </a:solidFill>
            </a:endParaRP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FROM orders o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JOIN routes r ON </a:t>
            </a:r>
            <a:r>
              <a:rPr lang="en-IN" sz="1100" dirty="0" err="1">
                <a:solidFill>
                  <a:srgbClr val="FFFFFF"/>
                </a:solidFill>
              </a:rPr>
              <a:t>o.Route_ID</a:t>
            </a:r>
            <a:r>
              <a:rPr lang="en-IN" sz="1100" dirty="0">
                <a:solidFill>
                  <a:srgbClr val="FFFFFF"/>
                </a:solidFill>
              </a:rPr>
              <a:t> = r.Route_ID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WHERE </a:t>
            </a:r>
            <a:r>
              <a:rPr lang="en-IN" sz="1100" dirty="0" err="1">
                <a:solidFill>
                  <a:srgbClr val="FFFFFF"/>
                </a:solidFill>
              </a:rPr>
              <a:t>o.Actual_Delivery_Date</a:t>
            </a:r>
            <a:r>
              <a:rPr lang="en-IN" sz="1100" dirty="0">
                <a:solidFill>
                  <a:srgbClr val="FFFFFF"/>
                </a:solidFill>
              </a:rPr>
              <a:t> IS NOT NULL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  AND </a:t>
            </a:r>
            <a:r>
              <a:rPr lang="en-IN" sz="1100" dirty="0" err="1">
                <a:solidFill>
                  <a:srgbClr val="FFFFFF"/>
                </a:solidFill>
              </a:rPr>
              <a:t>o.Expected_Delivery_Date</a:t>
            </a:r>
            <a:r>
              <a:rPr lang="en-IN" sz="1100" dirty="0">
                <a:solidFill>
                  <a:srgbClr val="FFFFFF"/>
                </a:solidFill>
              </a:rPr>
              <a:t> IS NOT NULL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GROUP BY </a:t>
            </a:r>
            <a:r>
              <a:rPr lang="en-IN" sz="1100" dirty="0" err="1">
                <a:solidFill>
                  <a:srgbClr val="FFFFFF"/>
                </a:solidFill>
              </a:rPr>
              <a:t>r.Start_Location</a:t>
            </a:r>
            <a:endParaRPr lang="en-IN" sz="1100" dirty="0">
              <a:solidFill>
                <a:srgbClr val="FFFFFF"/>
              </a:solidFill>
            </a:endParaRP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ORDER BY </a:t>
            </a:r>
            <a:r>
              <a:rPr lang="en-IN" sz="1100" dirty="0" err="1">
                <a:solidFill>
                  <a:srgbClr val="FFFFFF"/>
                </a:solidFill>
              </a:rPr>
              <a:t>avg_delivery_delay_days</a:t>
            </a:r>
            <a:r>
              <a:rPr lang="en-IN" sz="1100" dirty="0">
                <a:solidFill>
                  <a:srgbClr val="FFFFFF"/>
                </a:solidFill>
              </a:rPr>
              <a:t> DESC;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BF02844-5902-599E-99D3-D9A03BB077A7}"/>
              </a:ext>
            </a:extLst>
          </p:cNvPr>
          <p:cNvSpPr txBox="1"/>
          <p:nvPr/>
        </p:nvSpPr>
        <p:spPr>
          <a:xfrm>
            <a:off x="1413643" y="6427080"/>
            <a:ext cx="6316715" cy="307777"/>
          </a:xfrm>
          <a:prstGeom prst="rect">
            <a:avLst/>
          </a:prstGeom>
          <a:effectLst>
            <a:outerShdw blurRad="40000" dist="20000" dir="5400000" rotWithShape="0">
              <a:srgbClr val="000000">
                <a:alpha val="38000"/>
              </a:srgbClr>
            </a:outerShdw>
            <a:softEdge rad="31750"/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From this list we can identify region with Average delivery delay.</a:t>
            </a:r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01289651-B084-3479-48D1-D6E15E6FB67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1754906"/>
              </p:ext>
            </p:extLst>
          </p:nvPr>
        </p:nvGraphicFramePr>
        <p:xfrm>
          <a:off x="2895072" y="4032144"/>
          <a:ext cx="3429000" cy="1476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3429148" imgH="1476244" progId="Excel.Sheet.12">
                  <p:embed/>
                </p:oleObj>
              </mc:Choice>
              <mc:Fallback>
                <p:oleObj name="Worksheet" r:id="rId2" imgW="3429148" imgH="1476244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895072" y="4032144"/>
                        <a:ext cx="3429000" cy="1476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29100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7D39A-2321-6C90-1B40-B322AEF2D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F217340-4B82-EC66-2B1D-3BA566560FB9}"/>
              </a:ext>
            </a:extLst>
          </p:cNvPr>
          <p:cNvSpPr txBox="1"/>
          <p:nvPr/>
        </p:nvSpPr>
        <p:spPr>
          <a:xfrm>
            <a:off x="274320" y="182880"/>
            <a:ext cx="8610947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rPr dirty="0"/>
              <a:t>Task </a:t>
            </a:r>
            <a:r>
              <a:rPr lang="en-IN" dirty="0"/>
              <a:t>7 – KPI Reporting (using SQL queries)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5BD9FA-8AA6-999F-85DE-9C923B78FBC0}"/>
              </a:ext>
            </a:extLst>
          </p:cNvPr>
          <p:cNvSpPr txBox="1"/>
          <p:nvPr/>
        </p:nvSpPr>
        <p:spPr>
          <a:xfrm>
            <a:off x="274320" y="842883"/>
            <a:ext cx="867050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</a:defRPr>
            </a:pPr>
            <a:r>
              <a:rPr lang="en-IN" sz="2200" dirty="0"/>
              <a:t>On-Time Delivery % = (Total On-Time Deliveries / Total Deliveries) * 100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97ACE49-34CF-5836-250D-82B33B00D426}"/>
              </a:ext>
            </a:extLst>
          </p:cNvPr>
          <p:cNvSpPr/>
          <p:nvPr/>
        </p:nvSpPr>
        <p:spPr>
          <a:xfrm>
            <a:off x="274320" y="1349481"/>
            <a:ext cx="8605319" cy="2199477"/>
          </a:xfrm>
          <a:prstGeom prst="rect">
            <a:avLst/>
          </a:prstGeom>
          <a:solidFill>
            <a:srgbClr val="183680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2000" b="1">
                <a:solidFill>
                  <a:srgbClr val="FFCC00"/>
                </a:solidFill>
              </a:defRPr>
            </a:pPr>
            <a:r>
              <a:rPr dirty="0"/>
              <a:t>SQL Snippet:</a:t>
            </a:r>
            <a:endParaRPr lang="en-IN" dirty="0"/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SELECT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  ROUND(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    100.0 * SUM(CASE WHEN </a:t>
            </a:r>
            <a:r>
              <a:rPr lang="en-IN" sz="1100" dirty="0" err="1">
                <a:solidFill>
                  <a:srgbClr val="FFFFFF"/>
                </a:solidFill>
              </a:rPr>
              <a:t>o.Actual_Delivery_Date</a:t>
            </a:r>
            <a:r>
              <a:rPr lang="en-IN" sz="1100" dirty="0">
                <a:solidFill>
                  <a:srgbClr val="FFFFFF"/>
                </a:solidFill>
              </a:rPr>
              <a:t> IS NOT NULL AND </a:t>
            </a:r>
            <a:r>
              <a:rPr lang="en-IN" sz="1100" dirty="0" err="1">
                <a:solidFill>
                  <a:srgbClr val="FFFFFF"/>
                </a:solidFill>
              </a:rPr>
              <a:t>o.Actual_Delivery_Date</a:t>
            </a:r>
            <a:r>
              <a:rPr lang="en-IN" sz="1100" dirty="0">
                <a:solidFill>
                  <a:srgbClr val="FFFFFF"/>
                </a:solidFill>
              </a:rPr>
              <a:t> &lt;= </a:t>
            </a:r>
            <a:r>
              <a:rPr lang="en-IN" sz="1100" dirty="0" err="1">
                <a:solidFill>
                  <a:srgbClr val="FFFFFF"/>
                </a:solidFill>
              </a:rPr>
              <a:t>o.Expected_Delivery_Date</a:t>
            </a:r>
            <a:r>
              <a:rPr lang="en-IN" sz="1100" dirty="0">
                <a:solidFill>
                  <a:srgbClr val="FFFFFF"/>
                </a:solidFill>
              </a:rPr>
              <a:t> THEN 1 ELSE 0 END)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    / NULLIF(SUM(CASE WHEN </a:t>
            </a:r>
            <a:r>
              <a:rPr lang="en-IN" sz="1100" dirty="0" err="1">
                <a:solidFill>
                  <a:srgbClr val="FFFFFF"/>
                </a:solidFill>
              </a:rPr>
              <a:t>o.Actual_Delivery_Date</a:t>
            </a:r>
            <a:r>
              <a:rPr lang="en-IN" sz="1100" dirty="0">
                <a:solidFill>
                  <a:srgbClr val="FFFFFF"/>
                </a:solidFill>
              </a:rPr>
              <a:t> IS NOT NULL THEN 1 ELSE 0 END), 0)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  , 2) AS </a:t>
            </a:r>
            <a:r>
              <a:rPr lang="en-IN" sz="1100" dirty="0" err="1">
                <a:solidFill>
                  <a:srgbClr val="FFFFFF"/>
                </a:solidFill>
              </a:rPr>
              <a:t>on_time_percentage</a:t>
            </a:r>
            <a:r>
              <a:rPr lang="en-IN" sz="1100" dirty="0">
                <a:solidFill>
                  <a:srgbClr val="FFFFFF"/>
                </a:solidFill>
              </a:rPr>
              <a:t>,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  SUM(CASE WHEN </a:t>
            </a:r>
            <a:r>
              <a:rPr lang="en-IN" sz="1100" dirty="0" err="1">
                <a:solidFill>
                  <a:srgbClr val="FFFFFF"/>
                </a:solidFill>
              </a:rPr>
              <a:t>o.Actual_Delivery_Date</a:t>
            </a:r>
            <a:r>
              <a:rPr lang="en-IN" sz="1100" dirty="0">
                <a:solidFill>
                  <a:srgbClr val="FFFFFF"/>
                </a:solidFill>
              </a:rPr>
              <a:t> IS NOT NULL THEN 1 ELSE 0 END) AS </a:t>
            </a:r>
            <a:r>
              <a:rPr lang="en-IN" sz="1100" dirty="0" err="1">
                <a:solidFill>
                  <a:srgbClr val="FFFFFF"/>
                </a:solidFill>
              </a:rPr>
              <a:t>total_delivered</a:t>
            </a:r>
            <a:endParaRPr lang="en-IN" sz="1100" dirty="0">
              <a:solidFill>
                <a:srgbClr val="FFFFFF"/>
              </a:solidFill>
            </a:endParaRP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FROM orders o;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2C3076D-8C09-9C86-E7D6-4042A0C0B625}"/>
              </a:ext>
            </a:extLst>
          </p:cNvPr>
          <p:cNvSpPr txBox="1"/>
          <p:nvPr/>
        </p:nvSpPr>
        <p:spPr>
          <a:xfrm>
            <a:off x="2571836" y="6427080"/>
            <a:ext cx="4000329" cy="307777"/>
          </a:xfrm>
          <a:prstGeom prst="rect">
            <a:avLst/>
          </a:prstGeom>
          <a:effectLst>
            <a:outerShdw blurRad="40000" dist="20000" dir="5400000" rotWithShape="0">
              <a:srgbClr val="000000">
                <a:alpha val="38000"/>
              </a:srgbClr>
            </a:outerShdw>
            <a:softEdge rad="31750"/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From this KPI On –time delivery % can be </a:t>
            </a:r>
            <a:r>
              <a:rPr lang="en-IN" sz="1400" dirty="0" err="1"/>
              <a:t>kown</a:t>
            </a:r>
            <a:r>
              <a:rPr lang="en-IN" sz="1400" dirty="0"/>
              <a:t>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CDEADB6-01B5-DA36-3FB6-FD0E6883AC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1724116"/>
              </p:ext>
            </p:extLst>
          </p:nvPr>
        </p:nvGraphicFramePr>
        <p:xfrm>
          <a:off x="1217666" y="4881988"/>
          <a:ext cx="2311400" cy="386715"/>
        </p:xfrm>
        <a:graphic>
          <a:graphicData uri="http://schemas.openxmlformats.org/drawingml/2006/table">
            <a:tbl>
              <a:tblPr/>
              <a:tblGrid>
                <a:gridCol w="1320800">
                  <a:extLst>
                    <a:ext uri="{9D8B030D-6E8A-4147-A177-3AD203B41FA5}">
                      <a16:colId xmlns:a16="http://schemas.microsoft.com/office/drawing/2014/main" val="2792876598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4069550887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on_time_percentage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total_delivered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4714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72.67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300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3629160"/>
                  </a:ext>
                </a:extLst>
              </a:tr>
            </a:tbl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D886165C-0DCF-C97F-633C-CA7BF0B6032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78986449"/>
              </p:ext>
            </p:extLst>
          </p:nvPr>
        </p:nvGraphicFramePr>
        <p:xfrm>
          <a:off x="4372824" y="3624669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3824336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685CA-41A5-0F1D-74CF-4F63A0F39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E07EE7-9574-BA14-6DE2-4594BCC1CD62}"/>
              </a:ext>
            </a:extLst>
          </p:cNvPr>
          <p:cNvSpPr txBox="1"/>
          <p:nvPr/>
        </p:nvSpPr>
        <p:spPr>
          <a:xfrm>
            <a:off x="274320" y="182880"/>
            <a:ext cx="8610947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rPr dirty="0"/>
              <a:t>Task </a:t>
            </a:r>
            <a:r>
              <a:rPr lang="en-IN" dirty="0"/>
              <a:t>7 – KPI Reporting (using SQL queries)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BA59DB-99C2-0D72-C354-103C9937D3BE}"/>
              </a:ext>
            </a:extLst>
          </p:cNvPr>
          <p:cNvSpPr txBox="1"/>
          <p:nvPr/>
        </p:nvSpPr>
        <p:spPr>
          <a:xfrm>
            <a:off x="274320" y="842883"/>
            <a:ext cx="867050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</a:defRPr>
            </a:pPr>
            <a:r>
              <a:rPr lang="en-IN" sz="2200" dirty="0"/>
              <a:t>On-Time Delivery % by region = (Total On-Time Deliveries / Total Deliveries) * 100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2E7FBF9-AC68-B87F-1133-1AFD74F695FB}"/>
              </a:ext>
            </a:extLst>
          </p:cNvPr>
          <p:cNvSpPr/>
          <p:nvPr/>
        </p:nvSpPr>
        <p:spPr>
          <a:xfrm>
            <a:off x="274320" y="1612324"/>
            <a:ext cx="8605319" cy="3149799"/>
          </a:xfrm>
          <a:prstGeom prst="rect">
            <a:avLst/>
          </a:prstGeom>
          <a:solidFill>
            <a:srgbClr val="183680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2000" b="1">
                <a:solidFill>
                  <a:srgbClr val="FFCC00"/>
                </a:solidFill>
              </a:defRPr>
            </a:pPr>
            <a:r>
              <a:rPr dirty="0"/>
              <a:t>SQL Snippet:</a:t>
            </a:r>
            <a:endParaRPr lang="en-IN" dirty="0"/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SELECT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  </a:t>
            </a:r>
            <a:r>
              <a:rPr lang="en-IN" sz="1100" dirty="0" err="1">
                <a:solidFill>
                  <a:srgbClr val="FFFFFF"/>
                </a:solidFill>
              </a:rPr>
              <a:t>r.Start_Location</a:t>
            </a:r>
            <a:r>
              <a:rPr lang="en-IN" sz="1100" dirty="0">
                <a:solidFill>
                  <a:srgbClr val="FFFFFF"/>
                </a:solidFill>
              </a:rPr>
              <a:t> AS region,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  COUNT(*) AS </a:t>
            </a:r>
            <a:r>
              <a:rPr lang="en-IN" sz="1100" dirty="0" err="1">
                <a:solidFill>
                  <a:srgbClr val="FFFFFF"/>
                </a:solidFill>
              </a:rPr>
              <a:t>total_orders</a:t>
            </a:r>
            <a:r>
              <a:rPr lang="en-IN" sz="1100" dirty="0">
                <a:solidFill>
                  <a:srgbClr val="FFFFFF"/>
                </a:solidFill>
              </a:rPr>
              <a:t>,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  SUM(CASE WHEN </a:t>
            </a:r>
            <a:r>
              <a:rPr lang="en-IN" sz="1100" dirty="0" err="1">
                <a:solidFill>
                  <a:srgbClr val="FFFFFF"/>
                </a:solidFill>
              </a:rPr>
              <a:t>o.Actual_Delivery_Date</a:t>
            </a:r>
            <a:r>
              <a:rPr lang="en-IN" sz="1100" dirty="0">
                <a:solidFill>
                  <a:srgbClr val="FFFFFF"/>
                </a:solidFill>
              </a:rPr>
              <a:t> IS NOT NULL THEN 1 ELSE 0 END) AS </a:t>
            </a:r>
            <a:r>
              <a:rPr lang="en-IN" sz="1100" dirty="0" err="1">
                <a:solidFill>
                  <a:srgbClr val="FFFFFF"/>
                </a:solidFill>
              </a:rPr>
              <a:t>total_delivered</a:t>
            </a:r>
            <a:r>
              <a:rPr lang="en-IN" sz="1100" dirty="0">
                <a:solidFill>
                  <a:srgbClr val="FFFFFF"/>
                </a:solidFill>
              </a:rPr>
              <a:t>,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  ROUND(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    100.0 * SUM(CASE WHEN </a:t>
            </a:r>
            <a:r>
              <a:rPr lang="en-IN" sz="1100" dirty="0" err="1">
                <a:solidFill>
                  <a:srgbClr val="FFFFFF"/>
                </a:solidFill>
              </a:rPr>
              <a:t>o.Actual_Delivery_Date</a:t>
            </a:r>
            <a:r>
              <a:rPr lang="en-IN" sz="1100" dirty="0">
                <a:solidFill>
                  <a:srgbClr val="FFFFFF"/>
                </a:solidFill>
              </a:rPr>
              <a:t> IS NOT NULL AND </a:t>
            </a:r>
            <a:r>
              <a:rPr lang="en-IN" sz="1100" dirty="0" err="1">
                <a:solidFill>
                  <a:srgbClr val="FFFFFF"/>
                </a:solidFill>
              </a:rPr>
              <a:t>o.Actual_Delivery_Date</a:t>
            </a:r>
            <a:r>
              <a:rPr lang="en-IN" sz="1100" dirty="0">
                <a:solidFill>
                  <a:srgbClr val="FFFFFF"/>
                </a:solidFill>
              </a:rPr>
              <a:t> &lt;= </a:t>
            </a:r>
            <a:r>
              <a:rPr lang="en-IN" sz="1100" dirty="0" err="1">
                <a:solidFill>
                  <a:srgbClr val="FFFFFF"/>
                </a:solidFill>
              </a:rPr>
              <a:t>o.Expected_Delivery_Date</a:t>
            </a:r>
            <a:r>
              <a:rPr lang="en-IN" sz="1100" dirty="0">
                <a:solidFill>
                  <a:srgbClr val="FFFFFF"/>
                </a:solidFill>
              </a:rPr>
              <a:t> THEN 1 ELSE 0 END)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    / NULLIF(SUM(CASE WHEN </a:t>
            </a:r>
            <a:r>
              <a:rPr lang="en-IN" sz="1100" dirty="0" err="1">
                <a:solidFill>
                  <a:srgbClr val="FFFFFF"/>
                </a:solidFill>
              </a:rPr>
              <a:t>o.Actual_Delivery_Date</a:t>
            </a:r>
            <a:r>
              <a:rPr lang="en-IN" sz="1100" dirty="0">
                <a:solidFill>
                  <a:srgbClr val="FFFFFF"/>
                </a:solidFill>
              </a:rPr>
              <a:t> IS NOT NULL THEN 1 ELSE 0 END), 0)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  , 2) AS </a:t>
            </a:r>
            <a:r>
              <a:rPr lang="en-IN" sz="1100" dirty="0" err="1">
                <a:solidFill>
                  <a:srgbClr val="FFFFFF"/>
                </a:solidFill>
              </a:rPr>
              <a:t>on_time_percentage</a:t>
            </a:r>
            <a:endParaRPr lang="en-IN" sz="1100" dirty="0">
              <a:solidFill>
                <a:srgbClr val="FFFFFF"/>
              </a:solidFill>
            </a:endParaRP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FROM orders o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JOIN routes r ON </a:t>
            </a:r>
            <a:r>
              <a:rPr lang="en-IN" sz="1100" dirty="0" err="1">
                <a:solidFill>
                  <a:srgbClr val="FFFFFF"/>
                </a:solidFill>
              </a:rPr>
              <a:t>o.Route_ID</a:t>
            </a:r>
            <a:r>
              <a:rPr lang="en-IN" sz="1100" dirty="0">
                <a:solidFill>
                  <a:srgbClr val="FFFFFF"/>
                </a:solidFill>
              </a:rPr>
              <a:t> = r.Route_ID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GROUP BY </a:t>
            </a:r>
            <a:r>
              <a:rPr lang="en-IN" sz="1100" dirty="0" err="1">
                <a:solidFill>
                  <a:srgbClr val="FFFFFF"/>
                </a:solidFill>
              </a:rPr>
              <a:t>r.Start_Location</a:t>
            </a:r>
            <a:endParaRPr lang="en-IN" sz="1100" dirty="0">
              <a:solidFill>
                <a:srgbClr val="FFFFFF"/>
              </a:solidFill>
            </a:endParaRP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ORDER BY </a:t>
            </a:r>
            <a:r>
              <a:rPr lang="en-IN" sz="1100" dirty="0" err="1">
                <a:solidFill>
                  <a:srgbClr val="FFFFFF"/>
                </a:solidFill>
              </a:rPr>
              <a:t>on_time_percentage</a:t>
            </a:r>
            <a:r>
              <a:rPr lang="en-IN" sz="1100" dirty="0">
                <a:solidFill>
                  <a:srgbClr val="FFFFFF"/>
                </a:solidFill>
              </a:rPr>
              <a:t> DESC;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9308E9-C030-B05D-CE99-A18F8140C663}"/>
              </a:ext>
            </a:extLst>
          </p:cNvPr>
          <p:cNvSpPr txBox="1"/>
          <p:nvPr/>
        </p:nvSpPr>
        <p:spPr>
          <a:xfrm>
            <a:off x="1413643" y="6427080"/>
            <a:ext cx="6316715" cy="307777"/>
          </a:xfrm>
          <a:prstGeom prst="rect">
            <a:avLst/>
          </a:prstGeom>
          <a:effectLst>
            <a:outerShdw blurRad="40000" dist="20000" dir="5400000" rotWithShape="0">
              <a:srgbClr val="000000">
                <a:alpha val="38000"/>
              </a:srgbClr>
            </a:outerShdw>
            <a:softEdge rad="31750"/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From this KPI On-time delivery % can be identified </a:t>
            </a:r>
            <a:r>
              <a:rPr lang="en-IN" sz="1400" dirty="0" err="1"/>
              <a:t>fr</a:t>
            </a:r>
            <a:r>
              <a:rPr lang="en-IN" sz="1400" dirty="0"/>
              <a:t> each region (extra).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00FB26F-F0F7-D5DD-019D-84B0AEFC7E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9375195"/>
              </p:ext>
            </p:extLst>
          </p:nvPr>
        </p:nvGraphicFramePr>
        <p:xfrm>
          <a:off x="2628900" y="4861176"/>
          <a:ext cx="3886200" cy="1466850"/>
        </p:xfrm>
        <a:graphic>
          <a:graphicData uri="http://schemas.openxmlformats.org/drawingml/2006/table">
            <a:tbl>
              <a:tblPr/>
              <a:tblGrid>
                <a:gridCol w="786757">
                  <a:extLst>
                    <a:ext uri="{9D8B030D-6E8A-4147-A177-3AD203B41FA5}">
                      <a16:colId xmlns:a16="http://schemas.microsoft.com/office/drawing/2014/main" val="1649299516"/>
                    </a:ext>
                  </a:extLst>
                </a:gridCol>
                <a:gridCol w="789930">
                  <a:extLst>
                    <a:ext uri="{9D8B030D-6E8A-4147-A177-3AD203B41FA5}">
                      <a16:colId xmlns:a16="http://schemas.microsoft.com/office/drawing/2014/main" val="1601484193"/>
                    </a:ext>
                  </a:extLst>
                </a:gridCol>
                <a:gridCol w="989791">
                  <a:extLst>
                    <a:ext uri="{9D8B030D-6E8A-4147-A177-3AD203B41FA5}">
                      <a16:colId xmlns:a16="http://schemas.microsoft.com/office/drawing/2014/main" val="524991546"/>
                    </a:ext>
                  </a:extLst>
                </a:gridCol>
                <a:gridCol w="1319722">
                  <a:extLst>
                    <a:ext uri="{9D8B030D-6E8A-4147-A177-3AD203B41FA5}">
                      <a16:colId xmlns:a16="http://schemas.microsoft.com/office/drawing/2014/main" val="4065915829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region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total_orders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total_delivered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on_time_percentage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316212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Hyderabad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155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155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76.13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852386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Ahmedabad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33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33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69.7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273112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Pune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36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36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69.44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240177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Lucknow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69.23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7086507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Mumbai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51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51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68.63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096333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Bengaluru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66.67</a:t>
                      </a: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5619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23204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466D3-B361-B609-38CC-4F6215B26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630B79-AA5C-B826-B706-22FACDB1BD5E}"/>
              </a:ext>
            </a:extLst>
          </p:cNvPr>
          <p:cNvSpPr txBox="1"/>
          <p:nvPr/>
        </p:nvSpPr>
        <p:spPr>
          <a:xfrm>
            <a:off x="274320" y="182880"/>
            <a:ext cx="8610947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rPr dirty="0"/>
              <a:t>Task </a:t>
            </a:r>
            <a:r>
              <a:rPr lang="en-IN" dirty="0"/>
              <a:t>7 – KPI Reporting (using SQL queries)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BD5EB9-6162-4DD5-3675-3E3C949D3D24}"/>
              </a:ext>
            </a:extLst>
          </p:cNvPr>
          <p:cNvSpPr txBox="1"/>
          <p:nvPr/>
        </p:nvSpPr>
        <p:spPr>
          <a:xfrm>
            <a:off x="274320" y="842883"/>
            <a:ext cx="867050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</a:defRPr>
            </a:pPr>
            <a:r>
              <a:rPr lang="en-IN" sz="2200" dirty="0"/>
              <a:t>Average Traffic Delay per Route.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CA34C2F-3307-573C-695F-944DA30A8250}"/>
              </a:ext>
            </a:extLst>
          </p:cNvPr>
          <p:cNvSpPr/>
          <p:nvPr/>
        </p:nvSpPr>
        <p:spPr>
          <a:xfrm>
            <a:off x="274320" y="1612325"/>
            <a:ext cx="4170931" cy="2217292"/>
          </a:xfrm>
          <a:prstGeom prst="rect">
            <a:avLst/>
          </a:prstGeom>
          <a:solidFill>
            <a:srgbClr val="183680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2000" b="1">
                <a:solidFill>
                  <a:srgbClr val="FFCC00"/>
                </a:solidFill>
              </a:defRPr>
            </a:pPr>
            <a:r>
              <a:rPr dirty="0"/>
              <a:t>SQL Snippet:</a:t>
            </a:r>
            <a:endParaRPr lang="en-IN" dirty="0"/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SELECT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  r.Route_ID,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  ROUND(AVG(</a:t>
            </a:r>
            <a:r>
              <a:rPr lang="en-IN" sz="1100" dirty="0" err="1">
                <a:solidFill>
                  <a:srgbClr val="FFFFFF"/>
                </a:solidFill>
              </a:rPr>
              <a:t>r.Traffic_Delay_Min</a:t>
            </a:r>
            <a:r>
              <a:rPr lang="en-IN" sz="1100" dirty="0">
                <a:solidFill>
                  <a:srgbClr val="FFFFFF"/>
                </a:solidFill>
              </a:rPr>
              <a:t>), 2) AS </a:t>
            </a:r>
            <a:r>
              <a:rPr lang="en-IN" sz="1100" dirty="0" err="1">
                <a:solidFill>
                  <a:srgbClr val="FFFFFF"/>
                </a:solidFill>
              </a:rPr>
              <a:t>avg_traffic_delay_min</a:t>
            </a:r>
            <a:r>
              <a:rPr lang="en-IN" sz="1100" dirty="0">
                <a:solidFill>
                  <a:srgbClr val="FFFFFF"/>
                </a:solidFill>
              </a:rPr>
              <a:t>,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  COUNT(</a:t>
            </a:r>
            <a:r>
              <a:rPr lang="en-IN" sz="1100" dirty="0" err="1">
                <a:solidFill>
                  <a:srgbClr val="FFFFFF"/>
                </a:solidFill>
              </a:rPr>
              <a:t>o.Order_ID</a:t>
            </a:r>
            <a:r>
              <a:rPr lang="en-IN" sz="1100" dirty="0">
                <a:solidFill>
                  <a:srgbClr val="FFFFFF"/>
                </a:solidFill>
              </a:rPr>
              <a:t>) AS </a:t>
            </a:r>
            <a:r>
              <a:rPr lang="en-IN" sz="1100" dirty="0" err="1">
                <a:solidFill>
                  <a:srgbClr val="FFFFFF"/>
                </a:solidFill>
              </a:rPr>
              <a:t>orders_using_route</a:t>
            </a:r>
            <a:endParaRPr lang="en-IN" sz="1100" dirty="0">
              <a:solidFill>
                <a:srgbClr val="FFFFFF"/>
              </a:solidFill>
            </a:endParaRP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FROM routes r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LEFT JOIN orders o ON r.Route_ID = </a:t>
            </a:r>
            <a:r>
              <a:rPr lang="en-IN" sz="1100" dirty="0" err="1">
                <a:solidFill>
                  <a:srgbClr val="FFFFFF"/>
                </a:solidFill>
              </a:rPr>
              <a:t>o.Route_ID</a:t>
            </a:r>
            <a:endParaRPr lang="en-IN" sz="1100" dirty="0">
              <a:solidFill>
                <a:srgbClr val="FFFFFF"/>
              </a:solidFill>
            </a:endParaRP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GROUP BY r.Route_ID</a:t>
            </a:r>
          </a:p>
          <a:p>
            <a:pPr>
              <a:defRPr sz="2000" b="1">
                <a:solidFill>
                  <a:srgbClr val="FFCC00"/>
                </a:solidFill>
              </a:defRPr>
            </a:pPr>
            <a:r>
              <a:rPr lang="en-IN" sz="1100" dirty="0">
                <a:solidFill>
                  <a:srgbClr val="FFFFFF"/>
                </a:solidFill>
              </a:rPr>
              <a:t>ORDER BY </a:t>
            </a:r>
            <a:r>
              <a:rPr lang="en-IN" sz="1100" dirty="0" err="1">
                <a:solidFill>
                  <a:srgbClr val="FFFFFF"/>
                </a:solidFill>
              </a:rPr>
              <a:t>avg_traffic_delay_min</a:t>
            </a:r>
            <a:r>
              <a:rPr lang="en-IN" sz="1100" dirty="0">
                <a:solidFill>
                  <a:srgbClr val="FFFFFF"/>
                </a:solidFill>
              </a:rPr>
              <a:t> DESC;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005C654-FF53-0F67-A64C-4B83F98F4555}"/>
              </a:ext>
            </a:extLst>
          </p:cNvPr>
          <p:cNvSpPr txBox="1"/>
          <p:nvPr/>
        </p:nvSpPr>
        <p:spPr>
          <a:xfrm>
            <a:off x="1413643" y="6427080"/>
            <a:ext cx="6316715" cy="307777"/>
          </a:xfrm>
          <a:prstGeom prst="rect">
            <a:avLst/>
          </a:prstGeom>
          <a:effectLst>
            <a:outerShdw blurRad="40000" dist="20000" dir="5400000" rotWithShape="0">
              <a:srgbClr val="000000">
                <a:alpha val="38000"/>
              </a:srgbClr>
            </a:outerShdw>
            <a:softEdge rad="31750"/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Average traffic delay using this KPI can be easily identify for each route.</a:t>
            </a:r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3CE20B28-2329-A107-0F83-FEB6DECED5B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9297137"/>
              </p:ext>
            </p:extLst>
          </p:nvPr>
        </p:nvGraphicFramePr>
        <p:xfrm>
          <a:off x="5157034" y="1603223"/>
          <a:ext cx="3248025" cy="441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3248043" imgH="4409812" progId="Excel.Sheet.12">
                  <p:embed/>
                </p:oleObj>
              </mc:Choice>
              <mc:Fallback>
                <p:oleObj name="Worksheet" r:id="rId2" imgW="3248043" imgH="4409812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157034" y="1603223"/>
                        <a:ext cx="3248025" cy="4410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766427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526</TotalTime>
  <Words>4715</Words>
  <Application>Microsoft Office PowerPoint</Application>
  <PresentationFormat>On-screen Show (4:3)</PresentationFormat>
  <Paragraphs>628</Paragraphs>
  <Slides>29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Arial</vt:lpstr>
      <vt:lpstr>Calibri</vt:lpstr>
      <vt:lpstr>Office Theme</vt:lpstr>
      <vt:lpstr>Worksheet</vt:lpstr>
      <vt:lpstr>Flipkart       Logistic Optimisation Analysis</vt:lpstr>
      <vt:lpstr>Click here : Video Link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Admin</dc:creator>
  <cp:keywords/>
  <dc:description>generated using python-pptx</dc:description>
  <cp:lastModifiedBy>Kishan Bhalani</cp:lastModifiedBy>
  <cp:revision>14</cp:revision>
  <dcterms:created xsi:type="dcterms:W3CDTF">2013-01-27T09:14:16Z</dcterms:created>
  <dcterms:modified xsi:type="dcterms:W3CDTF">2025-11-14T12:49:09Z</dcterms:modified>
  <cp:category/>
</cp:coreProperties>
</file>